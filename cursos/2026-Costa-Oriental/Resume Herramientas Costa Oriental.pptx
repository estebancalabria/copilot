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4506D-5069-9B5C-54E8-9CD37941E709}" v="38" dt="2026-10-06T16:52:32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650F1-426F-453D-ADD9-D04F1F3E5F4B}" type="datetimeFigureOut"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533A6-A987-442B-829F-2518877134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0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Contenido proporcionado por el usuario. Ilustración conceptual generada con IA, sin representar interfaces ni productos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contenido y recorrido del curso proporcionados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5075" y="1096634"/>
            <a:ext cx="5715000" cy="43123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370693"/>
            <a:ext cx="60579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Ecosistema de</a:t>
            </a:r>
          </a:p>
          <a:p>
            <a:pPr algn="l">
              <a:defRPr sz="3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Inteligencia Artificial</a:t>
            </a:r>
          </a:p>
          <a:p>
            <a:pPr algn="l">
              <a:defRPr sz="3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Microsoft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" y="3981450"/>
            <a:ext cx="542925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Resumen</a:t>
            </a:r>
            <a:r>
              <a:rPr sz="2100" b="0" dirty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 del </a:t>
            </a:r>
            <a:r>
              <a:rPr sz="2100" b="0" dirty="0" err="1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curso</a:t>
            </a:r>
            <a:r>
              <a:rPr sz="2100" b="0" dirty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 de Microsoft 365 Copilot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" y="5781675"/>
            <a:ext cx="10934700" cy="19050"/>
          </a:xfrm>
          <a:prstGeom prst="rect">
            <a:avLst/>
          </a:prstGeom>
          <a:solidFill>
            <a:srgbClr val="3B4F7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" y="60674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94BFF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4BFF2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0674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350" b="0">
                <a:solidFill>
                  <a:srgbClr val="94BFF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4BFF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 / Fuera del alcance del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El recorrido del curso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Copilot Chat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2705100" y="244792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2828925" y="19621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2981325" y="20859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Prompt Engineering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y Mermaid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924425" y="244792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5048250" y="19621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2-000F-4000-8000-000000000000}"/>
              </a:ext>
            </a:extLst>
          </p:cNvPr>
          <p:cNvSpPr>
            <a:spLocks noGrp="1"/>
          </p:cNvSpPr>
          <p:nvPr/>
        </p:nvSpPr>
        <p:spPr>
          <a:xfrm>
            <a:off x="5200650" y="20859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2-0010-4000-8000-000000000000}"/>
              </a:ext>
            </a:extLst>
          </p:cNvPr>
          <p:cNvSpPr>
            <a:spLocks noGrp="1"/>
          </p:cNvSpPr>
          <p:nvPr/>
        </p:nvSpPr>
        <p:spPr>
          <a:xfrm>
            <a:off x="5162550" y="24003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Gestión de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prompts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0000002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0" y="244792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2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267575" y="19621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2-0013-4000-8000-000000000000}"/>
              </a:ext>
            </a:extLst>
          </p:cNvPr>
          <p:cNvSpPr>
            <a:spLocks noGrp="1"/>
          </p:cNvSpPr>
          <p:nvPr/>
        </p:nvSpPr>
        <p:spPr>
          <a:xfrm>
            <a:off x="7419975" y="20859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2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381875" y="24003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Agentes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predefinidos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0000002-0015-4000-8000-000000000000}"/>
              </a:ext>
            </a:extLst>
          </p:cNvPr>
          <p:cNvSpPr>
            <a:spLocks noGrp="1"/>
          </p:cNvSpPr>
          <p:nvPr/>
        </p:nvSpPr>
        <p:spPr>
          <a:xfrm>
            <a:off x="9363075" y="244792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2-0016-4000-8000-000000000000}"/>
              </a:ext>
            </a:extLst>
          </p:cNvPr>
          <p:cNvSpPr>
            <a:spLocks noGrp="1"/>
          </p:cNvSpPr>
          <p:nvPr/>
        </p:nvSpPr>
        <p:spPr>
          <a:xfrm>
            <a:off x="9486900" y="19621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2-0017-4000-8000-000000000000}"/>
              </a:ext>
            </a:extLst>
          </p:cNvPr>
          <p:cNvSpPr>
            <a:spLocks noGrp="1"/>
          </p:cNvSpPr>
          <p:nvPr/>
        </p:nvSpPr>
        <p:spPr>
          <a:xfrm>
            <a:off x="9639300" y="20859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2-0018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24003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Biblioteca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2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2-001A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2-001B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" y="4029075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Cuadernos / OneNote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0000002-001C-4000-8000-000000000000}"/>
              </a:ext>
            </a:extLst>
          </p:cNvPr>
          <p:cNvSpPr>
            <a:spLocks noGrp="1"/>
          </p:cNvSpPr>
          <p:nvPr/>
        </p:nvSpPr>
        <p:spPr>
          <a:xfrm>
            <a:off x="2705100" y="4076700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2-001D-4000-8000-000000000000}"/>
              </a:ext>
            </a:extLst>
          </p:cNvPr>
          <p:cNvSpPr>
            <a:spLocks noGrp="1"/>
          </p:cNvSpPr>
          <p:nvPr/>
        </p:nvSpPr>
        <p:spPr>
          <a:xfrm>
            <a:off x="2828925" y="3590925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2-001E-4000-8000-000000000000}"/>
              </a:ext>
            </a:extLst>
          </p:cNvPr>
          <p:cNvSpPr>
            <a:spLocks noGrp="1"/>
          </p:cNvSpPr>
          <p:nvPr/>
        </p:nvSpPr>
        <p:spPr>
          <a:xfrm>
            <a:off x="2981325" y="37147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02-001F-4000-8000-000000000000}"/>
              </a:ext>
            </a:extLst>
          </p:cNvPr>
          <p:cNvSpPr>
            <a:spLocks noGrp="1"/>
          </p:cNvSpPr>
          <p:nvPr/>
        </p:nvSpPr>
        <p:spPr>
          <a:xfrm>
            <a:off x="2943225" y="4029075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Microsoft 365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Copilot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00000002-0020-4000-8000-000000000000}"/>
              </a:ext>
            </a:extLst>
          </p:cNvPr>
          <p:cNvSpPr>
            <a:spLocks noGrp="1"/>
          </p:cNvSpPr>
          <p:nvPr/>
        </p:nvSpPr>
        <p:spPr>
          <a:xfrm>
            <a:off x="4924425" y="4076700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02-0021-4000-8000-000000000000}"/>
              </a:ext>
            </a:extLst>
          </p:cNvPr>
          <p:cNvSpPr>
            <a:spLocks noGrp="1"/>
          </p:cNvSpPr>
          <p:nvPr/>
        </p:nvSpPr>
        <p:spPr>
          <a:xfrm>
            <a:off x="5048250" y="3590925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02-0022-4000-8000-000000000000}"/>
              </a:ext>
            </a:extLst>
          </p:cNvPr>
          <p:cNvSpPr>
            <a:spLocks noGrp="1"/>
          </p:cNvSpPr>
          <p:nvPr/>
        </p:nvSpPr>
        <p:spPr>
          <a:xfrm>
            <a:off x="5200650" y="37147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00002-0023-4000-8000-000000000000}"/>
              </a:ext>
            </a:extLst>
          </p:cNvPr>
          <p:cNvSpPr>
            <a:spLocks noGrp="1"/>
          </p:cNvSpPr>
          <p:nvPr/>
        </p:nvSpPr>
        <p:spPr>
          <a:xfrm>
            <a:off x="5162550" y="4029075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Agentes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personalizados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00000002-0024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0" y="4076700"/>
            <a:ext cx="123825" cy="142875"/>
          </a:xfrm>
          <a:prstGeom prst="rightArrow">
            <a:avLst/>
          </a:prstGeom>
          <a:solidFill>
            <a:srgbClr val="9A53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02-0025-4000-8000-000000000000}"/>
              </a:ext>
            </a:extLst>
          </p:cNvPr>
          <p:cNvSpPr>
            <a:spLocks noGrp="1"/>
          </p:cNvSpPr>
          <p:nvPr/>
        </p:nvSpPr>
        <p:spPr>
          <a:xfrm>
            <a:off x="7267575" y="3590925"/>
            <a:ext cx="2095500" cy="1295400"/>
          </a:xfrm>
          <a:prstGeom prst="rect">
            <a:avLst/>
          </a:prstGeom>
          <a:solidFill>
            <a:srgbClr val="FFF3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000002-0026-4000-8000-000000000000}"/>
              </a:ext>
            </a:extLst>
          </p:cNvPr>
          <p:cNvSpPr>
            <a:spLocks noGrp="1"/>
          </p:cNvSpPr>
          <p:nvPr/>
        </p:nvSpPr>
        <p:spPr>
          <a:xfrm>
            <a:off x="7419975" y="37147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000002-0027-4000-8000-000000000000}"/>
              </a:ext>
            </a:extLst>
          </p:cNvPr>
          <p:cNvSpPr>
            <a:spLocks noGrp="1"/>
          </p:cNvSpPr>
          <p:nvPr/>
        </p:nvSpPr>
        <p:spPr>
          <a:xfrm>
            <a:off x="7381875" y="4029075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Copilot Studio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00000002-0028-4000-8000-000000000000}"/>
              </a:ext>
            </a:extLst>
          </p:cNvPr>
          <p:cNvSpPr>
            <a:spLocks noGrp="1"/>
          </p:cNvSpPr>
          <p:nvPr/>
        </p:nvSpPr>
        <p:spPr>
          <a:xfrm>
            <a:off x="9363075" y="4076700"/>
            <a:ext cx="123825" cy="142875"/>
          </a:xfrm>
          <a:prstGeom prst="rightArrow">
            <a:avLst/>
          </a:prstGeom>
          <a:solidFill>
            <a:srgbClr val="9A53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000002-0029-4000-8000-000000000000}"/>
              </a:ext>
            </a:extLst>
          </p:cNvPr>
          <p:cNvSpPr>
            <a:spLocks noGrp="1"/>
          </p:cNvSpPr>
          <p:nvPr/>
        </p:nvSpPr>
        <p:spPr>
          <a:xfrm>
            <a:off x="9486900" y="3590925"/>
            <a:ext cx="2095500" cy="1295400"/>
          </a:xfrm>
          <a:prstGeom prst="rect">
            <a:avLst/>
          </a:prstGeom>
          <a:solidFill>
            <a:srgbClr val="FFF3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000002-002A-4000-8000-000000000000}"/>
              </a:ext>
            </a:extLst>
          </p:cNvPr>
          <p:cNvSpPr>
            <a:spLocks noGrp="1"/>
          </p:cNvSpPr>
          <p:nvPr/>
        </p:nvSpPr>
        <p:spPr>
          <a:xfrm>
            <a:off x="9639300" y="37147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000002-002B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4029075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Microsoft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Foundry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000002-002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Visto: Excel y PowerPoint dentro de Microsoft 365 Copilot.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000002-002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Fuera del alcance: Copilot Studio, Power BI (comparación con el Agente Analista) y Microsoft Foundry.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000002-002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Se mencionaron para comprender cómo continúa el ecosistema de IA de Microsoft.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Copilot Chat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1269" y="1885950"/>
            <a:ext cx="2239913" cy="1838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48615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El punto de entrada</a:t>
            </a:r>
          </a:p>
          <a:p>
            <a:pPr algn="l">
              <a:def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 la IA mediante</a:t>
            </a:r>
          </a:p>
          <a:p>
            <a:pPr algn="l">
              <a:def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una conversación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1790700"/>
            <a:ext cx="7134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71342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Uso del chat común de Copilot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2381250"/>
            <a:ext cx="7134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2495550"/>
            <a:ext cx="71342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Interacción mediante lenguaje natural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2971800"/>
            <a:ext cx="7134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3086100"/>
            <a:ext cx="71342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Consultas generales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3562350"/>
            <a:ext cx="7134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3676650"/>
            <a:ext cx="71342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Creación y transformación de contenido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4152900"/>
            <a:ext cx="7134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4267200"/>
            <a:ext cx="71342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Trabajo con archivos del usuario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7134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448175" y="4857750"/>
            <a:ext cx="71342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Continuidad mediante el historial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El chat resuelve tareas generales. Los agentes se especializan en tipos de trabajo.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Prompt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53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La calidad de la respuesta depende de la claridad de la instrucción.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981200" cy="10668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33425" y="2638425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2609850" y="2667000"/>
            <a:ext cx="238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2362200"/>
            <a:ext cx="1981200" cy="10668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2981325" y="2638425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Contexto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4857750" y="2667000"/>
            <a:ext cx="238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5105400" y="2362200"/>
            <a:ext cx="1981200" cy="10668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5229225" y="2638425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Información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7105650" y="2667000"/>
            <a:ext cx="238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7353300" y="2362200"/>
            <a:ext cx="1981200" cy="10668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477125" y="2638425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Formato</a:t>
            </a:r>
          </a:p>
          <a:p>
            <a:pPr algn="ctr">
              <a:def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esperado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9353550" y="2667000"/>
            <a:ext cx="238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=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4-0013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2362200"/>
            <a:ext cx="1981200" cy="106680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4-0014-4000-8000-000000000000}"/>
              </a:ext>
            </a:extLst>
          </p:cNvPr>
          <p:cNvSpPr>
            <a:spLocks noGrp="1"/>
          </p:cNvSpPr>
          <p:nvPr/>
        </p:nvSpPr>
        <p:spPr>
          <a:xfrm>
            <a:off x="9725025" y="2638425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Mejor</a:t>
            </a:r>
          </a:p>
          <a:p>
            <a:pPr algn="ctr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prompt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4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4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Definir el objetivo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4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4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Incorporar contexto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4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4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Usar información de referencia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4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9243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4-001C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0386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Definir el resultado esperado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4-001D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4958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4-001E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6101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Refinar el prompt progresivamente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04-001F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50673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004-002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51816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Revisar y validar las respuestas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Diagramas con Mermaid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06489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Diagramas a partir de instrucciones y lenguaje textual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3314700" cy="1038225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Descripción</a:t>
            </a:r>
          </a:p>
          <a:p>
            <a:pPr algn="ctr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textual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3981450" y="2933700"/>
            <a:ext cx="285750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314825" y="2505075"/>
            <a:ext cx="3314700" cy="1038225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543425" y="27241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Diagrama</a:t>
            </a:r>
          </a:p>
          <a:p>
            <a:pPr algn="ctr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estructurado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00000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7686675" y="2933700"/>
            <a:ext cx="285750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2505075"/>
            <a:ext cx="3314700" cy="1038225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8248650" y="27241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Ajuste mediante</a:t>
            </a:r>
          </a:p>
          <a:p>
            <a:pPr algn="ctr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prompts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50673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0673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Representar procesos visualmente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5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50673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5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50673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 diagramas de flujo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5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50673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5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0673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Organizar ideas y relaciones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5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3943350"/>
            <a:ext cx="51244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5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4057650"/>
            <a:ext cx="51244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Generar desde una descripción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5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4581525"/>
            <a:ext cx="51244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5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457950" y="4695825"/>
            <a:ext cx="51244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Ajustar el diagrama progresivamente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5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5-001A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Mermaid transforma una descripción textual en una representación visual estructurada.</a:t>
            </a: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Gestión y reutilización de prompts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Del uso ocasional a un trabajo organizado y repetible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762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3314700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33909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Guardar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33051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6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3051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Guardar prompts frecuentes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6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33051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6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33051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Utilizar la galería de prompts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0000006-000E-4000-8000-000000000000}"/>
              </a:ext>
            </a:extLst>
          </p:cNvPr>
          <p:cNvSpPr>
            <a:spLocks noGrp="1"/>
          </p:cNvSpPr>
          <p:nvPr/>
        </p:nvSpPr>
        <p:spPr>
          <a:xfrm>
            <a:off x="3943350" y="2876550"/>
            <a:ext cx="276225" cy="142875"/>
          </a:xfrm>
          <a:prstGeom prst="rightArrow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6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2609850"/>
            <a:ext cx="762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6-0010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3419475"/>
            <a:ext cx="3314700" cy="19050"/>
          </a:xfrm>
          <a:prstGeom prst="rect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6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3686175"/>
            <a:ext cx="33909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Compartir y reutilizar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6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4457700"/>
            <a:ext cx="33051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6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4572000"/>
            <a:ext cx="33051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Compartir prompts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6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5086350"/>
            <a:ext cx="33051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6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5200650"/>
            <a:ext cx="33051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Reutilizarlos en otras tareas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0000006-0016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2876550"/>
            <a:ext cx="276225" cy="142875"/>
          </a:xfrm>
          <a:prstGeom prst="rightArrow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6-0017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2609850"/>
            <a:ext cx="762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6-0018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3419475"/>
            <a:ext cx="3314700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6-0019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3686175"/>
            <a:ext cx="33909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Programar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6-001A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4457700"/>
            <a:ext cx="33051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6-001B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33051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Agendar prompts recurrentes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6-001C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5086350"/>
            <a:ext cx="33051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6-001D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5200650"/>
            <a:ext cx="33051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Aplicarlos a tareas periódicas</a:t>
            </a: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C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C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Copilot en Excel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C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C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C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07</a:t>
            </a:r>
            <a:endParaRPr sz="1125" b="0">
              <a:solidFill>
                <a:srgbClr val="52617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C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2482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C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2482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Consultar datos con lenguaje natural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C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52482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C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52482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Analizar tablas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C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24827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C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482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Identificar tendencias y patrones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C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C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1924050"/>
            <a:ext cx="5105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Generar y explicar fórmulas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C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C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457450"/>
            <a:ext cx="5105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 resúmenes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C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87655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C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5105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 visualizaciones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C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C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Copilot en Excel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C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990975"/>
            <a:ext cx="5105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Agente Analista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C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5153025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Dentro del libro</a:t>
            </a:r>
          </a:p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Analiza y modifica datos de la hoja</a:t>
            </a:r>
          </a:p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Facilita el trabajo con fórmulas, tablas y gráficos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C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552950"/>
            <a:ext cx="51054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Análisis más profundo</a:t>
            </a:r>
          </a:p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Explora archivos y datos para encontrar patrones</a:t>
            </a:r>
          </a:p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Genera conclusiones para una necesidad concreta</a:t>
            </a:r>
          </a:p>
        </p:txBody>
      </p:sp>
    </p:spTree>
    <p:extLst>
      <p:ext uri="{BB962C8B-B14F-4D97-AF65-F5344CB8AC3E}">
        <p14:creationId xmlns:p14="http://schemas.microsoft.com/office/powerpoint/2010/main" val="12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Agentes predefinidos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08</a:t>
            </a:r>
            <a:endParaRPr sz="1125" b="0">
              <a:solidFill>
                <a:srgbClr val="52617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La galería de agentes permite acceder a asistentes especializados.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3314700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33909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Copilot Chat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Consultas y tareas generales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7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7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Conversación flexible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7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7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Creación y transformación de contenido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7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2486025"/>
            <a:ext cx="3314700" cy="19050"/>
          </a:xfrm>
          <a:prstGeom prst="rect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7-0010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909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Agente Analista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7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3486150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7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3600450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Análisis profundo de datos y archivos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7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4124325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7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4238625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Identificación de patrones y tendencias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7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4762500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7-0016-4000-8000-000000000000}"/>
              </a:ext>
            </a:extLst>
          </p:cNvPr>
          <p:cNvSpPr>
            <a:spLocks noGrp="1"/>
          </p:cNvSpPr>
          <p:nvPr/>
        </p:nvSpPr>
        <p:spPr>
          <a:xfrm>
            <a:off x="4362450" y="4876800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Conclusiones sobre la información analizada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7-0017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2486025"/>
            <a:ext cx="3314700" cy="190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7-0018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33909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Agente Investigador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7-0019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3486150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7-001A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3600450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Investigaciones extensas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7-001B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4124325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7-001C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4238625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Consulta y comparación de múltiples fuentes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7-001D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4762500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7-001E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4876800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Informes fundamentados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07-001F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5400675"/>
            <a:ext cx="33147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007-0020-4000-8000-000000000000}"/>
              </a:ext>
            </a:extLst>
          </p:cNvPr>
          <p:cNvSpPr>
            <a:spLocks noGrp="1"/>
          </p:cNvSpPr>
          <p:nvPr/>
        </p:nvSpPr>
        <p:spPr>
          <a:xfrm>
            <a:off x="8115300" y="5514975"/>
            <a:ext cx="33147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Fuentes para revisar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8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Biblioteca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8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09</a:t>
            </a:r>
            <a:endParaRPr sz="1125" b="0">
              <a:solidFill>
                <a:srgbClr val="52617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8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Un espacio centralizado para crear contenido con inteligencia artificial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8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81275"/>
            <a:ext cx="10972800" cy="3000375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8-0008-4000-8000-000000000000}"/>
              </a:ext>
            </a:extLst>
          </p:cNvPr>
          <p:cNvSpPr>
            <a:spLocks noGrp="1"/>
          </p:cNvSpPr>
          <p:nvPr/>
        </p:nvSpPr>
        <p:spPr>
          <a:xfrm>
            <a:off x="3867150" y="2886075"/>
            <a:ext cx="4476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Biblioteca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8-0009-4000-8000-000000000000}"/>
              </a:ext>
            </a:extLst>
          </p:cNvPr>
          <p:cNvSpPr>
            <a:spLocks noGrp="1"/>
          </p:cNvSpPr>
          <p:nvPr/>
        </p:nvSpPr>
        <p:spPr>
          <a:xfrm>
            <a:off x="1724025" y="3895725"/>
            <a:ext cx="8686800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8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86475" y="3505200"/>
            <a:ext cx="19050" cy="390525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8-000B-4000-8000-000000000000}"/>
              </a:ext>
            </a:extLst>
          </p:cNvPr>
          <p:cNvSpPr>
            <a:spLocks noGrp="1"/>
          </p:cNvSpPr>
          <p:nvPr/>
        </p:nvSpPr>
        <p:spPr>
          <a:xfrm>
            <a:off x="2190750" y="3895725"/>
            <a:ext cx="19050" cy="34290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8-000C-4000-8000-000000000000}"/>
              </a:ext>
            </a:extLst>
          </p:cNvPr>
          <p:cNvSpPr>
            <a:spLocks noGrp="1"/>
          </p:cNvSpPr>
          <p:nvPr/>
        </p:nvSpPr>
        <p:spPr>
          <a:xfrm>
            <a:off x="914400" y="44767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Imágenes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8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895850" y="3895725"/>
            <a:ext cx="19050" cy="34290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8-000E-4000-8000-000000000000}"/>
              </a:ext>
            </a:extLst>
          </p:cNvPr>
          <p:cNvSpPr>
            <a:spLocks noGrp="1"/>
          </p:cNvSpPr>
          <p:nvPr/>
        </p:nvSpPr>
        <p:spPr>
          <a:xfrm>
            <a:off x="3619500" y="44767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Vídeos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8-000F-4000-8000-000000000000}"/>
              </a:ext>
            </a:extLst>
          </p:cNvPr>
          <p:cNvSpPr>
            <a:spLocks noGrp="1"/>
          </p:cNvSpPr>
          <p:nvPr/>
        </p:nvSpPr>
        <p:spPr>
          <a:xfrm>
            <a:off x="7600950" y="3895725"/>
            <a:ext cx="19050" cy="34290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8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44767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Pósteres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8-0011-4000-8000-000000000000}"/>
              </a:ext>
            </a:extLst>
          </p:cNvPr>
          <p:cNvSpPr>
            <a:spLocks noGrp="1"/>
          </p:cNvSpPr>
          <p:nvPr/>
        </p:nvSpPr>
        <p:spPr>
          <a:xfrm>
            <a:off x="10306050" y="3895725"/>
            <a:ext cx="19050" cy="34290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8-0012-4000-8000-000000000000}"/>
              </a:ext>
            </a:extLst>
          </p:cNvPr>
          <p:cNvSpPr>
            <a:spLocks noGrp="1"/>
          </p:cNvSpPr>
          <p:nvPr/>
        </p:nvSpPr>
        <p:spPr>
          <a:xfrm>
            <a:off x="9029700" y="44767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Formularios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8-0013-4000-8000-000000000000}"/>
              </a:ext>
            </a:extLst>
          </p:cNvPr>
          <p:cNvSpPr>
            <a:spLocks noGrp="1"/>
          </p:cNvSpPr>
          <p:nvPr/>
        </p:nvSpPr>
        <p:spPr>
          <a:xfrm>
            <a:off x="1343025" y="5724525"/>
            <a:ext cx="95059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Acceso a contenidos y recursos reutilizables</a:t>
            </a:r>
          </a:p>
        </p:txBody>
      </p:sp>
    </p:spTree>
    <p:extLst>
      <p:ext uri="{BB962C8B-B14F-4D97-AF65-F5344CB8AC3E}">
        <p14:creationId xmlns:p14="http://schemas.microsoft.com/office/powerpoint/2010/main" val="8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9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9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Cuadernos</a:t>
            </a:r>
            <a:r>
              <a:rPr lang="en-US"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 / OneNote</a:t>
            </a:r>
            <a:endParaRPr sz="3150" b="1">
              <a:solidFill>
                <a:srgbClr val="1724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9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9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9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10</a:t>
            </a:r>
            <a:endParaRPr sz="1125" b="0">
              <a:solidFill>
                <a:srgbClr val="526176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" y="1910834"/>
            <a:ext cx="2847975" cy="20647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9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3524250" cy="1257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Un tema, proyecto</a:t>
            </a:r>
          </a:p>
          <a:p>
            <a:pPr algn="l">
              <a:def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o conjunto de fuentes</a:t>
            </a:r>
          </a:p>
          <a:p>
            <a:pPr algn="l">
              <a:def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en un mismo espacio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9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1819275"/>
            <a:ext cx="72104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9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1933575"/>
            <a:ext cx="72104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 cuadernos o Notebooks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9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2409825"/>
            <a:ext cx="72104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9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2524125"/>
            <a:ext cx="72104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Organizar información relacionada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9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3000375"/>
            <a:ext cx="72104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9-000C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3114675"/>
            <a:ext cx="72104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Incorporar archivos y fuentes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9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3590925"/>
            <a:ext cx="72104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9-000E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3705225"/>
            <a:ext cx="72104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Consultar dentro de un contexto específico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9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4181475"/>
            <a:ext cx="72104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9-0010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4295775"/>
            <a:ext cx="72104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Generar contenido basado en las fuentes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9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4772025"/>
            <a:ext cx="72104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9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4886325"/>
            <a:ext cx="72104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Dar continuidad al trabajo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9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9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El cuaderno concentra información y trabajo relacionado, más allá de una conversación.</a:t>
            </a:r>
          </a:p>
        </p:txBody>
      </p:sp>
    </p:spTree>
    <p:extLst>
      <p:ext uri="{BB962C8B-B14F-4D97-AF65-F5344CB8AC3E}">
        <p14:creationId xmlns:p14="http://schemas.microsoft.com/office/powerpoint/2010/main" val="9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A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A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Microsoft 365 Copilot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A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A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A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11</a:t>
            </a:r>
            <a:endParaRPr sz="1125" b="0">
              <a:solidFill>
                <a:srgbClr val="52617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A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La inteligencia artificial en el entorno de trabajo de la organización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A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73342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A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Integración con aplicaciones de Microsoft 365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A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73342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A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Uso de archivos corporativos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A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73342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A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Uso de correos electrónicos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A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73342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A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Uso de chats y reuniones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A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3342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A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Acceso según los permisos del usuario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A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73342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A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7334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Trabajo en el contexto de la organización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A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3105150" cy="3057525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A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743950" y="268605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Aplicaciones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A-0015-4000-8000-000000000000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543175" cy="2105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Word</a:t>
            </a:r>
          </a:p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Excel</a:t>
            </a:r>
          </a:p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PowerPoint</a:t>
            </a:r>
          </a:p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Outlook</a:t>
            </a:r>
          </a:p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Teams</a:t>
            </a:r>
          </a:p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OneNote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A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A-0017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La información disponible depende de los permisos de acceso existentes.</a:t>
            </a:r>
          </a:p>
        </p:txBody>
      </p:sp>
    </p:spTree>
    <p:extLst>
      <p:ext uri="{BB962C8B-B14F-4D97-AF65-F5344CB8AC3E}">
        <p14:creationId xmlns:p14="http://schemas.microsoft.com/office/powerpoint/2010/main" val="1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B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B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 la IA general al contexto de trabajo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B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B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B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12</a:t>
            </a:r>
            <a:endParaRPr sz="1125" b="0">
              <a:solidFill>
                <a:srgbClr val="52617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B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010150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B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5010150" cy="19050"/>
          </a:xfrm>
          <a:prstGeom prst="rect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B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50101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Copilot Chat general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B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50101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Microsoft 365 Copilot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B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50101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B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10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Trabaja con el prompt y la información que proporciona el usuario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B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50101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B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5010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Resuelve consultas y tareas generales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B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3152775"/>
            <a:ext cx="50101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B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3267075"/>
            <a:ext cx="50101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Se integra con Microsoft 365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B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50101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B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3876675"/>
            <a:ext cx="50101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Puede usar archivos, correos, chats y reuniones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B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4371975"/>
            <a:ext cx="50101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B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4486275"/>
            <a:ext cx="50101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Respeta los permisos existentes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B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4981575"/>
            <a:ext cx="501015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B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572250" y="5095875"/>
            <a:ext cx="50101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Ayuda a trabajar con contexto corporativo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000000B-0016-4000-8000-000000000000}"/>
              </a:ext>
            </a:extLst>
          </p:cNvPr>
          <p:cNvSpPr>
            <a:spLocks noGrp="1"/>
          </p:cNvSpPr>
          <p:nvPr/>
        </p:nvSpPr>
        <p:spPr>
          <a:xfrm>
            <a:off x="5867400" y="3609975"/>
            <a:ext cx="409575" cy="142875"/>
          </a:xfrm>
          <a:prstGeom prst="rightArrow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B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B-0018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Es una ampliación del contexto de trabajo, no una competencia entre productos.</a:t>
            </a:r>
          </a:p>
        </p:txBody>
      </p:sp>
    </p:spTree>
    <p:extLst>
      <p:ext uri="{BB962C8B-B14F-4D97-AF65-F5344CB8AC3E}">
        <p14:creationId xmlns:p14="http://schemas.microsoft.com/office/powerpoint/2010/main" val="110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D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D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Copilot en PowerPoint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D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D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D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D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Un primer resultado que el usuario revisa, corrige y adapta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D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905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D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2466975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D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25527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D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252412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Desde una instrucción</a:t>
            </a:r>
          </a:p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o contenido existente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00000D-000B-4000-8000-000000000000}"/>
              </a:ext>
            </a:extLst>
          </p:cNvPr>
          <p:cNvSpPr>
            <a:spLocks noGrp="1"/>
          </p:cNvSpPr>
          <p:nvPr/>
        </p:nvSpPr>
        <p:spPr>
          <a:xfrm>
            <a:off x="3038475" y="3057525"/>
            <a:ext cx="257175" cy="142875"/>
          </a:xfrm>
          <a:prstGeom prst="rightArrow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D-000C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2800350"/>
            <a:ext cx="1905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D-000D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3590925"/>
            <a:ext cx="2466975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D-000E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3838575"/>
            <a:ext cx="25527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Organizar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D-000F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4562475"/>
            <a:ext cx="252412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Organizar una narrativa</a:t>
            </a:r>
          </a:p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y generar diapositivas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000000D-0010-4000-8000-000000000000}"/>
              </a:ext>
            </a:extLst>
          </p:cNvPr>
          <p:cNvSpPr>
            <a:spLocks noGrp="1"/>
          </p:cNvSpPr>
          <p:nvPr/>
        </p:nvSpPr>
        <p:spPr>
          <a:xfrm>
            <a:off x="5857875" y="3057525"/>
            <a:ext cx="257175" cy="142875"/>
          </a:xfrm>
          <a:prstGeom prst="rightArrow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D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1905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D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248400" y="3590925"/>
            <a:ext cx="2466975" cy="19050"/>
          </a:xfrm>
          <a:prstGeom prst="rect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D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248400" y="3838575"/>
            <a:ext cx="25527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Modificar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D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248400" y="4562475"/>
            <a:ext cx="252412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Modificar y resumir</a:t>
            </a:r>
          </a:p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el contenido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000000D-0015-4000-8000-000000000000}"/>
              </a:ext>
            </a:extLst>
          </p:cNvPr>
          <p:cNvSpPr>
            <a:spLocks noGrp="1"/>
          </p:cNvSpPr>
          <p:nvPr/>
        </p:nvSpPr>
        <p:spPr>
          <a:xfrm>
            <a:off x="8677275" y="3057525"/>
            <a:ext cx="257175" cy="142875"/>
          </a:xfrm>
          <a:prstGeom prst="rightArrow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D-0016-4000-8000-000000000000}"/>
              </a:ext>
            </a:extLst>
          </p:cNvPr>
          <p:cNvSpPr>
            <a:spLocks noGrp="1"/>
          </p:cNvSpPr>
          <p:nvPr/>
        </p:nvSpPr>
        <p:spPr>
          <a:xfrm>
            <a:off x="9067800" y="2800350"/>
            <a:ext cx="1905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D-0017-4000-8000-000000000000}"/>
              </a:ext>
            </a:extLst>
          </p:cNvPr>
          <p:cNvSpPr>
            <a:spLocks noGrp="1"/>
          </p:cNvSpPr>
          <p:nvPr/>
        </p:nvSpPr>
        <p:spPr>
          <a:xfrm>
            <a:off x="9067800" y="3590925"/>
            <a:ext cx="2466975" cy="19050"/>
          </a:xfrm>
          <a:prstGeom prst="rect">
            <a:avLst/>
          </a:prstGeom>
          <a:solidFill>
            <a:srgbClr val="6854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D-0018-4000-8000-000000000000}"/>
              </a:ext>
            </a:extLst>
          </p:cNvPr>
          <p:cNvSpPr>
            <a:spLocks noGrp="1"/>
          </p:cNvSpPr>
          <p:nvPr/>
        </p:nvSpPr>
        <p:spPr>
          <a:xfrm>
            <a:off x="9067800" y="3838575"/>
            <a:ext cx="25527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D-0019-4000-8000-000000000000}"/>
              </a:ext>
            </a:extLst>
          </p:cNvPr>
          <p:cNvSpPr>
            <a:spLocks noGrp="1"/>
          </p:cNvSpPr>
          <p:nvPr/>
        </p:nvSpPr>
        <p:spPr>
          <a:xfrm>
            <a:off x="9067800" y="4562475"/>
            <a:ext cx="252412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Revisión humana del</a:t>
            </a:r>
          </a:p>
          <a:p>
            <a:pPr algn="l">
              <a:def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diseño y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30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E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E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Agentes personalizados para Microsoft 365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E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E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E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E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El siguiente paso después de los agentes predefinidos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E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E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266825" y="25622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E-0009-4000-8000-000000000000}"/>
              </a:ext>
            </a:extLst>
          </p:cNvPr>
          <p:cNvSpPr>
            <a:spLocks noGrp="1"/>
          </p:cNvSpPr>
          <p:nvPr/>
        </p:nvSpPr>
        <p:spPr>
          <a:xfrm>
            <a:off x="1266825" y="2943225"/>
            <a:ext cx="45434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Desde Microsoft 365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E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E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266825" y="350520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Definir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E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266825" y="3886200"/>
            <a:ext cx="45434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Un propósito específico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E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E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266825" y="44481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Configurar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E-000F-4000-8000-000000000000}"/>
              </a:ext>
            </a:extLst>
          </p:cNvPr>
          <p:cNvSpPr>
            <a:spLocks noGrp="1"/>
          </p:cNvSpPr>
          <p:nvPr/>
        </p:nvSpPr>
        <p:spPr>
          <a:xfrm>
            <a:off x="1266825" y="4829175"/>
            <a:ext cx="45434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Instrucciones y comportamiento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E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56222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E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134225" y="25622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Incorporar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E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134225" y="2943225"/>
            <a:ext cx="45434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Documentos y conocimiento corporativo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E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5052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E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134225" y="350520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Especializar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E-0015-4000-8000-000000000000}"/>
              </a:ext>
            </a:extLst>
          </p:cNvPr>
          <p:cNvSpPr>
            <a:spLocks noGrp="1"/>
          </p:cNvSpPr>
          <p:nvPr/>
        </p:nvSpPr>
        <p:spPr>
          <a:xfrm>
            <a:off x="7134225" y="3886200"/>
            <a:ext cx="45434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Para un área o proceso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E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4481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6854C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E-0017-4000-8000-000000000000}"/>
              </a:ext>
            </a:extLst>
          </p:cNvPr>
          <p:cNvSpPr>
            <a:spLocks noGrp="1"/>
          </p:cNvSpPr>
          <p:nvPr/>
        </p:nvSpPr>
        <p:spPr>
          <a:xfrm>
            <a:off x="7134225" y="44481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Utilizar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E-0018-4000-8000-000000000000}"/>
              </a:ext>
            </a:extLst>
          </p:cNvPr>
          <p:cNvSpPr>
            <a:spLocks noGrp="1"/>
          </p:cNvSpPr>
          <p:nvPr/>
        </p:nvSpPr>
        <p:spPr>
          <a:xfrm>
            <a:off x="7134225" y="4829175"/>
            <a:ext cx="45434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Dentro de la empresa, in-company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E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E-001A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Asistentes especializados dentro del entorno de trabajo de la organización.</a:t>
            </a:r>
          </a:p>
        </p:txBody>
      </p:sp>
    </p:spTree>
    <p:extLst>
      <p:ext uri="{BB962C8B-B14F-4D97-AF65-F5344CB8AC3E}">
        <p14:creationId xmlns:p14="http://schemas.microsoft.com/office/powerpoint/2010/main" val="14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F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F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Casos de uso de agentes internos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F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F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F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F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Posibles aplicaciones para una organización como Costa Oriental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F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F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5105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Procedimientos internos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F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Consulta de procedimientos de la empresa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F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6955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F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828925"/>
            <a:ext cx="5105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Documentación operativa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F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25755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Acceso a documentación de trabajo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F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F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105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Recursos Humanos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F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Asistencia sobre información del área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F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7719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F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5105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Información logística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F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333875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Consulta de información logística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F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F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5105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Administración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F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Apoyo a tareas administrativas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F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8482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F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981575"/>
            <a:ext cx="5105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Procesos corporativos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F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5410200"/>
            <a:ext cx="5105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Orientación sobre procesos de la empresa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F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F-001A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197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Ejemplos posibles de agentes especializados basados en información de la empresa.</a:t>
            </a:r>
          </a:p>
        </p:txBody>
      </p:sp>
    </p:spTree>
    <p:extLst>
      <p:ext uri="{BB962C8B-B14F-4D97-AF65-F5344CB8AC3E}">
        <p14:creationId xmlns:p14="http://schemas.microsoft.com/office/powerpoint/2010/main" val="15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10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Visto en 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0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Hasta dónde llegó el curso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0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35425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0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B7C5D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B7C5DB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0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B7C5D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7C5DB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0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0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285875" y="2000250"/>
            <a:ext cx="45148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Copilot Chat y prompts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0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285875" y="2514600"/>
            <a:ext cx="45148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Copilot Chat, Prompt Engineering y Mermaid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0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0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285875" y="3305175"/>
            <a:ext cx="45148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Gestión de prompts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0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285875" y="3819525"/>
            <a:ext cx="45148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Prompts guardados y galería de prompts</a:t>
            </a:r>
          </a:p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Prompts programados y recurrentes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0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0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285875" y="4610100"/>
            <a:ext cx="45148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Agentes predefinidos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0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285875" y="5124450"/>
            <a:ext cx="45148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Galería de agentes, Agente Analista</a:t>
            </a:r>
          </a:p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y Agente Investigador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0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0-0010-4000-8000-000000000000}"/>
              </a:ext>
            </a:extLst>
          </p:cNvPr>
          <p:cNvSpPr>
            <a:spLocks noGrp="1"/>
          </p:cNvSpPr>
          <p:nvPr/>
        </p:nvSpPr>
        <p:spPr>
          <a:xfrm>
            <a:off x="7153275" y="2000250"/>
            <a:ext cx="45148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Biblioteca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0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153275" y="2514600"/>
            <a:ext cx="45148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Creación de imágenes, vídeos, pósteres</a:t>
            </a:r>
          </a:p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y formularios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0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305175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0-0013-4000-8000-000000000000}"/>
              </a:ext>
            </a:extLst>
          </p:cNvPr>
          <p:cNvSpPr>
            <a:spLocks noGrp="1"/>
          </p:cNvSpPr>
          <p:nvPr/>
        </p:nvSpPr>
        <p:spPr>
          <a:xfrm>
            <a:off x="7153275" y="3305175"/>
            <a:ext cx="4514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Cuadernos </a:t>
            </a:r>
            <a:r>
              <a:rPr lang="en-US"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/ OneNote</a:t>
            </a:r>
            <a:endParaRPr sz="195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0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153275" y="3819525"/>
            <a:ext cx="45148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Integración</a:t>
            </a: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 con Microsoft 365</a:t>
            </a:r>
          </a:p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Copilot en Excel y PowerPoint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0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61010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0-0016-4000-8000-000000000000}"/>
              </a:ext>
            </a:extLst>
          </p:cNvPr>
          <p:cNvSpPr>
            <a:spLocks noGrp="1"/>
          </p:cNvSpPr>
          <p:nvPr/>
        </p:nvSpPr>
        <p:spPr>
          <a:xfrm>
            <a:off x="7153275" y="4610100"/>
            <a:ext cx="45148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Agentes personalizados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10-0017-4000-8000-000000000000}"/>
              </a:ext>
            </a:extLst>
          </p:cNvPr>
          <p:cNvSpPr>
            <a:spLocks noGrp="1"/>
          </p:cNvSpPr>
          <p:nvPr/>
        </p:nvSpPr>
        <p:spPr>
          <a:xfrm>
            <a:off x="7153275" y="5124450"/>
            <a:ext cx="45148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5D8F0"/>
                </a:solidFill>
                <a:latin typeface="DejaVu Sans"/>
                <a:ea typeface="DejaVu Sans"/>
                <a:cs typeface="DejaVu Sans"/>
              </a:rPr>
              <a:t>Creación de agentes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16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1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Fuera del alcance del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Más allá del curso: Copilot Studio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Plataforma para crear agentes y soluciones más avanzadas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1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51149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1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51149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Plataforma low-code/no-code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51149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1149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Integración con Power Platform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1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51149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1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1149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Creación de agentes y chatbots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1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51149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1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51149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Automatización de procesos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1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41935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1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5105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Integración con Power Automate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1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0194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1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133725"/>
            <a:ext cx="5105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Conectores y sistemas empresariales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1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1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733800"/>
            <a:ext cx="5105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Publicación en diferentes canales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1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Desde agentes internos basados en conocimiento hacia soluciones que ejecutan acciones, automatizan procesos e interactúan con otros sistemas.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1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476250"/>
          </a:xfrm>
          <a:prstGeom prst="rect">
            <a:avLst/>
          </a:prstGeom>
          <a:solidFill>
            <a:srgbClr val="FFF3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11-0017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959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Mencionado conceptualmente. Sin desarrollo práctico durante el curso.</a:t>
            </a:r>
          </a:p>
        </p:txBody>
      </p:sp>
    </p:spTree>
    <p:extLst>
      <p:ext uri="{BB962C8B-B14F-4D97-AF65-F5344CB8AC3E}">
        <p14:creationId xmlns:p14="http://schemas.microsoft.com/office/powerpoint/2010/main" val="17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1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Fuera del alcance del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Agente Analista y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Comparación conceptual de enfoques complementarios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5095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Agente Analista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5105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Power 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51530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1530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Análisis asistido con lenguaje natural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51530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51530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Exploración puntual de archivos y datos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14775"/>
            <a:ext cx="51530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51530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Identificación de tendencias y patrones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2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1530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2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51530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Conclusiones para una necesidad específica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2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8670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2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98132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Modelado y organización de datos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2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2766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2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39090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Creación de informes y paneles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2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6861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2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80047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Definición y seguimiento de indicadores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12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12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Distribución de información analítica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12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5053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12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61962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Seguimiento continuo de los datos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12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El Agente Analista ayuda a investigar y comprender datos mediante una conversación. Power BI permite construir y compartir soluciones de análisis y seguimiento continuo.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12-001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972800" cy="476250"/>
          </a:xfrm>
          <a:prstGeom prst="rect">
            <a:avLst/>
          </a:prstGeom>
          <a:solidFill>
            <a:srgbClr val="FFF3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12-001D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Power BI se mencionó para comparar enfoques. No formó parte de la práctica.</a:t>
            </a:r>
          </a:p>
        </p:txBody>
      </p:sp>
    </p:spTree>
    <p:extLst>
      <p:ext uri="{BB962C8B-B14F-4D97-AF65-F5344CB8AC3E}">
        <p14:creationId xmlns:p14="http://schemas.microsoft.com/office/powerpoint/2010/main" val="180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1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Fuera del alcance del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Más allá del curso: Microsoft Foundry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Desarrollo de soluciones de IA complejas y a medida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5229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522922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Desarrollo profesional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5229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522922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Aplicaciones propias de 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5229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22922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Selección e integración de modelos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5229225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522922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Conexión con conocimiento empresarial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41935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51054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Uso de RAG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9813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095625"/>
            <a:ext cx="51054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Creación de agentes complejos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657600"/>
            <a:ext cx="51054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Integración mediante APIs y código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1052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3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219575"/>
            <a:ext cx="51054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Mayor control de la arquitectura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13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Para escenarios de desarrollo interno e integración avanzada que exceden Microsoft 365 y Copilot Studio. Orientado a desarrollo profesional, no a usuarios finales.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13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476250"/>
          </a:xfrm>
          <a:prstGeom prst="rect">
            <a:avLst/>
          </a:prstGeom>
          <a:solidFill>
            <a:srgbClr val="FFF3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13-0019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5895975"/>
            <a:ext cx="1062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Mencionado como parte del ecosistema. Fuera del alcance práctico del curso.</a:t>
            </a:r>
          </a:p>
        </p:txBody>
      </p:sp>
    </p:spTree>
    <p:extLst>
      <p:ext uri="{BB962C8B-B14F-4D97-AF65-F5344CB8AC3E}">
        <p14:creationId xmlns:p14="http://schemas.microsoft.com/office/powerpoint/2010/main" val="190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000001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 / Fuera del alcance del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Una evolución progresiva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Conversar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con la IA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000001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2705100" y="261937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2828925" y="213360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2981325" y="225742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2943225" y="257175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 mejores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prompts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000001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924425" y="261937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5048250" y="213360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5200650" y="225742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5162550" y="257175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Guardar, compartir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y programar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000001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0" y="261937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267575" y="213360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4-0013-4000-8000-000000000000}"/>
              </a:ext>
            </a:extLst>
          </p:cNvPr>
          <p:cNvSpPr>
            <a:spLocks noGrp="1"/>
          </p:cNvSpPr>
          <p:nvPr/>
        </p:nvSpPr>
        <p:spPr>
          <a:xfrm>
            <a:off x="7419975" y="225742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4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381875" y="257175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Agentes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especializados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0000014-0015-4000-8000-000000000000}"/>
              </a:ext>
            </a:extLst>
          </p:cNvPr>
          <p:cNvSpPr>
            <a:spLocks noGrp="1"/>
          </p:cNvSpPr>
          <p:nvPr/>
        </p:nvSpPr>
        <p:spPr>
          <a:xfrm>
            <a:off x="9363075" y="261937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4-0016-4000-8000-000000000000}"/>
              </a:ext>
            </a:extLst>
          </p:cNvPr>
          <p:cNvSpPr>
            <a:spLocks noGrp="1"/>
          </p:cNvSpPr>
          <p:nvPr/>
        </p:nvSpPr>
        <p:spPr>
          <a:xfrm>
            <a:off x="9486900" y="213360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14-0017-4000-8000-000000000000}"/>
              </a:ext>
            </a:extLst>
          </p:cNvPr>
          <p:cNvSpPr>
            <a:spLocks noGrp="1"/>
          </p:cNvSpPr>
          <p:nvPr/>
        </p:nvSpPr>
        <p:spPr>
          <a:xfrm>
            <a:off x="9639300" y="225742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14-0018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257175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 contenido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en Biblioteca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14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14-001A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39528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14-001B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Fuentes en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Cuadernos / OneNote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0000014-001C-4000-8000-000000000000}"/>
              </a:ext>
            </a:extLst>
          </p:cNvPr>
          <p:cNvSpPr>
            <a:spLocks noGrp="1"/>
          </p:cNvSpPr>
          <p:nvPr/>
        </p:nvSpPr>
        <p:spPr>
          <a:xfrm>
            <a:off x="2705100" y="431482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14-001D-4000-8000-000000000000}"/>
              </a:ext>
            </a:extLst>
          </p:cNvPr>
          <p:cNvSpPr>
            <a:spLocks noGrp="1"/>
          </p:cNvSpPr>
          <p:nvPr/>
        </p:nvSpPr>
        <p:spPr>
          <a:xfrm>
            <a:off x="2828925" y="38290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14-001E-4000-8000-000000000000}"/>
              </a:ext>
            </a:extLst>
          </p:cNvPr>
          <p:cNvSpPr>
            <a:spLocks noGrp="1"/>
          </p:cNvSpPr>
          <p:nvPr/>
        </p:nvSpPr>
        <p:spPr>
          <a:xfrm>
            <a:off x="2981325" y="39528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14-001F-4000-8000-000000000000}"/>
              </a:ext>
            </a:extLst>
          </p:cNvPr>
          <p:cNvSpPr>
            <a:spLocks noGrp="1"/>
          </p:cNvSpPr>
          <p:nvPr/>
        </p:nvSpPr>
        <p:spPr>
          <a:xfrm>
            <a:off x="2943225" y="42672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Datos de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Microsoft 365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00000014-0020-4000-8000-000000000000}"/>
              </a:ext>
            </a:extLst>
          </p:cNvPr>
          <p:cNvSpPr>
            <a:spLocks noGrp="1"/>
          </p:cNvSpPr>
          <p:nvPr/>
        </p:nvSpPr>
        <p:spPr>
          <a:xfrm>
            <a:off x="4924425" y="4314825"/>
            <a:ext cx="123825" cy="142875"/>
          </a:xfrm>
          <a:prstGeom prst="rightArrow">
            <a:avLst/>
          </a:prstGeom>
          <a:solidFill>
            <a:srgbClr val="0067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14-0021-4000-8000-000000000000}"/>
              </a:ext>
            </a:extLst>
          </p:cNvPr>
          <p:cNvSpPr>
            <a:spLocks noGrp="1"/>
          </p:cNvSpPr>
          <p:nvPr/>
        </p:nvSpPr>
        <p:spPr>
          <a:xfrm>
            <a:off x="5048250" y="3829050"/>
            <a:ext cx="2095500" cy="1295400"/>
          </a:xfrm>
          <a:prstGeom prst="rect">
            <a:avLst/>
          </a:prstGeom>
          <a:solidFill>
            <a:srgbClr val="EEF4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14-0022-4000-8000-000000000000}"/>
              </a:ext>
            </a:extLst>
          </p:cNvPr>
          <p:cNvSpPr>
            <a:spLocks noGrp="1"/>
          </p:cNvSpPr>
          <p:nvPr/>
        </p:nvSpPr>
        <p:spPr>
          <a:xfrm>
            <a:off x="5200650" y="39528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00014-0023-4000-8000-000000000000}"/>
              </a:ext>
            </a:extLst>
          </p:cNvPr>
          <p:cNvSpPr>
            <a:spLocks noGrp="1"/>
          </p:cNvSpPr>
          <p:nvPr/>
        </p:nvSpPr>
        <p:spPr>
          <a:xfrm>
            <a:off x="5162550" y="42672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Crear agentes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internos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00000014-0024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0" y="4314825"/>
            <a:ext cx="123825" cy="142875"/>
          </a:xfrm>
          <a:prstGeom prst="rightArrow">
            <a:avLst/>
          </a:prstGeom>
          <a:solidFill>
            <a:srgbClr val="9A53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14-0025-4000-8000-000000000000}"/>
              </a:ext>
            </a:extLst>
          </p:cNvPr>
          <p:cNvSpPr>
            <a:spLocks noGrp="1"/>
          </p:cNvSpPr>
          <p:nvPr/>
        </p:nvSpPr>
        <p:spPr>
          <a:xfrm>
            <a:off x="7267575" y="3829050"/>
            <a:ext cx="2095500" cy="1295400"/>
          </a:xfrm>
          <a:prstGeom prst="rect">
            <a:avLst/>
          </a:prstGeom>
          <a:solidFill>
            <a:srgbClr val="FFF3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000014-0026-4000-8000-000000000000}"/>
              </a:ext>
            </a:extLst>
          </p:cNvPr>
          <p:cNvSpPr>
            <a:spLocks noGrp="1"/>
          </p:cNvSpPr>
          <p:nvPr/>
        </p:nvSpPr>
        <p:spPr>
          <a:xfrm>
            <a:off x="7419975" y="39528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000014-0027-4000-8000-000000000000}"/>
              </a:ext>
            </a:extLst>
          </p:cNvPr>
          <p:cNvSpPr>
            <a:spLocks noGrp="1"/>
          </p:cNvSpPr>
          <p:nvPr/>
        </p:nvSpPr>
        <p:spPr>
          <a:xfrm>
            <a:off x="7381875" y="42672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Automatizar con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Copilot Studio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00000014-0028-4000-8000-000000000000}"/>
              </a:ext>
            </a:extLst>
          </p:cNvPr>
          <p:cNvSpPr>
            <a:spLocks noGrp="1"/>
          </p:cNvSpPr>
          <p:nvPr/>
        </p:nvSpPr>
        <p:spPr>
          <a:xfrm>
            <a:off x="9363075" y="4314825"/>
            <a:ext cx="123825" cy="142875"/>
          </a:xfrm>
          <a:prstGeom prst="rightArrow">
            <a:avLst/>
          </a:prstGeom>
          <a:solidFill>
            <a:srgbClr val="9A53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000014-0029-4000-8000-000000000000}"/>
              </a:ext>
            </a:extLst>
          </p:cNvPr>
          <p:cNvSpPr>
            <a:spLocks noGrp="1"/>
          </p:cNvSpPr>
          <p:nvPr/>
        </p:nvSpPr>
        <p:spPr>
          <a:xfrm>
            <a:off x="9486900" y="3829050"/>
            <a:ext cx="2095500" cy="1295400"/>
          </a:xfrm>
          <a:prstGeom prst="rect">
            <a:avLst/>
          </a:prstGeom>
          <a:solidFill>
            <a:srgbClr val="FFF3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000014-002A-4000-8000-000000000000}"/>
              </a:ext>
            </a:extLst>
          </p:cNvPr>
          <p:cNvSpPr>
            <a:spLocks noGrp="1"/>
          </p:cNvSpPr>
          <p:nvPr/>
        </p:nvSpPr>
        <p:spPr>
          <a:xfrm>
            <a:off x="9639300" y="395287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000014-002B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4267200"/>
            <a:ext cx="18669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Desarrollar con</a:t>
            </a:r>
          </a:p>
          <a:p>
            <a:pPr algn="l">
              <a:defRPr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Microsoft Foundry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000014-002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54006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01–08  Visto en el curso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000014-002D-4000-8000-000000000000}"/>
              </a:ext>
            </a:extLst>
          </p:cNvPr>
          <p:cNvSpPr>
            <a:spLocks noGrp="1"/>
          </p:cNvSpPr>
          <p:nvPr/>
        </p:nvSpPr>
        <p:spPr>
          <a:xfrm>
            <a:off x="6315075" y="5438775"/>
            <a:ext cx="52673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09–10  Fuera del alcance del curso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000014-002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Los últimos pasos representan la continuidad del ecosistema, no contenidos prácticos del curso.</a:t>
            </a:r>
          </a:p>
        </p:txBody>
      </p:sp>
    </p:spTree>
    <p:extLst>
      <p:ext uri="{BB962C8B-B14F-4D97-AF65-F5344CB8AC3E}">
        <p14:creationId xmlns:p14="http://schemas.microsoft.com/office/powerpoint/2010/main" val="2000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0000001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Visto en el curso / Fuera del alcance del curso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43B"/>
                </a:solidFill>
                <a:latin typeface="DejaVu Sans"/>
                <a:ea typeface="DejaVu Sans"/>
                <a:cs typeface="DejaVu Sans"/>
              </a:rPr>
              <a:t>¿Qué herramienta utilizar?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Consulta general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Copilot Chat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Mejorar una instrucción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Prompt Engineering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Repetir una tarea periódicamente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3377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Prompts guardados y programados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Analizar datos o archivos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5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Agente Analista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5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005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5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Investigación extensa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5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Agente Investigador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5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5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Imagen, vídeo, póster o formulario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15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Biblioteca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15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17811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15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Organizar fuentes de un tema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15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12407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Cuadernos</a:t>
            </a:r>
            <a:r>
              <a:rPr lang="en-US"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 / OneNote</a:t>
            </a:r>
            <a:endParaRPr sz="1725" b="1">
              <a:solidFill>
                <a:srgbClr val="0067B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15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48602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15-001C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55270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Trabajar con información corporativa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15-001D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82892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Microsoft 365 Copilot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15-001E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190875"/>
            <a:ext cx="5105400" cy="19050"/>
          </a:xfrm>
          <a:prstGeom prst="rect">
            <a:avLst/>
          </a:prstGeom>
          <a:solidFill>
            <a:srgbClr val="D8DF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15-001F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25755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Asistente para la organización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015-0020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53377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7B8"/>
                </a:solidFill>
                <a:latin typeface="DejaVu Sans"/>
                <a:ea typeface="DejaVu Sans"/>
                <a:cs typeface="DejaVu Sans"/>
              </a:rPr>
              <a:t>Agentes personalizados para Microsoft 365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15-0021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895725"/>
            <a:ext cx="5105400" cy="19050"/>
          </a:xfrm>
          <a:prstGeom prst="rect">
            <a:avLst/>
          </a:prstGeom>
          <a:solidFill>
            <a:srgbClr val="E3BF8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15-0022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96240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Automatizar procesos o crear un chatbot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00015-0023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23862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Copilot Studio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000015-002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600575"/>
            <a:ext cx="5105400" cy="19050"/>
          </a:xfrm>
          <a:prstGeom prst="rect">
            <a:avLst/>
          </a:prstGeom>
          <a:solidFill>
            <a:srgbClr val="E3BF8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15-002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667250"/>
            <a:ext cx="5105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Desarrollar una solución de IA a medida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000015-002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943475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9A5300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9A5300"/>
                </a:solidFill>
                <a:latin typeface="DejaVu Sans"/>
                <a:ea typeface="DejaVu Sans"/>
                <a:cs typeface="DejaVu Sans"/>
              </a:rPr>
              <a:t>Microsoft Foundry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000015-0027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5638800"/>
            <a:ext cx="51054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176"/>
                </a:solidFill>
                <a:latin typeface="DejaVu Sans"/>
                <a:ea typeface="DejaVu Sans"/>
                <a:cs typeface="DejaVu Sans"/>
              </a:rPr>
              <a:t>Azul: visto en el curso. Ámbar: continuidad fuera del alcance.</a:t>
            </a:r>
          </a:p>
        </p:txBody>
      </p:sp>
    </p:spTree>
    <p:extLst>
      <p:ext uri="{BB962C8B-B14F-4D97-AF65-F5344CB8AC3E}">
        <p14:creationId xmlns:p14="http://schemas.microsoft.com/office/powerpoint/2010/main" val="210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EB0AD0-4CCB-52E7-37A8-5FCE6826B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4" y="0"/>
            <a:ext cx="11807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72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8DDC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DDCF8"/>
                </a:solidFill>
                <a:latin typeface="DejaVu Sans"/>
                <a:ea typeface="DejaVu Sans"/>
                <a:cs typeface="DejaVu Sans"/>
              </a:rPr>
              <a:t>Síntesis del recorrido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Conclusión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19050"/>
          </a:xfrm>
          <a:prstGeom prst="rect">
            <a:avLst/>
          </a:prstGeom>
          <a:solidFill>
            <a:srgbClr val="35425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B7C5D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B7C5DB"/>
                </a:solidFill>
                <a:latin typeface="DejaVu Sans"/>
                <a:ea typeface="DejaVu Sans"/>
                <a:cs typeface="DejaVu Sans"/>
              </a:rPr>
              <a:t>Costa Oriental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6286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0">
                <a:solidFill>
                  <a:srgbClr val="B7C5D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7C5DB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curso permitió avanzar desde el uso general de la inteligencia artificial hasta su integración con el entorno de trabajo y la creación de agentes especializados para la organización.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B8D8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8D8FC"/>
                </a:solidFill>
                <a:latin typeface="DejaVu Sans"/>
                <a:ea typeface="DejaVu Sans"/>
                <a:cs typeface="DejaVu Sans"/>
              </a:rPr>
              <a:t>Copilot Studio y Microsoft Foundry representan los siguientes niveles del ecosistema: automatizar procesos y desarrollar soluciones de inteligencia artificial a medida.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rPr>
              <a:t>La herramienta debe elegirse según la necesidad.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rPr>
              <a:t>No todas las tareas requieren desarrollar una solución propia.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rPr>
              <a:t>Los agentes permiten especializar la inteligencia artificial.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6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rPr>
              <a:t>La información generada debe revisarse y validarse.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6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3F5"/>
                </a:solidFill>
                <a:latin typeface="DejaVu Sans"/>
                <a:ea typeface="DejaVu Sans"/>
                <a:cs typeface="DejaVu Sans"/>
              </a:rPr>
              <a:t>La adopción responsable combina tecnología, conocimiento y criterio humano.</a:t>
            </a:r>
          </a:p>
        </p:txBody>
      </p:sp>
    </p:spTree>
    <p:extLst>
      <p:ext uri="{BB962C8B-B14F-4D97-AF65-F5344CB8AC3E}">
        <p14:creationId xmlns:p14="http://schemas.microsoft.com/office/powerpoint/2010/main" val="22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</cp:revision>
  <dcterms:created xsi:type="dcterms:W3CDTF">2026-10-06T15:00:28Z</dcterms:created>
  <dcterms:modified xsi:type="dcterms:W3CDTF">2026-10-06T16:52:54Z</dcterms:modified>
</cp:coreProperties>
</file>