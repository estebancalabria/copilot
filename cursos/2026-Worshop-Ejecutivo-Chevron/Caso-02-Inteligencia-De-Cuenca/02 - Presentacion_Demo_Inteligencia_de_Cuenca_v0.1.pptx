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11"/>
  </p:notesMasterIdLst>
  <p:sldIdLst>
    <p:sldId id="273" r:id="rId2"/>
    <p:sldId id="282" r:id="rId3"/>
    <p:sldId id="274" r:id="rId4"/>
    <p:sldId id="275" r:id="rId5"/>
    <p:sldId id="276" r:id="rId6"/>
    <p:sldId id="277" r:id="rId7"/>
    <p:sldId id="278" r:id="rId8"/>
    <p:sldId id="279" r:id="rId9"/>
    <p:sldId id="28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10-13T21:22:50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8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34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016C65-BA26-90EE-10E1-194CB27C7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Pie de página IA"/>
          <p:cNvSpPr/>
          <p:nvPr/>
        </p:nvSpPr>
        <p:spPr>
          <a:xfrm>
            <a:off x="54864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5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PARADOR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937760" y="265176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937760" y="457200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Pie de página IA"/>
          <p:cNvSpPr/>
          <p:nvPr/>
        </p:nvSpPr>
        <p:spPr>
          <a:xfrm>
            <a:off x="493776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6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Pie de página IA"/>
          <p:cNvSpPr/>
          <p:nvPr/>
        </p:nvSpPr>
        <p:spPr>
          <a:xfrm>
            <a:off x="54864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5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GUNTAS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600" dirty="0">
                <a:solidFill>
                  <a:schemeClr val="accent4"/>
                </a:solidFill>
              </a:defRPr>
            </a:lvl1pPr>
          </a:lstStyle>
          <a:p>
            <a:pPr marL="0" indent="0" algn="ctr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lo de contrast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62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00"/>
                </a:solidFill>
              </a:rPr>
              <a:t>WORKSHOP · IA EN LA GESTIÓN ADMINISTRATIVA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Inteligencia de Cuenca</a:t>
            </a:r>
            <a:endParaRPr lang="en-US" sz="56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</a:rPr>
              <a:t>Caso 2 · Demo práctica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5FFB33C-2422-A1E0-7E7F-2D1FB5E96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5" b="6653"/>
          <a:stretch>
            <a:fillRect/>
          </a:stretch>
        </p:blipFill>
        <p:spPr>
          <a:xfrm>
            <a:off x="9796856" y="0"/>
            <a:ext cx="2395144" cy="9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El desafío de Martín</a:t>
            </a:r>
            <a:endParaRPr lang="en-US" sz="3600" dirty="0"/>
          </a:p>
        </p:txBody>
      </p:sp>
      <p:sp>
        <p:nvSpPr>
          <p:cNvPr id="3" name="Tarjeta desafío 1"/>
          <p:cNvSpPr/>
          <p:nvPr/>
        </p:nvSpPr>
        <p:spPr>
          <a:xfrm>
            <a:off x="548640" y="155448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desafío 1"/>
          <p:cNvSpPr/>
          <p:nvPr/>
        </p:nvSpPr>
        <p:spPr>
          <a:xfrm>
            <a:off x="777240" y="169163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411480" cy="411480"/>
          </a:xfrm>
          <a:prstGeom prst="rect">
            <a:avLst/>
          </a:prstGeom>
        </p:spPr>
      </p:pic>
      <p:sp>
        <p:nvSpPr>
          <p:cNvPr id="6" name="Texto desafío 1"/>
          <p:cNvSpPr txBox="1"/>
          <p:nvPr/>
        </p:nvSpPr>
        <p:spPr>
          <a:xfrm>
            <a:off x="1828800" y="1645920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Martín Lagos, de Relaciones Institucionales, quiere que Lucía, Diego y Paula reciban cada lunes una síntesis de la cuenca neuquina.</a:t>
            </a:r>
          </a:p>
        </p:txBody>
      </p:sp>
      <p:sp>
        <p:nvSpPr>
          <p:cNvPr id="7" name="Tarjeta desafío 2"/>
          <p:cNvSpPr/>
          <p:nvPr/>
        </p:nvSpPr>
        <p:spPr>
          <a:xfrm>
            <a:off x="548640" y="274320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írculo desafío 2"/>
          <p:cNvSpPr/>
          <p:nvPr/>
        </p:nvSpPr>
        <p:spPr>
          <a:xfrm>
            <a:off x="777240" y="28803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63240"/>
            <a:ext cx="411480" cy="411480"/>
          </a:xfrm>
          <a:prstGeom prst="rect">
            <a:avLst/>
          </a:prstGeom>
        </p:spPr>
      </p:pic>
      <p:sp>
        <p:nvSpPr>
          <p:cNvPr id="10" name="Texto desafío 2"/>
          <p:cNvSpPr txBox="1"/>
          <p:nvPr/>
        </p:nvSpPr>
        <p:spPr>
          <a:xfrm>
            <a:off x="1828800" y="2834640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Las novedades, normas y rumores llegan sin filtro ni periodicidad, y hoy se leen una por una.</a:t>
            </a:r>
          </a:p>
        </p:txBody>
      </p:sp>
      <p:sp>
        <p:nvSpPr>
          <p:cNvPr id="11" name="Tarjeta desafío 3"/>
          <p:cNvSpPr/>
          <p:nvPr/>
        </p:nvSpPr>
        <p:spPr>
          <a:xfrm>
            <a:off x="548640" y="393192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írculo desafío 3"/>
          <p:cNvSpPr/>
          <p:nvPr/>
        </p:nvSpPr>
        <p:spPr>
          <a:xfrm>
            <a:off x="777240" y="406908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59"/>
            <a:ext cx="411480" cy="411480"/>
          </a:xfrm>
          <a:prstGeom prst="rect">
            <a:avLst/>
          </a:prstGeom>
        </p:spPr>
      </p:pic>
      <p:sp>
        <p:nvSpPr>
          <p:cNvPr id="14" name="Texto desafío 3"/>
          <p:cNvSpPr txBox="1"/>
          <p:nvPr/>
        </p:nvSpPr>
        <p:spPr>
          <a:xfrm>
            <a:off x="1828800" y="4023359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Un agente puede buscarlas, pero Martín debe separar lo confirmado de lo anunciado y de lo que no tiene fuente confiable.</a:t>
            </a:r>
          </a:p>
        </p:txBody>
      </p:sp>
      <p:sp>
        <p:nvSpPr>
          <p:cNvPr id="15" name="Tarjeta desafío 4"/>
          <p:cNvSpPr/>
          <p:nvPr/>
        </p:nvSpPr>
        <p:spPr>
          <a:xfrm>
            <a:off x="548640" y="512064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desafío 4"/>
          <p:cNvSpPr/>
          <p:nvPr/>
        </p:nvSpPr>
        <p:spPr>
          <a:xfrm>
            <a:off x="777240" y="52578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440679"/>
            <a:ext cx="411480" cy="411480"/>
          </a:xfrm>
          <a:prstGeom prst="rect">
            <a:avLst/>
          </a:prstGeom>
        </p:spPr>
      </p:pic>
      <p:sp>
        <p:nvSpPr>
          <p:cNvPr id="18" name="Texto desafío 4"/>
          <p:cNvSpPr txBox="1"/>
          <p:nvPr/>
        </p:nvSpPr>
        <p:spPr>
          <a:xfrm>
            <a:off x="1828800" y="5212079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La primera síntesis cubre del 01/09 al 11/10/2026, queda en un cuaderno y se programa cada semana.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arjeta Personas">
            <a:extLst>
              <a:ext uri="{FF2B5EF4-FFF2-40B4-BE49-F238E27FC236}">
                <a16:creationId xmlns:a16="http://schemas.microsoft.com/office/drawing/2014/main" id="{B7052363-EB9F-220C-CB07-4F9487E850E4}"/>
              </a:ext>
            </a:extLst>
          </p:cNvPr>
          <p:cNvSpPr/>
          <p:nvPr/>
        </p:nvSpPr>
        <p:spPr>
          <a:xfrm>
            <a:off x="2591575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arjeta Personas">
            <a:extLst>
              <a:ext uri="{FF2B5EF4-FFF2-40B4-BE49-F238E27FC236}">
                <a16:creationId xmlns:a16="http://schemas.microsoft.com/office/drawing/2014/main" id="{2B22DC93-8303-8DCD-6A1F-590105A5166F}"/>
              </a:ext>
            </a:extLst>
          </p:cNvPr>
          <p:cNvSpPr/>
          <p:nvPr/>
        </p:nvSpPr>
        <p:spPr>
          <a:xfrm>
            <a:off x="4676990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arjeta Personas">
            <a:extLst>
              <a:ext uri="{FF2B5EF4-FFF2-40B4-BE49-F238E27FC236}">
                <a16:creationId xmlns:a16="http://schemas.microsoft.com/office/drawing/2014/main" id="{54FED0C4-B321-4C67-BB5C-1EBE73057B56}"/>
              </a:ext>
            </a:extLst>
          </p:cNvPr>
          <p:cNvSpPr/>
          <p:nvPr/>
        </p:nvSpPr>
        <p:spPr>
          <a:xfrm>
            <a:off x="506160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El desafío: mucho ruido, una síntesis</a:t>
            </a:r>
            <a:endParaRPr lang="en-US" sz="3600" dirty="0"/>
          </a:p>
        </p:txBody>
      </p:sp>
      <p:pic>
        <p:nvPicPr>
          <p:cNvPr id="3" name="Imagen principal" descr="Equipo de trabajo revisando informa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1554480"/>
            <a:ext cx="475488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7840" y="2103120"/>
            <a:ext cx="138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627840" y="3703320"/>
            <a:ext cx="138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temas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776680" y="2103120"/>
            <a:ext cx="132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8800" dirty="0"/>
          </a:p>
        </p:txBody>
      </p:sp>
      <p:sp>
        <p:nvSpPr>
          <p:cNvPr id="7" name="Text 4"/>
          <p:cNvSpPr txBox="1"/>
          <p:nvPr/>
        </p:nvSpPr>
        <p:spPr>
          <a:xfrm>
            <a:off x="2776680" y="3703320"/>
            <a:ext cx="132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niveles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745520" y="2103120"/>
            <a:ext cx="15701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8800" dirty="0"/>
          </a:p>
        </p:txBody>
      </p:sp>
      <p:sp>
        <p:nvSpPr>
          <p:cNvPr id="9" name="Text 6"/>
          <p:cNvSpPr txBox="1"/>
          <p:nvPr/>
        </p:nvSpPr>
        <p:spPr>
          <a:xfrm>
            <a:off x="4745520" y="3703320"/>
            <a:ext cx="157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fuentes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5825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Primera síntesis semanal · 01/09 al 11/10/2026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Herramientas</a:t>
            </a:r>
            <a:endParaRPr lang="en-US" sz="3600" dirty="0"/>
          </a:p>
        </p:txBody>
      </p:sp>
      <p:sp>
        <p:nvSpPr>
          <p:cNvPr id="3" name="Tarjeta Fuentes"/>
          <p:cNvSpPr/>
          <p:nvPr/>
        </p:nvSpPr>
        <p:spPr>
          <a:xfrm>
            <a:off x="54864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Círculo Fuentes"/>
          <p:cNvSpPr/>
          <p:nvPr/>
        </p:nvSpPr>
        <p:spPr>
          <a:xfrm>
            <a:off x="1623060" y="20116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cono" descr="Ic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331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Researcher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Fuentes públicas, con enlaces</a:t>
            </a:r>
            <a:endParaRPr lang="en-US" sz="2000" dirty="0"/>
          </a:p>
        </p:txBody>
      </p:sp>
      <p:sp>
        <p:nvSpPr>
          <p:cNvPr id="8" name="Tarjeta Control"/>
          <p:cNvSpPr/>
          <p:nvPr/>
        </p:nvSpPr>
        <p:spPr>
          <a:xfrm>
            <a:off x="434340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Círculo Control"/>
          <p:cNvSpPr/>
          <p:nvPr/>
        </p:nvSpPr>
        <p:spPr>
          <a:xfrm>
            <a:off x="5417820" y="20116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cono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3317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Cuadernos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Síntesis y fuentes en un lugar</a:t>
            </a:r>
            <a:endParaRPr lang="en-US" sz="2000" dirty="0"/>
          </a:p>
        </p:txBody>
      </p:sp>
      <p:sp>
        <p:nvSpPr>
          <p:cNvPr id="13" name="Tarjeta Personas"/>
          <p:cNvSpPr/>
          <p:nvPr/>
        </p:nvSpPr>
        <p:spPr>
          <a:xfrm>
            <a:off x="813816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Círculo Personas"/>
          <p:cNvSpPr/>
          <p:nvPr/>
        </p:nvSpPr>
        <p:spPr>
          <a:xfrm>
            <a:off x="9212580" y="2011680"/>
            <a:ext cx="1280160" cy="1280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cono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3317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Programar y enviar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Prompt semanal y correo en Outlook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Archivos complementarios</a:t>
            </a:r>
            <a:endParaRPr lang="en-US" sz="3600" dirty="0"/>
          </a:p>
        </p:txBody>
      </p:sp>
      <p:sp>
        <p:nvSpPr>
          <p:cNvPr id="3" name="Tarjeta M01"/>
          <p:cNvSpPr/>
          <p:nvPr/>
        </p:nvSpPr>
        <p:spPr>
          <a:xfrm>
            <a:off x="548640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M01"/>
          <p:cNvSpPr/>
          <p:nvPr/>
        </p:nvSpPr>
        <p:spPr>
          <a:xfrm>
            <a:off x="731520" y="1874519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IC01</a:t>
            </a:r>
          </a:p>
        </p:txBody>
      </p:sp>
      <p:sp>
        <p:nvSpPr>
          <p:cNvPr id="5" name="Texto M01"/>
          <p:cNvSpPr txBox="1"/>
          <p:nvPr/>
        </p:nvSpPr>
        <p:spPr>
          <a:xfrm>
            <a:off x="1783080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Perfil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de vigilancia</a:t>
            </a:r>
          </a:p>
        </p:txBody>
      </p:sp>
      <p:sp>
        <p:nvSpPr>
          <p:cNvPr id="6" name="Tarjeta M02"/>
          <p:cNvSpPr/>
          <p:nvPr/>
        </p:nvSpPr>
        <p:spPr>
          <a:xfrm>
            <a:off x="4379976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írculo M02"/>
          <p:cNvSpPr/>
          <p:nvPr/>
        </p:nvSpPr>
        <p:spPr>
          <a:xfrm>
            <a:off x="4562856" y="1874519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IC02</a:t>
            </a:r>
          </a:p>
        </p:txBody>
      </p:sp>
      <p:sp>
        <p:nvSpPr>
          <p:cNvPr id="8" name="Texto M02"/>
          <p:cNvSpPr txBox="1"/>
          <p:nvPr/>
        </p:nvSpPr>
        <p:spPr>
          <a:xfrm>
            <a:off x="5614416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Pack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de fuentes</a:t>
            </a:r>
          </a:p>
        </p:txBody>
      </p:sp>
      <p:sp>
        <p:nvSpPr>
          <p:cNvPr id="9" name="Tarjeta M03"/>
          <p:cNvSpPr/>
          <p:nvPr/>
        </p:nvSpPr>
        <p:spPr>
          <a:xfrm>
            <a:off x="8211312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írculo M03"/>
          <p:cNvSpPr/>
          <p:nvPr/>
        </p:nvSpPr>
        <p:spPr>
          <a:xfrm>
            <a:off x="8394192" y="1874519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IC03</a:t>
            </a:r>
          </a:p>
        </p:txBody>
      </p:sp>
      <p:sp>
        <p:nvSpPr>
          <p:cNvPr id="11" name="Texto M03"/>
          <p:cNvSpPr txBox="1"/>
          <p:nvPr/>
        </p:nvSpPr>
        <p:spPr>
          <a:xfrm>
            <a:off x="9445752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Mensaje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reenviado</a:t>
            </a:r>
          </a:p>
        </p:txBody>
      </p:sp>
      <p:sp>
        <p:nvSpPr>
          <p:cNvPr id="12" name="Tarjeta M04"/>
          <p:cNvSpPr/>
          <p:nvPr/>
        </p:nvSpPr>
        <p:spPr>
          <a:xfrm>
            <a:off x="548640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írculo M04"/>
          <p:cNvSpPr/>
          <p:nvPr/>
        </p:nvSpPr>
        <p:spPr>
          <a:xfrm>
            <a:off x="731520" y="342900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IC04</a:t>
            </a:r>
          </a:p>
        </p:txBody>
      </p:sp>
      <p:sp>
        <p:nvSpPr>
          <p:cNvPr id="14" name="Texto M04"/>
          <p:cNvSpPr txBox="1"/>
          <p:nvPr/>
        </p:nvSpPr>
        <p:spPr>
          <a:xfrm>
            <a:off x="1783080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Síntesis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de referencia</a:t>
            </a:r>
          </a:p>
        </p:txBody>
      </p:sp>
      <p:sp>
        <p:nvSpPr>
          <p:cNvPr id="15" name="Tarjeta M05"/>
          <p:cNvSpPr/>
          <p:nvPr/>
        </p:nvSpPr>
        <p:spPr>
          <a:xfrm>
            <a:off x="4379976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M05"/>
          <p:cNvSpPr/>
          <p:nvPr/>
        </p:nvSpPr>
        <p:spPr>
          <a:xfrm>
            <a:off x="4562856" y="34290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F1</a:t>
            </a:r>
          </a:p>
        </p:txBody>
      </p:sp>
      <p:sp>
        <p:nvSpPr>
          <p:cNvPr id="17" name="Texto M05"/>
          <p:cNvSpPr txBox="1"/>
          <p:nvPr/>
        </p:nvSpPr>
        <p:spPr>
          <a:xfrm>
            <a:off x="5614416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EconoJournal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Transporte · 12/09</a:t>
            </a:r>
          </a:p>
        </p:txBody>
      </p:sp>
      <p:sp>
        <p:nvSpPr>
          <p:cNvPr id="18" name="Tarjeta M06"/>
          <p:cNvSpPr/>
          <p:nvPr/>
        </p:nvSpPr>
        <p:spPr>
          <a:xfrm>
            <a:off x="8211312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írculo M06"/>
          <p:cNvSpPr/>
          <p:nvPr/>
        </p:nvSpPr>
        <p:spPr>
          <a:xfrm>
            <a:off x="8394192" y="34290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F2</a:t>
            </a:r>
          </a:p>
        </p:txBody>
      </p:sp>
      <p:sp>
        <p:nvSpPr>
          <p:cNvPr id="20" name="Texto M06"/>
          <p:cNvSpPr txBox="1"/>
          <p:nvPr/>
        </p:nvSpPr>
        <p:spPr>
          <a:xfrm>
            <a:off x="9445752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iProfesional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Transporte · 16/09</a:t>
            </a:r>
          </a:p>
        </p:txBody>
      </p:sp>
      <p:sp>
        <p:nvSpPr>
          <p:cNvPr id="21" name="Tarjeta M07"/>
          <p:cNvSpPr/>
          <p:nvPr/>
        </p:nvSpPr>
        <p:spPr>
          <a:xfrm>
            <a:off x="548640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M07"/>
          <p:cNvSpPr/>
          <p:nvPr/>
        </p:nvSpPr>
        <p:spPr>
          <a:xfrm>
            <a:off x="731520" y="49834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F3</a:t>
            </a:r>
          </a:p>
        </p:txBody>
      </p:sp>
      <p:sp>
        <p:nvSpPr>
          <p:cNvPr id="23" name="Texto M07"/>
          <p:cNvSpPr txBox="1"/>
          <p:nvPr/>
        </p:nvSpPr>
        <p:spPr>
          <a:xfrm>
            <a:off x="1783080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Petrolnews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Ronda 1/2026 · 07/09</a:t>
            </a:r>
          </a:p>
        </p:txBody>
      </p:sp>
      <p:sp>
        <p:nvSpPr>
          <p:cNvPr id="24" name="Tarjeta M08"/>
          <p:cNvSpPr/>
          <p:nvPr/>
        </p:nvSpPr>
        <p:spPr>
          <a:xfrm>
            <a:off x="4379976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írculo M08"/>
          <p:cNvSpPr/>
          <p:nvPr/>
        </p:nvSpPr>
        <p:spPr>
          <a:xfrm>
            <a:off x="4562856" y="49834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F4</a:t>
            </a:r>
          </a:p>
        </p:txBody>
      </p:sp>
      <p:sp>
        <p:nvSpPr>
          <p:cNvPr id="26" name="Texto M08"/>
          <p:cNvSpPr txBox="1"/>
          <p:nvPr/>
        </p:nvSpPr>
        <p:spPr>
          <a:xfrm>
            <a:off x="5614416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iProfesional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Ronda 1/2026 · 18/09</a:t>
            </a:r>
          </a:p>
        </p:txBody>
      </p:sp>
      <p:sp>
        <p:nvSpPr>
          <p:cNvPr id="27" name="Tarjeta M09"/>
          <p:cNvSpPr/>
          <p:nvPr/>
        </p:nvSpPr>
        <p:spPr>
          <a:xfrm>
            <a:off x="8211312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írculo M09"/>
          <p:cNvSpPr/>
          <p:nvPr/>
        </p:nvSpPr>
        <p:spPr>
          <a:xfrm>
            <a:off x="8394192" y="49834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F5</a:t>
            </a:r>
          </a:p>
        </p:txBody>
      </p:sp>
      <p:sp>
        <p:nvSpPr>
          <p:cNvPr id="29" name="Texto M09"/>
          <p:cNvSpPr txBox="1"/>
          <p:nvPr/>
        </p:nvSpPr>
        <p:spPr>
          <a:xfrm>
            <a:off x="9445752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Infobae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Recaudación · 09/10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937760" y="1280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30′</a:t>
            </a:r>
            <a:endParaRPr lang="en-US" sz="8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Demo práctica</a:t>
            </a:r>
            <a:endParaRPr lang="en-US" sz="48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</a:rPr>
              <a:t>Martín prepara la primera síntesis semanal</a:t>
            </a:r>
            <a:endParaRPr lang="en-US" sz="2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E0DF465-2C3D-917D-2DC1-23C5513A1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2" y="0"/>
            <a:ext cx="38308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Siete puntos de control</a:t>
            </a:r>
            <a:endParaRPr lang="en-US" sz="3600" dirty="0"/>
          </a:p>
        </p:txBody>
      </p:sp>
      <p:sp>
        <p:nvSpPr>
          <p:cNvPr id="3" name="Tarjeta control 1"/>
          <p:cNvSpPr/>
          <p:nvPr/>
        </p:nvSpPr>
        <p:spPr>
          <a:xfrm>
            <a:off x="548640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control 1"/>
          <p:cNvSpPr/>
          <p:nvPr/>
        </p:nvSpPr>
        <p:spPr>
          <a:xfrm>
            <a:off x="1440179" y="187451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1</a:t>
            </a:r>
          </a:p>
        </p:txBody>
      </p:sp>
      <p:sp>
        <p:nvSpPr>
          <p:cNvPr id="5" name="Texto control 1"/>
          <p:cNvSpPr txBox="1"/>
          <p:nvPr/>
        </p:nvSpPr>
        <p:spPr>
          <a:xfrm>
            <a:off x="685800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Fecha y enlace</a:t>
            </a:r>
          </a:p>
        </p:txBody>
      </p:sp>
      <p:sp>
        <p:nvSpPr>
          <p:cNvPr id="6" name="Tarjeta control 2"/>
          <p:cNvSpPr/>
          <p:nvPr/>
        </p:nvSpPr>
        <p:spPr>
          <a:xfrm>
            <a:off x="3392424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írculo control 2"/>
          <p:cNvSpPr/>
          <p:nvPr/>
        </p:nvSpPr>
        <p:spPr>
          <a:xfrm>
            <a:off x="4283964" y="1874519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2</a:t>
            </a:r>
          </a:p>
        </p:txBody>
      </p:sp>
      <p:sp>
        <p:nvSpPr>
          <p:cNvPr id="8" name="Texto control 2"/>
          <p:cNvSpPr txBox="1"/>
          <p:nvPr/>
        </p:nvSpPr>
        <p:spPr>
          <a:xfrm>
            <a:off x="3529584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Mensaje sin fuente</a:t>
            </a:r>
          </a:p>
        </p:txBody>
      </p:sp>
      <p:sp>
        <p:nvSpPr>
          <p:cNvPr id="9" name="Tarjeta control 3"/>
          <p:cNvSpPr/>
          <p:nvPr/>
        </p:nvSpPr>
        <p:spPr>
          <a:xfrm>
            <a:off x="6236207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írculo control 3"/>
          <p:cNvSpPr/>
          <p:nvPr/>
        </p:nvSpPr>
        <p:spPr>
          <a:xfrm>
            <a:off x="7127747" y="1874519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3</a:t>
            </a:r>
          </a:p>
        </p:txBody>
      </p:sp>
      <p:sp>
        <p:nvSpPr>
          <p:cNvPr id="11" name="Texto control 3"/>
          <p:cNvSpPr txBox="1"/>
          <p:nvPr/>
        </p:nvSpPr>
        <p:spPr>
          <a:xfrm>
            <a:off x="6373368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Anuncio o norma</a:t>
            </a:r>
          </a:p>
        </p:txBody>
      </p:sp>
      <p:sp>
        <p:nvSpPr>
          <p:cNvPr id="12" name="Tarjeta control 4"/>
          <p:cNvSpPr/>
          <p:nvPr/>
        </p:nvSpPr>
        <p:spPr>
          <a:xfrm>
            <a:off x="9079992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írculo control 4"/>
          <p:cNvSpPr/>
          <p:nvPr/>
        </p:nvSpPr>
        <p:spPr>
          <a:xfrm>
            <a:off x="9971532" y="187451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4</a:t>
            </a:r>
          </a:p>
        </p:txBody>
      </p:sp>
      <p:sp>
        <p:nvSpPr>
          <p:cNvPr id="14" name="Texto control 4"/>
          <p:cNvSpPr txBox="1"/>
          <p:nvPr/>
        </p:nvSpPr>
        <p:spPr>
          <a:xfrm>
            <a:off x="9217152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Ronda 1/2026</a:t>
            </a:r>
          </a:p>
        </p:txBody>
      </p:sp>
      <p:sp>
        <p:nvSpPr>
          <p:cNvPr id="15" name="Tarjeta control 5"/>
          <p:cNvSpPr/>
          <p:nvPr/>
        </p:nvSpPr>
        <p:spPr>
          <a:xfrm>
            <a:off x="1970532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control 5"/>
          <p:cNvSpPr/>
          <p:nvPr/>
        </p:nvSpPr>
        <p:spPr>
          <a:xfrm>
            <a:off x="2862072" y="416052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5</a:t>
            </a:r>
          </a:p>
        </p:txBody>
      </p:sp>
      <p:sp>
        <p:nvSpPr>
          <p:cNvPr id="17" name="Texto control 5"/>
          <p:cNvSpPr txBox="1"/>
          <p:nvPr/>
        </p:nvSpPr>
        <p:spPr>
          <a:xfrm>
            <a:off x="2107692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Cifras fiscales</a:t>
            </a:r>
          </a:p>
        </p:txBody>
      </p:sp>
      <p:sp>
        <p:nvSpPr>
          <p:cNvPr id="18" name="Tarjeta control 6"/>
          <p:cNvSpPr/>
          <p:nvPr/>
        </p:nvSpPr>
        <p:spPr>
          <a:xfrm>
            <a:off x="4814316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írculo control 6"/>
          <p:cNvSpPr/>
          <p:nvPr/>
        </p:nvSpPr>
        <p:spPr>
          <a:xfrm>
            <a:off x="5705856" y="416052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6</a:t>
            </a:r>
          </a:p>
        </p:txBody>
      </p:sp>
      <p:sp>
        <p:nvSpPr>
          <p:cNvPr id="20" name="Texto control 6"/>
          <p:cNvSpPr txBox="1"/>
          <p:nvPr/>
        </p:nvSpPr>
        <p:spPr>
          <a:xfrm>
            <a:off x="4951476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Nivel y confiabilidad</a:t>
            </a:r>
          </a:p>
        </p:txBody>
      </p:sp>
      <p:sp>
        <p:nvSpPr>
          <p:cNvPr id="21" name="Tarjeta control 7"/>
          <p:cNvSpPr/>
          <p:nvPr/>
        </p:nvSpPr>
        <p:spPr>
          <a:xfrm>
            <a:off x="7658100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control 7"/>
          <p:cNvSpPr/>
          <p:nvPr/>
        </p:nvSpPr>
        <p:spPr>
          <a:xfrm>
            <a:off x="8549640" y="41605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7</a:t>
            </a:r>
          </a:p>
        </p:txBody>
      </p:sp>
      <p:sp>
        <p:nvSpPr>
          <p:cNvPr id="23" name="Texto control 7"/>
          <p:cNvSpPr txBox="1"/>
          <p:nvPr/>
        </p:nvSpPr>
        <p:spPr>
          <a:xfrm>
            <a:off x="7795260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Alcance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Criterio de aceptación de la síntesis</a:t>
            </a:r>
            <a:endParaRPr lang="en-US" sz="3600" dirty="0"/>
          </a:p>
        </p:txBody>
      </p:sp>
      <p:sp>
        <p:nvSpPr>
          <p:cNvPr id="3" name="Tarjeta Fuentes"/>
          <p:cNvSpPr/>
          <p:nvPr/>
        </p:nvSpPr>
        <p:spPr>
          <a:xfrm>
            <a:off x="54864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Círculo Fuentes"/>
          <p:cNvSpPr/>
          <p:nvPr/>
        </p:nvSpPr>
        <p:spPr>
          <a:xfrm>
            <a:off x="1623060" y="22924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cono" descr="Ic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612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Siete controles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Todos cumplidos</a:t>
            </a:r>
            <a:endParaRPr lang="en-US" sz="2000" dirty="0"/>
          </a:p>
        </p:txBody>
      </p:sp>
      <p:sp>
        <p:nvSpPr>
          <p:cNvPr id="8" name="Tarjeta Control"/>
          <p:cNvSpPr/>
          <p:nvPr/>
        </p:nvSpPr>
        <p:spPr>
          <a:xfrm>
            <a:off x="434340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Círculo Control"/>
          <p:cNvSpPr/>
          <p:nvPr/>
        </p:nvSpPr>
        <p:spPr>
          <a:xfrm>
            <a:off x="5417820" y="22924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cono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6125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Fuentes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Cada novedad con fecha y enlace</a:t>
            </a:r>
            <a:endParaRPr lang="en-US" sz="2000" dirty="0"/>
          </a:p>
        </p:txBody>
      </p:sp>
      <p:sp>
        <p:nvSpPr>
          <p:cNvPr id="13" name="Tarjeta Personas"/>
          <p:cNvSpPr/>
          <p:nvPr/>
        </p:nvSpPr>
        <p:spPr>
          <a:xfrm>
            <a:off x="813816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Círculo Personas"/>
          <p:cNvSpPr/>
          <p:nvPr/>
        </p:nvSpPr>
        <p:spPr>
          <a:xfrm>
            <a:off x="9212580" y="2292480"/>
            <a:ext cx="1280160" cy="1280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cono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6125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 no verificado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Separado de lo confirmado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F321DC0-601B-98D7-563C-8C85A507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Velo de contraste">
            <a:extLst>
              <a:ext uri="{FF2B5EF4-FFF2-40B4-BE49-F238E27FC236}">
                <a16:creationId xmlns:a16="http://schemas.microsoft.com/office/drawing/2014/main" id="{7D36760C-49DA-D99C-6B0D-154D91384BE0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alpha val="62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7C8DE7C-B3FF-BE63-267A-5134E9DA8BE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¿Preguntas?</a:t>
            </a:r>
            <a:endParaRPr lang="en-US" sz="7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A29795B-EC30-1657-459C-F42E920C3BF8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Las ideas y dudas de ustedes enriquecen el caso</a:t>
            </a:r>
            <a:endParaRPr lang="en-US" sz="2600" dirty="0"/>
          </a:p>
        </p:txBody>
      </p:sp>
      <p:sp>
        <p:nvSpPr>
          <p:cNvPr id="20" name="Pie de página IA">
            <a:extLst>
              <a:ext uri="{FF2B5EF4-FFF2-40B4-BE49-F238E27FC236}">
                <a16:creationId xmlns:a16="http://schemas.microsoft.com/office/drawing/2014/main" id="{899B7EA3-4C0F-B283-1EF8-5EF938086AD4}"/>
              </a:ext>
            </a:extLst>
          </p:cNvPr>
          <p:cNvSpPr txBox="1"/>
          <p:nvPr/>
        </p:nvSpPr>
        <p:spPr>
          <a:xfrm>
            <a:off x="731520" y="6453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bg1"/>
                </a:solidFill>
              </a:rPr>
              <a:t>Esta presentación ha sido generada con la asistencia de inteligencia artificial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7C325C-A584-33C7-1113-8CF459DF22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25" b="6653"/>
          <a:stretch>
            <a:fillRect/>
          </a:stretch>
        </p:blipFill>
        <p:spPr>
          <a:xfrm>
            <a:off x="9796856" y="0"/>
            <a:ext cx="2395144" cy="9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orkshop IA - Plantilla Base [1791645834479]">
  <a:themeElements>
    <a:clrScheme name="Workshop IA - Plantilla Base">
      <a:dk1>
        <a:srgbClr val="222B33"/>
      </a:dk1>
      <a:lt1>
        <a:srgbClr val="FFFFFF"/>
      </a:lt1>
      <a:dk2>
        <a:srgbClr val="1A2B4C"/>
      </a:dk2>
      <a:lt2>
        <a:srgbClr val="F1F3F5"/>
      </a:lt2>
      <a:accent1>
        <a:srgbClr val="2E8B7A"/>
      </a:accent1>
      <a:accent2>
        <a:srgbClr val="C8693A"/>
      </a:accent2>
      <a:accent3>
        <a:srgbClr val="5B7FA6"/>
      </a:accent3>
      <a:accent4>
        <a:srgbClr val="E2B04A"/>
      </a:accent4>
      <a:accent5>
        <a:srgbClr val="56606B"/>
      </a:accent5>
      <a:accent6>
        <a:srgbClr val="8A97A3"/>
      </a:accent6>
      <a:hlink>
        <a:srgbClr val="2E8B7A"/>
      </a:hlink>
      <a:folHlink>
        <a:srgbClr val="56606B"/>
      </a:folHlink>
    </a:clrScheme>
    <a:fontScheme name="Workshop IA - Plantilla Ba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70566AA-4711-4F67-99F4-88E44307B1E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a29918e-7b47-4d9d-b769-bdbced0815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348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Workshop IA - Plantilla Base [1791645834479]</vt:lpstr>
      <vt:lpstr>Inteligencia de Cuenca</vt:lpstr>
      <vt:lpstr>El desafío de Martín</vt:lpstr>
      <vt:lpstr>El desafío: mucho ruido, una síntesis</vt:lpstr>
      <vt:lpstr>Herramientas</vt:lpstr>
      <vt:lpstr>Archivos complementarios</vt:lpstr>
      <vt:lpstr>Demo práctica</vt:lpstr>
      <vt:lpstr>Siete puntos de control</vt:lpstr>
      <vt:lpstr>Criterio de aceptación de la síntesis</vt:lpstr>
      <vt:lpstr>¿Preguntas?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base - Workshop de IA (borrador v0.1)</dc:title>
  <dc:subject>PptxGenJS Presentation</dc:subject>
  <dc:creator>IA para Todos</dc:creator>
  <cp:lastModifiedBy>Oscar Gerometta</cp:lastModifiedBy>
  <cp:revision>15</cp:revision>
  <dcterms:created xsi:type="dcterms:W3CDTF">2026-10-10T15:11:13Z</dcterms:created>
  <dcterms:modified xsi:type="dcterms:W3CDTF">2026-10-13T21:32:14Z</dcterms:modified>
</cp:coreProperties>
</file>