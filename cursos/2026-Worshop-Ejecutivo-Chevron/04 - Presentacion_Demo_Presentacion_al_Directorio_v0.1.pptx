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2"/>
  </p:notesMasterIdLst>
  <p:sldIdLst>
    <p:sldId id="273" r:id="rId2"/>
    <p:sldId id="282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3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016C65-BA26-90EE-10E1-194CB27C7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DOR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937760" y="265176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937760" y="45720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Pie de página IA"/>
          <p:cNvSpPr/>
          <p:nvPr/>
        </p:nvSpPr>
        <p:spPr>
          <a:xfrm>
            <a:off x="493776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6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dirty="0">
                <a:solidFill>
                  <a:schemeClr val="accent4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lo de contrast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00"/>
                </a:solidFill>
              </a:rPr>
              <a:t>WORKSHOP · IA EN LA GESTIÓN ADMINISTRATIVA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Presentación al Directorio</a:t>
            </a:r>
            <a:endParaRPr lang="en-US" sz="56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</a:rPr>
              <a:t>Caso 4 · Demo práctica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FFB33C-2422-A1E0-7E7F-2D1FB5E96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5" b="6653"/>
          <a:stretch>
            <a:fillRect/>
          </a:stretch>
        </p:blipFill>
        <p:spPr>
          <a:xfrm>
            <a:off x="9796856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 de Lucía</a:t>
            </a:r>
            <a:endParaRPr lang="en-US" sz="3600" dirty="0"/>
          </a:p>
        </p:txBody>
      </p:sp>
      <p:sp>
        <p:nvSpPr>
          <p:cNvPr id="3" name="Tarjeta desafío 1"/>
          <p:cNvSpPr/>
          <p:nvPr/>
        </p:nvSpPr>
        <p:spPr>
          <a:xfrm>
            <a:off x="548640" y="155448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desafío 1"/>
          <p:cNvSpPr/>
          <p:nvPr/>
        </p:nvSpPr>
        <p:spPr>
          <a:xfrm>
            <a:off x="777240" y="169163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11480" cy="411480"/>
          </a:xfrm>
          <a:prstGeom prst="rect">
            <a:avLst/>
          </a:prstGeom>
        </p:spPr>
      </p:pic>
      <p:sp>
        <p:nvSpPr>
          <p:cNvPr id="6" name="Texto desafío 1"/>
          <p:cNvSpPr txBox="1"/>
          <p:nvPr/>
        </p:nvSpPr>
        <p:spPr>
          <a:xfrm>
            <a:off x="1828800" y="1645920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Lucía Ferrer, directora de Administración y Finanzas, debe llevar al Directorio del 29/10/2026 una presentación sobre la capacidad de transporte para Horizonte 2027.</a:t>
            </a:r>
          </a:p>
        </p:txBody>
      </p:sp>
      <p:sp>
        <p:nvSpPr>
          <p:cNvPr id="7" name="Tarjeta desafío 2"/>
          <p:cNvSpPr/>
          <p:nvPr/>
        </p:nvSpPr>
        <p:spPr>
          <a:xfrm>
            <a:off x="548640" y="274320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írculo desafío 2"/>
          <p:cNvSpPr/>
          <p:nvPr/>
        </p:nvSpPr>
        <p:spPr>
          <a:xfrm>
            <a:off x="777240" y="2880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63240"/>
            <a:ext cx="411480" cy="411480"/>
          </a:xfrm>
          <a:prstGeom prst="rect">
            <a:avLst/>
          </a:prstGeom>
        </p:spPr>
      </p:pic>
      <p:sp>
        <p:nvSpPr>
          <p:cNvPr id="10" name="Texto desafío 2"/>
          <p:cNvSpPr txBox="1"/>
          <p:nvPr/>
        </p:nvSpPr>
        <p:spPr>
          <a:xfrm>
            <a:off x="1828800" y="2834640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Neuquén anunció que exigirá capacidad de transporte, pero el anuncio no tiene norma y las cifras de los ductos cambian según la fuente.</a:t>
            </a:r>
          </a:p>
        </p:txBody>
      </p:sp>
      <p:sp>
        <p:nvSpPr>
          <p:cNvPr id="11" name="Tarjeta desafío 3"/>
          <p:cNvSpPr/>
          <p:nvPr/>
        </p:nvSpPr>
        <p:spPr>
          <a:xfrm>
            <a:off x="548640" y="393192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írculo desafío 3"/>
          <p:cNvSpPr/>
          <p:nvPr/>
        </p:nvSpPr>
        <p:spPr>
          <a:xfrm>
            <a:off x="777240" y="40690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59"/>
            <a:ext cx="411480" cy="411480"/>
          </a:xfrm>
          <a:prstGeom prst="rect">
            <a:avLst/>
          </a:prstGeom>
        </p:spPr>
      </p:pic>
      <p:sp>
        <p:nvSpPr>
          <p:cNvPr id="14" name="Texto desafío 3"/>
          <p:cNvSpPr txBox="1"/>
          <p:nvPr/>
        </p:nvSpPr>
        <p:spPr>
          <a:xfrm>
            <a:off x="1828800" y="402335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Armar la presentación a mano obliga a investigar, redactar, ordenar y diseñar, sin perder de vista de dónde sale cada cifra.</a:t>
            </a:r>
          </a:p>
        </p:txBody>
      </p:sp>
      <p:sp>
        <p:nvSpPr>
          <p:cNvPr id="15" name="Tarjeta desafío 4"/>
          <p:cNvSpPr/>
          <p:nvPr/>
        </p:nvSpPr>
        <p:spPr>
          <a:xfrm>
            <a:off x="548640" y="512064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desafío 4"/>
          <p:cNvSpPr/>
          <p:nvPr/>
        </p:nvSpPr>
        <p:spPr>
          <a:xfrm>
            <a:off x="777240" y="5257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40679"/>
            <a:ext cx="411480" cy="411480"/>
          </a:xfrm>
          <a:prstGeom prst="rect">
            <a:avLst/>
          </a:prstGeom>
        </p:spPr>
      </p:pic>
      <p:sp>
        <p:nvSpPr>
          <p:cNvPr id="18" name="Texto desafío 4"/>
          <p:cNvSpPr txBox="1"/>
          <p:nvPr/>
        </p:nvSpPr>
        <p:spPr>
          <a:xfrm>
            <a:off x="1828800" y="521207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Con Copilot puede encadenar los documentos, pero tiene que controlar cada eslabón y dejar a la vista lo que falta.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arjeta Personas">
            <a:extLst>
              <a:ext uri="{FF2B5EF4-FFF2-40B4-BE49-F238E27FC236}">
                <a16:creationId xmlns:a16="http://schemas.microsoft.com/office/drawing/2014/main" id="{B7052363-EB9F-220C-CB07-4F9487E850E4}"/>
              </a:ext>
            </a:extLst>
          </p:cNvPr>
          <p:cNvSpPr/>
          <p:nvPr/>
        </p:nvSpPr>
        <p:spPr>
          <a:xfrm>
            <a:off x="2591575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arjeta Personas">
            <a:extLst>
              <a:ext uri="{FF2B5EF4-FFF2-40B4-BE49-F238E27FC236}">
                <a16:creationId xmlns:a16="http://schemas.microsoft.com/office/drawing/2014/main" id="{2B22DC93-8303-8DCD-6A1F-590105A5166F}"/>
              </a:ext>
            </a:extLst>
          </p:cNvPr>
          <p:cNvSpPr/>
          <p:nvPr/>
        </p:nvSpPr>
        <p:spPr>
          <a:xfrm>
            <a:off x="467699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arjeta Personas">
            <a:extLst>
              <a:ext uri="{FF2B5EF4-FFF2-40B4-BE49-F238E27FC236}">
                <a16:creationId xmlns:a16="http://schemas.microsoft.com/office/drawing/2014/main" id="{54FED0C4-B321-4C67-BB5C-1EBE73057B56}"/>
              </a:ext>
            </a:extLst>
          </p:cNvPr>
          <p:cNvSpPr/>
          <p:nvPr/>
        </p:nvSpPr>
        <p:spPr>
          <a:xfrm>
            <a:off x="50616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desafío: de la investigación a la presentación</a:t>
            </a:r>
            <a:endParaRPr lang="en-US" sz="3600" dirty="0"/>
          </a:p>
        </p:txBody>
      </p:sp>
      <p:pic>
        <p:nvPicPr>
          <p:cNvPr id="3" name="Imagen principal" descr="Equipo de trabajo revisando inform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554480"/>
            <a:ext cx="475488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7840" y="2103120"/>
            <a:ext cx="138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627840" y="3703320"/>
            <a:ext cx="138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eslabones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776680" y="2103120"/>
            <a:ext cx="132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8800" dirty="0"/>
          </a:p>
        </p:txBody>
      </p:sp>
      <p:sp>
        <p:nvSpPr>
          <p:cNvPr id="7" name="Text 4"/>
          <p:cNvSpPr txBox="1"/>
          <p:nvPr/>
        </p:nvSpPr>
        <p:spPr>
          <a:xfrm>
            <a:off x="2776680" y="3703320"/>
            <a:ext cx="13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fuentes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745520" y="2103120"/>
            <a:ext cx="15701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8800" dirty="0"/>
          </a:p>
        </p:txBody>
      </p:sp>
      <p:sp>
        <p:nvSpPr>
          <p:cNvPr id="9" name="Text 6"/>
          <p:cNvSpPr txBox="1"/>
          <p:nvPr/>
        </p:nvSpPr>
        <p:spPr>
          <a:xfrm>
            <a:off x="4745520" y="3703320"/>
            <a:ext cx="157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láminas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5825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Sesión del Directorio · 29/10/2026 (fecha ficticia)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Herramientas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0116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331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Researcher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Fuentes públicas, con enlaces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0116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3317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Chat y Word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Apunte base y esquema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0116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3317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PowerPoint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Presentación con notas del orador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Archivos complementarios</a:t>
            </a:r>
            <a:endParaRPr lang="en-US" sz="3600" dirty="0"/>
          </a:p>
        </p:txBody>
      </p:sp>
      <p:sp>
        <p:nvSpPr>
          <p:cNvPr id="3" name="Tarjeta M01"/>
          <p:cNvSpPr/>
          <p:nvPr/>
        </p:nvSpPr>
        <p:spPr>
          <a:xfrm>
            <a:off x="548640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M01"/>
          <p:cNvSpPr/>
          <p:nvPr/>
        </p:nvSpPr>
        <p:spPr>
          <a:xfrm>
            <a:off x="731520" y="1874519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PD01</a:t>
            </a:r>
          </a:p>
        </p:txBody>
      </p:sp>
      <p:sp>
        <p:nvSpPr>
          <p:cNvPr id="5" name="Texto M01"/>
          <p:cNvSpPr txBox="1"/>
          <p:nvPr/>
        </p:nvSpPr>
        <p:spPr>
          <a:xfrm>
            <a:off x="1783080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Mensaje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Solicitud del Directorio</a:t>
            </a:r>
          </a:p>
        </p:txBody>
      </p:sp>
      <p:sp>
        <p:nvSpPr>
          <p:cNvPr id="6" name="Tarjeta M02"/>
          <p:cNvSpPr/>
          <p:nvPr/>
        </p:nvSpPr>
        <p:spPr>
          <a:xfrm>
            <a:off x="4379976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M02"/>
          <p:cNvSpPr/>
          <p:nvPr/>
        </p:nvSpPr>
        <p:spPr>
          <a:xfrm>
            <a:off x="4562856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PD02</a:t>
            </a:r>
          </a:p>
        </p:txBody>
      </p:sp>
      <p:sp>
        <p:nvSpPr>
          <p:cNvPr id="8" name="Texto M02"/>
          <p:cNvSpPr txBox="1"/>
          <p:nvPr/>
        </p:nvSpPr>
        <p:spPr>
          <a:xfrm>
            <a:off x="5614416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Pack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Fuentes de transporte</a:t>
            </a:r>
          </a:p>
        </p:txBody>
      </p:sp>
      <p:sp>
        <p:nvSpPr>
          <p:cNvPr id="9" name="Tarjeta M03"/>
          <p:cNvSpPr/>
          <p:nvPr/>
        </p:nvSpPr>
        <p:spPr>
          <a:xfrm>
            <a:off x="8211312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M03"/>
          <p:cNvSpPr/>
          <p:nvPr/>
        </p:nvSpPr>
        <p:spPr>
          <a:xfrm>
            <a:off x="8394192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PD03</a:t>
            </a:r>
          </a:p>
        </p:txBody>
      </p:sp>
      <p:sp>
        <p:nvSpPr>
          <p:cNvPr id="11" name="Texto M03"/>
          <p:cNvSpPr txBox="1"/>
          <p:nvPr/>
        </p:nvSpPr>
        <p:spPr>
          <a:xfrm>
            <a:off x="9445752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Informe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Estado de Horizonte 2027</a:t>
            </a:r>
          </a:p>
        </p:txBody>
      </p:sp>
      <p:sp>
        <p:nvSpPr>
          <p:cNvPr id="12" name="Tarjeta M04"/>
          <p:cNvSpPr/>
          <p:nvPr/>
        </p:nvSpPr>
        <p:spPr>
          <a:xfrm>
            <a:off x="548640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M04"/>
          <p:cNvSpPr/>
          <p:nvPr/>
        </p:nvSpPr>
        <p:spPr>
          <a:xfrm>
            <a:off x="731520" y="34290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PD04</a:t>
            </a:r>
          </a:p>
        </p:txBody>
      </p:sp>
      <p:sp>
        <p:nvSpPr>
          <p:cNvPr id="14" name="Texto M04"/>
          <p:cNvSpPr txBox="1"/>
          <p:nvPr/>
        </p:nvSpPr>
        <p:spPr>
          <a:xfrm>
            <a:off x="1783080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Referencia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Solo el presentador</a:t>
            </a:r>
          </a:p>
        </p:txBody>
      </p:sp>
      <p:sp>
        <p:nvSpPr>
          <p:cNvPr id="15" name="Tarjeta M05"/>
          <p:cNvSpPr/>
          <p:nvPr/>
        </p:nvSpPr>
        <p:spPr>
          <a:xfrm>
            <a:off x="4379976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M05"/>
          <p:cNvSpPr/>
          <p:nvPr/>
        </p:nvSpPr>
        <p:spPr>
          <a:xfrm>
            <a:off x="4562856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F1</a:t>
            </a:r>
          </a:p>
        </p:txBody>
      </p:sp>
      <p:sp>
        <p:nvSpPr>
          <p:cNvPr id="17" name="Texto M05"/>
          <p:cNvSpPr txBox="1"/>
          <p:nvPr/>
        </p:nvSpPr>
        <p:spPr>
          <a:xfrm>
            <a:off x="5614416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EconoJournal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Anuncio · 12/09</a:t>
            </a:r>
          </a:p>
        </p:txBody>
      </p:sp>
      <p:sp>
        <p:nvSpPr>
          <p:cNvPr id="18" name="Tarjeta M06"/>
          <p:cNvSpPr/>
          <p:nvPr/>
        </p:nvSpPr>
        <p:spPr>
          <a:xfrm>
            <a:off x="8211312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M06"/>
          <p:cNvSpPr/>
          <p:nvPr/>
        </p:nvSpPr>
        <p:spPr>
          <a:xfrm>
            <a:off x="8394192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F2</a:t>
            </a:r>
          </a:p>
        </p:txBody>
      </p:sp>
      <p:sp>
        <p:nvSpPr>
          <p:cNvPr id="20" name="Texto M06"/>
          <p:cNvSpPr txBox="1"/>
          <p:nvPr/>
        </p:nvSpPr>
        <p:spPr>
          <a:xfrm>
            <a:off x="9445752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Anuncio · 16/09</a:t>
            </a:r>
          </a:p>
        </p:txBody>
      </p:sp>
      <p:sp>
        <p:nvSpPr>
          <p:cNvPr id="21" name="Tarjeta M07"/>
          <p:cNvSpPr/>
          <p:nvPr/>
        </p:nvSpPr>
        <p:spPr>
          <a:xfrm>
            <a:off x="548640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M07"/>
          <p:cNvSpPr/>
          <p:nvPr/>
        </p:nvSpPr>
        <p:spPr>
          <a:xfrm>
            <a:off x="731520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T1</a:t>
            </a:r>
          </a:p>
        </p:txBody>
      </p:sp>
      <p:sp>
        <p:nvSpPr>
          <p:cNvPr id="23" name="Texto M07"/>
          <p:cNvSpPr txBox="1"/>
          <p:nvPr/>
        </p:nvSpPr>
        <p:spPr>
          <a:xfrm>
            <a:off x="1783080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El Economista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Oldelval · 23/09</a:t>
            </a:r>
          </a:p>
        </p:txBody>
      </p:sp>
      <p:sp>
        <p:nvSpPr>
          <p:cNvPr id="24" name="Tarjeta M08"/>
          <p:cNvSpPr/>
          <p:nvPr/>
        </p:nvSpPr>
        <p:spPr>
          <a:xfrm>
            <a:off x="4379976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írculo M08"/>
          <p:cNvSpPr/>
          <p:nvPr/>
        </p:nvSpPr>
        <p:spPr>
          <a:xfrm>
            <a:off x="4562856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T2</a:t>
            </a:r>
          </a:p>
        </p:txBody>
      </p:sp>
      <p:sp>
        <p:nvSpPr>
          <p:cNvPr id="26" name="Texto M08"/>
          <p:cNvSpPr txBox="1"/>
          <p:nvPr/>
        </p:nvSpPr>
        <p:spPr>
          <a:xfrm>
            <a:off x="5614416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VMOS · 22/10/25</a:t>
            </a:r>
          </a:p>
        </p:txBody>
      </p:sp>
      <p:sp>
        <p:nvSpPr>
          <p:cNvPr id="27" name="Tarjeta M09"/>
          <p:cNvSpPr/>
          <p:nvPr/>
        </p:nvSpPr>
        <p:spPr>
          <a:xfrm>
            <a:off x="8211312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írculo M09"/>
          <p:cNvSpPr/>
          <p:nvPr/>
        </p:nvSpPr>
        <p:spPr>
          <a:xfrm>
            <a:off x="8394192" y="4983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T3</a:t>
            </a:r>
          </a:p>
        </p:txBody>
      </p:sp>
      <p:sp>
        <p:nvSpPr>
          <p:cNvPr id="29" name="Texto M09"/>
          <p:cNvSpPr txBox="1"/>
          <p:nvPr/>
        </p:nvSpPr>
        <p:spPr>
          <a:xfrm>
            <a:off x="9445752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Gas · 09/02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937760" y="1280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30′</a:t>
            </a: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Demo práctica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Lucía lleva la capacidad de transporte al Directorio</a:t>
            </a:r>
            <a:endParaRPr lang="en-US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0DF465-2C3D-917D-2DC1-23C5513A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2" y="0"/>
            <a:ext cx="38308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Siete puntos de control</a:t>
            </a:r>
            <a:endParaRPr lang="en-US" sz="3600" dirty="0"/>
          </a:p>
        </p:txBody>
      </p:sp>
      <p:sp>
        <p:nvSpPr>
          <p:cNvPr id="3" name="Tarjeta control 1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control 1"/>
          <p:cNvSpPr/>
          <p:nvPr/>
        </p:nvSpPr>
        <p:spPr>
          <a:xfrm>
            <a:off x="1440179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1</a:t>
            </a:r>
          </a:p>
        </p:txBody>
      </p:sp>
      <p:sp>
        <p:nvSpPr>
          <p:cNvPr id="5" name="Texto control 1"/>
          <p:cNvSpPr txBox="1"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Fecha y enlace</a:t>
            </a:r>
          </a:p>
        </p:txBody>
      </p:sp>
      <p:sp>
        <p:nvSpPr>
          <p:cNvPr id="6" name="Tarjeta control 2"/>
          <p:cNvSpPr/>
          <p:nvPr/>
        </p:nvSpPr>
        <p:spPr>
          <a:xfrm>
            <a:off x="3392424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control 2"/>
          <p:cNvSpPr/>
          <p:nvPr/>
        </p:nvSpPr>
        <p:spPr>
          <a:xfrm>
            <a:off x="4283964" y="1874519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2</a:t>
            </a:r>
          </a:p>
        </p:txBody>
      </p:sp>
      <p:sp>
        <p:nvSpPr>
          <p:cNvPr id="8" name="Texto control 2"/>
          <p:cNvSpPr txBox="1"/>
          <p:nvPr/>
        </p:nvSpPr>
        <p:spPr>
          <a:xfrm>
            <a:off x="3529584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Anuncio o norma</a:t>
            </a:r>
          </a:p>
        </p:txBody>
      </p:sp>
      <p:sp>
        <p:nvSpPr>
          <p:cNvPr id="9" name="Tarjeta control 3"/>
          <p:cNvSpPr/>
          <p:nvPr/>
        </p:nvSpPr>
        <p:spPr>
          <a:xfrm>
            <a:off x="6236207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control 3"/>
          <p:cNvSpPr/>
          <p:nvPr/>
        </p:nvSpPr>
        <p:spPr>
          <a:xfrm>
            <a:off x="7127747" y="1874519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3</a:t>
            </a:r>
          </a:p>
        </p:txBody>
      </p:sp>
      <p:sp>
        <p:nvSpPr>
          <p:cNvPr id="11" name="Texto control 3"/>
          <p:cNvSpPr txBox="1"/>
          <p:nvPr/>
        </p:nvSpPr>
        <p:spPr>
          <a:xfrm>
            <a:off x="6373368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Duplicar Norte</a:t>
            </a:r>
          </a:p>
        </p:txBody>
      </p:sp>
      <p:sp>
        <p:nvSpPr>
          <p:cNvPr id="12" name="Tarjeta control 4"/>
          <p:cNvSpPr/>
          <p:nvPr/>
        </p:nvSpPr>
        <p:spPr>
          <a:xfrm>
            <a:off x="9079992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control 4"/>
          <p:cNvSpPr/>
          <p:nvPr/>
        </p:nvSpPr>
        <p:spPr>
          <a:xfrm>
            <a:off x="9971532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4</a:t>
            </a:r>
          </a:p>
        </p:txBody>
      </p:sp>
      <p:sp>
        <p:nvSpPr>
          <p:cNvPr id="14" name="Texto control 4"/>
          <p:cNvSpPr txBox="1"/>
          <p:nvPr/>
        </p:nvSpPr>
        <p:spPr>
          <a:xfrm>
            <a:off x="9217152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VMOS</a:t>
            </a:r>
          </a:p>
        </p:txBody>
      </p:sp>
      <p:sp>
        <p:nvSpPr>
          <p:cNvPr id="15" name="Tarjeta control 5"/>
          <p:cNvSpPr/>
          <p:nvPr/>
        </p:nvSpPr>
        <p:spPr>
          <a:xfrm>
            <a:off x="1970532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control 5"/>
          <p:cNvSpPr/>
          <p:nvPr/>
        </p:nvSpPr>
        <p:spPr>
          <a:xfrm>
            <a:off x="2862072" y="41605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5</a:t>
            </a:r>
          </a:p>
        </p:txBody>
      </p:sp>
      <p:sp>
        <p:nvSpPr>
          <p:cNvPr id="17" name="Texto control 5"/>
          <p:cNvSpPr txBox="1"/>
          <p:nvPr/>
        </p:nvSpPr>
        <p:spPr>
          <a:xfrm>
            <a:off x="2107692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Gas</a:t>
            </a:r>
          </a:p>
        </p:txBody>
      </p:sp>
      <p:sp>
        <p:nvSpPr>
          <p:cNvPr id="18" name="Tarjeta control 6"/>
          <p:cNvSpPr/>
          <p:nvPr/>
        </p:nvSpPr>
        <p:spPr>
          <a:xfrm>
            <a:off x="4814316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control 6"/>
          <p:cNvSpPr/>
          <p:nvPr/>
        </p:nvSpPr>
        <p:spPr>
          <a:xfrm>
            <a:off x="5705856" y="41605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6</a:t>
            </a:r>
          </a:p>
        </p:txBody>
      </p:sp>
      <p:sp>
        <p:nvSpPr>
          <p:cNvPr id="20" name="Texto control 6"/>
          <p:cNvSpPr txBox="1"/>
          <p:nvPr/>
        </p:nvSpPr>
        <p:spPr>
          <a:xfrm>
            <a:off x="4951476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Diferencias</a:t>
            </a:r>
          </a:p>
        </p:txBody>
      </p:sp>
      <p:sp>
        <p:nvSpPr>
          <p:cNvPr id="21" name="Tarjeta control 7"/>
          <p:cNvSpPr/>
          <p:nvPr/>
        </p:nvSpPr>
        <p:spPr>
          <a:xfrm>
            <a:off x="7658100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control 7"/>
          <p:cNvSpPr/>
          <p:nvPr/>
        </p:nvSpPr>
        <p:spPr>
          <a:xfrm>
            <a:off x="8549640" y="4160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7</a:t>
            </a:r>
          </a:p>
        </p:txBody>
      </p:sp>
      <p:sp>
        <p:nvSpPr>
          <p:cNvPr id="23" name="Texto control 7"/>
          <p:cNvSpPr txBox="1"/>
          <p:nvPr/>
        </p:nvSpPr>
        <p:spPr>
          <a:xfrm>
            <a:off x="7795260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Alcance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Criterio de aceptación de la cadena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2924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612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Controles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Pasos 4, 6 y 9 cumplidos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2924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6125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Fuentes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Cifra con fecha y fuente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2924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612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Pendientes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Sin dato, a la vista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Preguntas para las conclusiones</a:t>
            </a:r>
            <a:endParaRPr lang="en-US" sz="360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27E71E0-C85F-0128-A192-BECA2959BAC5}"/>
              </a:ext>
            </a:extLst>
          </p:cNvPr>
          <p:cNvGrpSpPr/>
          <p:nvPr/>
        </p:nvGrpSpPr>
        <p:grpSpPr>
          <a:xfrm>
            <a:off x="548640" y="1645920"/>
            <a:ext cx="5440680" cy="2011680"/>
            <a:chOff x="548640" y="1645920"/>
            <a:chExt cx="5440680" cy="2011680"/>
          </a:xfrm>
        </p:grpSpPr>
        <p:sp>
          <p:nvSpPr>
            <p:cNvPr id="3" name="Tarjeta pregunta 1"/>
            <p:cNvSpPr/>
            <p:nvPr/>
          </p:nvSpPr>
          <p:spPr>
            <a:xfrm>
              <a:off x="548640" y="1645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Círculo pregunta 1"/>
            <p:cNvSpPr/>
            <p:nvPr/>
          </p:nvSpPr>
          <p:spPr>
            <a:xfrm>
              <a:off x="822959" y="2217420"/>
              <a:ext cx="868680" cy="8686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1</a:t>
              </a:r>
            </a:p>
          </p:txBody>
        </p:sp>
        <p:sp>
          <p:nvSpPr>
            <p:cNvPr id="5" name="Texto pregunta 1"/>
            <p:cNvSpPr txBox="1"/>
            <p:nvPr/>
          </p:nvSpPr>
          <p:spPr>
            <a:xfrm>
              <a:off x="1920240" y="1828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¿Qué presentaciones de su área se arman hoy copiando datos de varias fuentes y quién las revisa?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D59AEB0-1EA6-5AA3-4B9F-7C2894507C23}"/>
              </a:ext>
            </a:extLst>
          </p:cNvPr>
          <p:cNvGrpSpPr/>
          <p:nvPr/>
        </p:nvGrpSpPr>
        <p:grpSpPr>
          <a:xfrm>
            <a:off x="6199632" y="1645920"/>
            <a:ext cx="5440680" cy="2011680"/>
            <a:chOff x="6199632" y="1645920"/>
            <a:chExt cx="5440680" cy="2011680"/>
          </a:xfrm>
        </p:grpSpPr>
        <p:sp>
          <p:nvSpPr>
            <p:cNvPr id="6" name="Tarjeta pregunta 2"/>
            <p:cNvSpPr/>
            <p:nvPr/>
          </p:nvSpPr>
          <p:spPr>
            <a:xfrm>
              <a:off x="6199632" y="1645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Círculo pregunta 2"/>
            <p:cNvSpPr/>
            <p:nvPr/>
          </p:nvSpPr>
          <p:spPr>
            <a:xfrm>
              <a:off x="6473952" y="2217420"/>
              <a:ext cx="868680" cy="86868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2</a:t>
              </a:r>
            </a:p>
          </p:txBody>
        </p:sp>
        <p:sp>
          <p:nvSpPr>
            <p:cNvPr id="8" name="Texto pregunta 2"/>
            <p:cNvSpPr txBox="1"/>
            <p:nvPr/>
          </p:nvSpPr>
          <p:spPr>
            <a:xfrm>
              <a:off x="7571232" y="1828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¿En qué eslabón de la cadena un error les resultaría más costoso y por qué?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ED38A96-74C0-6962-FA56-D27BC2BB554A}"/>
              </a:ext>
            </a:extLst>
          </p:cNvPr>
          <p:cNvGrpSpPr/>
          <p:nvPr/>
        </p:nvGrpSpPr>
        <p:grpSpPr>
          <a:xfrm>
            <a:off x="548640" y="3931920"/>
            <a:ext cx="5440680" cy="2011680"/>
            <a:chOff x="548640" y="3931920"/>
            <a:chExt cx="5440680" cy="2011680"/>
          </a:xfrm>
        </p:grpSpPr>
        <p:sp>
          <p:nvSpPr>
            <p:cNvPr id="9" name="Tarjeta pregunta 3"/>
            <p:cNvSpPr/>
            <p:nvPr/>
          </p:nvSpPr>
          <p:spPr>
            <a:xfrm>
              <a:off x="548640" y="3931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Círculo pregunta 3"/>
            <p:cNvSpPr/>
            <p:nvPr/>
          </p:nvSpPr>
          <p:spPr>
            <a:xfrm>
              <a:off x="822959" y="4503420"/>
              <a:ext cx="868680" cy="868680"/>
            </a:xfrm>
            <a:prstGeom prst="ellipse">
              <a:avLst/>
            </a:prstGeom>
            <a:solidFill>
              <a:schemeClr val="accent3"/>
            </a:solidFill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3</a:t>
              </a:r>
            </a:p>
          </p:txBody>
        </p:sp>
        <p:sp>
          <p:nvSpPr>
            <p:cNvPr id="11" name="Texto pregunta 3"/>
            <p:cNvSpPr txBox="1"/>
            <p:nvPr/>
          </p:nvSpPr>
          <p:spPr>
            <a:xfrm>
              <a:off x="1920240" y="4114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¿Qué diferencia hay entre un anuncio y una norma vigente en una decisión de su área?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CE1B285-38DF-7445-953C-AF9D3A080AB2}"/>
              </a:ext>
            </a:extLst>
          </p:cNvPr>
          <p:cNvGrpSpPr/>
          <p:nvPr/>
        </p:nvGrpSpPr>
        <p:grpSpPr>
          <a:xfrm>
            <a:off x="6199632" y="3931920"/>
            <a:ext cx="5440680" cy="2011680"/>
            <a:chOff x="6199632" y="3931920"/>
            <a:chExt cx="5440680" cy="2011680"/>
          </a:xfrm>
        </p:grpSpPr>
        <p:sp>
          <p:nvSpPr>
            <p:cNvPr id="12" name="Tarjeta pregunta 4"/>
            <p:cNvSpPr/>
            <p:nvPr/>
          </p:nvSpPr>
          <p:spPr>
            <a:xfrm>
              <a:off x="6199632" y="3931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Círculo pregunta 4"/>
            <p:cNvSpPr/>
            <p:nvPr/>
          </p:nvSpPr>
          <p:spPr>
            <a:xfrm>
              <a:off x="6473952" y="4503420"/>
              <a:ext cx="868680" cy="86868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4</a:t>
              </a:r>
            </a:p>
          </p:txBody>
        </p:sp>
        <p:sp>
          <p:nvSpPr>
            <p:cNvPr id="14" name="Texto pregunta 4"/>
            <p:cNvSpPr txBox="1"/>
            <p:nvPr/>
          </p:nvSpPr>
          <p:spPr>
            <a:xfrm>
              <a:off x="7571232" y="4114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¿Quién debería aprobar un documento como este antes de que llegue al Directorio?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F321DC0-601B-98D7-563C-8C85A507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Velo de contraste">
            <a:extLst>
              <a:ext uri="{FF2B5EF4-FFF2-40B4-BE49-F238E27FC236}">
                <a16:creationId xmlns:a16="http://schemas.microsoft.com/office/drawing/2014/main" id="{7D36760C-49DA-D99C-6B0D-154D91384BE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C8DE7C-B3FF-BE63-267A-5134E9DA8BE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¿Preguntas?</a:t>
            </a:r>
            <a:endParaRPr lang="en-US" sz="7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29795B-EC30-1657-459C-F42E920C3BF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Las ideas y dudas de ustedes enriquecen el caso</a:t>
            </a:r>
            <a:endParaRPr lang="en-US" sz="2600" dirty="0"/>
          </a:p>
        </p:txBody>
      </p:sp>
      <p:sp>
        <p:nvSpPr>
          <p:cNvPr id="20" name="Pie de página IA">
            <a:extLst>
              <a:ext uri="{FF2B5EF4-FFF2-40B4-BE49-F238E27FC236}">
                <a16:creationId xmlns:a16="http://schemas.microsoft.com/office/drawing/2014/main" id="{899B7EA3-4C0F-B283-1EF8-5EF938086AD4}"/>
              </a:ext>
            </a:extLst>
          </p:cNvPr>
          <p:cNvSpPr txBox="1"/>
          <p:nvPr/>
        </p:nvSpPr>
        <p:spPr>
          <a:xfrm>
            <a:off x="731520" y="645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bg1"/>
                </a:solidFill>
              </a:rPr>
              <a:t>Esta presentación ha sido generada con la asistencia de inteligencia artificial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0B4F2E-0498-887E-6B95-BDF1590B6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25" b="6653"/>
          <a:stretch>
            <a:fillRect/>
          </a:stretch>
        </p:blipFill>
        <p:spPr>
          <a:xfrm>
            <a:off x="9796856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orkshop IA - Plantilla Base [1791645834479]">
  <a:themeElements>
    <a:clrScheme name="Workshop IA - Plantilla Base">
      <a:dk1>
        <a:srgbClr val="222B33"/>
      </a:dk1>
      <a:lt1>
        <a:srgbClr val="FFFFFF"/>
      </a:lt1>
      <a:dk2>
        <a:srgbClr val="1A2B4C"/>
      </a:dk2>
      <a:lt2>
        <a:srgbClr val="F1F3F5"/>
      </a:lt2>
      <a:accent1>
        <a:srgbClr val="2E8B7A"/>
      </a:accent1>
      <a:accent2>
        <a:srgbClr val="C8693A"/>
      </a:accent2>
      <a:accent3>
        <a:srgbClr val="5B7FA6"/>
      </a:accent3>
      <a:accent4>
        <a:srgbClr val="E2B04A"/>
      </a:accent4>
      <a:accent5>
        <a:srgbClr val="56606B"/>
      </a:accent5>
      <a:accent6>
        <a:srgbClr val="8A97A3"/>
      </a:accent6>
      <a:hlink>
        <a:srgbClr val="2E8B7A"/>
      </a:hlink>
      <a:folHlink>
        <a:srgbClr val="56606B"/>
      </a:folHlink>
    </a:clrScheme>
    <a:fontScheme name="Workshop IA - Plantilla B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0566AA-4711-4F67-99F4-88E44307B1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a29918e-7b47-4d9d-b769-bdbced0815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372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Workshop IA - Plantilla Base [1791645834479]</vt:lpstr>
      <vt:lpstr>Presentación al Directorio</vt:lpstr>
      <vt:lpstr>El desafío de Lucía</vt:lpstr>
      <vt:lpstr>El desafío: de la investigación a la presentación</vt:lpstr>
      <vt:lpstr>Herramientas</vt:lpstr>
      <vt:lpstr>Archivos complementarios</vt:lpstr>
      <vt:lpstr>Demo práctica</vt:lpstr>
      <vt:lpstr>Siete puntos de control</vt:lpstr>
      <vt:lpstr>Criterio de aceptación de la cadena</vt:lpstr>
      <vt:lpstr>Preguntas para las conclusiones</vt:lpstr>
      <vt:lpstr>¿Preguntas?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apoyo: Presentación al Directorio (borrador v0.1)</dc:title>
  <dc:subject>PptxGenJS Presentation</dc:subject>
  <dc:creator>IA para Todos</dc:creator>
  <cp:lastModifiedBy>Oscar Gerometta</cp:lastModifiedBy>
  <cp:revision>14</cp:revision>
  <dcterms:created xsi:type="dcterms:W3CDTF">2026-10-10T15:11:13Z</dcterms:created>
  <dcterms:modified xsi:type="dcterms:W3CDTF">2026-10-14T01:26:52Z</dcterms:modified>
</cp:coreProperties>
</file>