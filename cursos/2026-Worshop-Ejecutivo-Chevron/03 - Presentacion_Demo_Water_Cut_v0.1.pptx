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3"/>
  </p:notesMasterIdLst>
  <p:sldIdLst>
    <p:sldId id="273" r:id="rId2"/>
    <p:sldId id="282" r:id="rId3"/>
    <p:sldId id="283" r:id="rId4"/>
    <p:sldId id="284" r:id="rId5"/>
    <p:sldId id="275" r:id="rId6"/>
    <p:sldId id="276" r:id="rId7"/>
    <p:sldId id="277" r:id="rId8"/>
    <p:sldId id="278" r:id="rId9"/>
    <p:sldId id="279" r:id="rId10"/>
    <p:sldId id="280" r:id="rId11"/>
    <p:sldId id="28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4" dt="2026-10-13T23:18:00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8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34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016C65-BA26-90EE-10E1-194CB27C7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DOR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937760" y="265176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937760" y="45720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Pie de página IA"/>
          <p:cNvSpPr/>
          <p:nvPr/>
        </p:nvSpPr>
        <p:spPr>
          <a:xfrm>
            <a:off x="493776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6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Pie de página IA"/>
          <p:cNvSpPr/>
          <p:nvPr/>
        </p:nvSpPr>
        <p:spPr>
          <a:xfrm>
            <a:off x="548640" y="649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accent5"/>
                </a:solidFill>
              </a:rPr>
              <a:t>Esta presentación ha sido generada con la asistencia de inteligencia artificial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bg>
      <p:bgPr>
        <a:solidFill>
          <a:srgbClr val="0E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dirty="0">
                <a:solidFill>
                  <a:schemeClr val="accent4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lo de contrast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00"/>
                </a:solidFill>
              </a:rPr>
              <a:t>WORKSHOP · IA EN LA GESTIÓN ADMINISTRATIVA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Water Cut</a:t>
            </a:r>
            <a:endParaRPr lang="en-US" sz="56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</a:rPr>
              <a:t>Caso 3 · Demo práctica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5FFB33C-2422-A1E0-7E7F-2D1FB5E96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5" b="6653"/>
          <a:stretch>
            <a:fillRect/>
          </a:stretch>
        </p:blipFill>
        <p:spPr>
          <a:xfrm>
            <a:off x="9796551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desafío de Paula</a:t>
            </a:r>
            <a:endParaRPr lang="en-US" sz="3600" dirty="0"/>
          </a:p>
        </p:txBody>
      </p:sp>
      <p:sp>
        <p:nvSpPr>
          <p:cNvPr id="3" name="Tarjeta desafío 1"/>
          <p:cNvSpPr/>
          <p:nvPr/>
        </p:nvSpPr>
        <p:spPr>
          <a:xfrm>
            <a:off x="548640" y="155448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desafío 1"/>
          <p:cNvSpPr/>
          <p:nvPr/>
        </p:nvSpPr>
        <p:spPr>
          <a:xfrm>
            <a:off x="777240" y="169163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11480" cy="411480"/>
          </a:xfrm>
          <a:prstGeom prst="rect">
            <a:avLst/>
          </a:prstGeom>
        </p:spPr>
      </p:pic>
      <p:sp>
        <p:nvSpPr>
          <p:cNvPr id="6" name="Texto desafío 1"/>
          <p:cNvSpPr txBox="1"/>
          <p:nvPr/>
        </p:nvSpPr>
        <p:spPr>
          <a:xfrm>
            <a:off x="1828800" y="1645920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Paula Benítez, de Planeamiento y Control de Gestión, debe llevar a Lucía una lectura del corte de agua de Vaca Muerta y de qué esperar en 2027.</a:t>
            </a:r>
          </a:p>
        </p:txBody>
      </p:sp>
      <p:sp>
        <p:nvSpPr>
          <p:cNvPr id="7" name="Tarjeta desafío 2"/>
          <p:cNvSpPr/>
          <p:nvPr/>
        </p:nvSpPr>
        <p:spPr>
          <a:xfrm>
            <a:off x="548640" y="274320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írculo desafío 2"/>
          <p:cNvSpPr/>
          <p:nvPr/>
        </p:nvSpPr>
        <p:spPr>
          <a:xfrm>
            <a:off x="777240" y="2880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63240"/>
            <a:ext cx="411480" cy="411480"/>
          </a:xfrm>
          <a:prstGeom prst="rect">
            <a:avLst/>
          </a:prstGeom>
        </p:spPr>
      </p:pic>
      <p:sp>
        <p:nvSpPr>
          <p:cNvPr id="10" name="Texto desafío 2"/>
          <p:cNvSpPr txBox="1"/>
          <p:nvPr/>
        </p:nvSpPr>
        <p:spPr>
          <a:xfrm>
            <a:off x="1828800" y="2834640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Hoy revisa a mano los datos de producción de los pozos, sin análisis de evolución ni proyección.</a:t>
            </a:r>
          </a:p>
        </p:txBody>
      </p:sp>
      <p:sp>
        <p:nvSpPr>
          <p:cNvPr id="11" name="Tarjeta desafío 3"/>
          <p:cNvSpPr/>
          <p:nvPr/>
        </p:nvSpPr>
        <p:spPr>
          <a:xfrm>
            <a:off x="548640" y="393192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írculo desafío 3"/>
          <p:cNvSpPr/>
          <p:nvPr/>
        </p:nvSpPr>
        <p:spPr>
          <a:xfrm>
            <a:off x="777240" y="40690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59"/>
            <a:ext cx="411480" cy="411480"/>
          </a:xfrm>
          <a:prstGeom prst="rect">
            <a:avLst/>
          </a:prstGeom>
        </p:spPr>
      </p:pic>
      <p:sp>
        <p:nvSpPr>
          <p:cNvPr id="14" name="Texto desafío 3"/>
          <p:cNvSpPr txBox="1"/>
          <p:nvPr/>
        </p:nvSpPr>
        <p:spPr>
          <a:xfrm>
            <a:off x="1828800" y="4023359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La demo usa datos públicos reales de la Secretaría de Energía, hasta agosto de 2026, no datos de pozos de Auren.</a:t>
            </a:r>
          </a:p>
        </p:txBody>
      </p:sp>
      <p:sp>
        <p:nvSpPr>
          <p:cNvPr id="15" name="Tarjeta desafío 4"/>
          <p:cNvSpPr/>
          <p:nvPr/>
        </p:nvSpPr>
        <p:spPr>
          <a:xfrm>
            <a:off x="548640" y="5120640"/>
            <a:ext cx="1109167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desafío 4"/>
          <p:cNvSpPr/>
          <p:nvPr/>
        </p:nvSpPr>
        <p:spPr>
          <a:xfrm>
            <a:off x="777240" y="52578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440679"/>
            <a:ext cx="411480" cy="411480"/>
          </a:xfrm>
          <a:prstGeom prst="rect">
            <a:avLst/>
          </a:prstGeom>
        </p:spPr>
      </p:pic>
      <p:sp>
        <p:nvSpPr>
          <p:cNvPr id="18" name="Texto desafío 4"/>
          <p:cNvSpPr txBox="1"/>
          <p:nvPr/>
        </p:nvSpPr>
        <p:spPr>
          <a:xfrm>
            <a:off x="1828800" y="5212079"/>
            <a:ext cx="953719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>
                <a:solidFill>
                  <a:schemeClr val="tx2"/>
                </a:solidFill>
              </a:rPr>
              <a:t>Con Copilot puede calcular y proyectar en lenguaje natural, pero debe explicar el método, los supuestos y cuánto error tiene.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AB677-DAF7-CE89-A791-1021A15A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" y="0"/>
            <a:ext cx="10287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C6C5FC-9BEA-DDCF-7608-24A015434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203" y="2549525"/>
            <a:ext cx="1575435" cy="155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4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FF4C-61F6-4C83-3837-75A851E06CD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 wrap="square" lIns="91440" tIns="45720" rIns="91440" bIns="45720" rtlCol="0" anchor="t"/>
          <a:lstStyle/>
          <a:p>
            <a:r>
              <a:rPr lang="en-US">
                <a:ea typeface="Calibri"/>
                <a:cs typeface="Calibri"/>
              </a:rPr>
              <a:t>Integra capacidades de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B22AD-4738-5C15-F448-0B366065B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48" y="3046095"/>
            <a:ext cx="2181225" cy="1009650"/>
          </a:xfrm>
          <a:prstGeom prst="rect">
            <a:avLst/>
          </a:prstGeom>
        </p:spPr>
      </p:pic>
      <p:pic>
        <p:nvPicPr>
          <p:cNvPr id="4" name="Picture 3" descr="Python - Wikilibros">
            <a:extLst>
              <a:ext uri="{FF2B5EF4-FFF2-40B4-BE49-F238E27FC236}">
                <a16:creationId xmlns:a16="http://schemas.microsoft.com/office/drawing/2014/main" id="{D7EBA140-DD87-5072-4DCE-E7924CCD1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468" y="3046095"/>
            <a:ext cx="1591945" cy="1009650"/>
          </a:xfrm>
          <a:prstGeom prst="rect">
            <a:avLst/>
          </a:prstGeom>
        </p:spPr>
      </p:pic>
      <p:pic>
        <p:nvPicPr>
          <p:cNvPr id="5" name="Picture 4" descr="Matplotlib Tutorial - Tpoint Tech">
            <a:extLst>
              <a:ext uri="{FF2B5EF4-FFF2-40B4-BE49-F238E27FC236}">
                <a16:creationId xmlns:a16="http://schemas.microsoft.com/office/drawing/2014/main" id="{DC1BCECA-CADA-CAB5-F924-E3DB60F7B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380" y="2476500"/>
            <a:ext cx="1905000" cy="1905000"/>
          </a:xfrm>
          <a:prstGeom prst="rect">
            <a:avLst/>
          </a:prstGeom>
        </p:spPr>
      </p:pic>
      <p:pic>
        <p:nvPicPr>
          <p:cNvPr id="6" name="Picture 5" descr="What is Machine Learning Course| Its Importance and Types-FORE">
            <a:extLst>
              <a:ext uri="{FF2B5EF4-FFF2-40B4-BE49-F238E27FC236}">
                <a16:creationId xmlns:a16="http://schemas.microsoft.com/office/drawing/2014/main" id="{B3408698-0480-7354-D087-77707F62D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360" y="1889760"/>
            <a:ext cx="3261360" cy="3312160"/>
          </a:xfrm>
          <a:prstGeom prst="rect">
            <a:avLst/>
          </a:prstGeom>
        </p:spPr>
      </p:pic>
      <p:pic>
        <p:nvPicPr>
          <p:cNvPr id="7" name="Picture 6" descr="Descubre el poder de la librería Pandas para el análisis de datos en Python  - CoDigital">
            <a:extLst>
              <a:ext uri="{FF2B5EF4-FFF2-40B4-BE49-F238E27FC236}">
                <a16:creationId xmlns:a16="http://schemas.microsoft.com/office/drawing/2014/main" id="{399BD088-615F-DA62-7C85-97BF3B8D76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1040" y="4621530"/>
            <a:ext cx="2743200" cy="1577340"/>
          </a:xfrm>
          <a:prstGeom prst="rect">
            <a:avLst/>
          </a:prstGeom>
        </p:spPr>
      </p:pic>
      <p:pic>
        <p:nvPicPr>
          <p:cNvPr id="9" name="Picture 8" descr="Archivo:NumPy logo 2020.svg - Wikipedia, la enciclopedia libre">
            <a:extLst>
              <a:ext uri="{FF2B5EF4-FFF2-40B4-BE49-F238E27FC236}">
                <a16:creationId xmlns:a16="http://schemas.microsoft.com/office/drawing/2014/main" id="{B416E43E-1F0A-C69F-7723-05B3C5ADF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880" y="522605"/>
            <a:ext cx="2326640" cy="13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3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Herramientas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0116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331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Copilot en Excel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Cálculo y gráficos con fórmulas visibles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0116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3317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Analista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Proyección y prueba retrospectiva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645920"/>
            <a:ext cx="3429000" cy="3749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0116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3317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Word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3891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Resumen ejecutivo en borrador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Archivos complementarios</a:t>
            </a:r>
            <a:endParaRPr lang="en-US" sz="3600" dirty="0"/>
          </a:p>
        </p:txBody>
      </p:sp>
      <p:sp>
        <p:nvSpPr>
          <p:cNvPr id="3" name="Tarjeta M01"/>
          <p:cNvSpPr/>
          <p:nvPr/>
        </p:nvSpPr>
        <p:spPr>
          <a:xfrm>
            <a:off x="548640" y="1554480"/>
            <a:ext cx="110947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M01"/>
          <p:cNvSpPr/>
          <p:nvPr/>
        </p:nvSpPr>
        <p:spPr>
          <a:xfrm>
            <a:off x="777240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WC01</a:t>
            </a:r>
          </a:p>
        </p:txBody>
      </p:sp>
      <p:sp>
        <p:nvSpPr>
          <p:cNvPr id="5" name="Texto M01"/>
          <p:cNvSpPr txBox="1"/>
          <p:nvPr/>
        </p:nvSpPr>
        <p:spPr>
          <a:xfrm>
            <a:off x="1920240" y="1691640"/>
            <a:ext cx="94945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Datos de producción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154.322 filas · Secretaría de Energía</a:t>
            </a:r>
          </a:p>
        </p:txBody>
      </p:sp>
      <p:sp>
        <p:nvSpPr>
          <p:cNvPr id="6" name="Tarjeta M02"/>
          <p:cNvSpPr/>
          <p:nvPr/>
        </p:nvSpPr>
        <p:spPr>
          <a:xfrm>
            <a:off x="548640" y="3108960"/>
            <a:ext cx="110947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M02"/>
          <p:cNvSpPr/>
          <p:nvPr/>
        </p:nvSpPr>
        <p:spPr>
          <a:xfrm>
            <a:off x="777240" y="333756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WC02</a:t>
            </a:r>
          </a:p>
        </p:txBody>
      </p:sp>
      <p:sp>
        <p:nvSpPr>
          <p:cNvPr id="8" name="Texto M02"/>
          <p:cNvSpPr txBox="1"/>
          <p:nvPr/>
        </p:nvSpPr>
        <p:spPr>
          <a:xfrm>
            <a:off x="1920240" y="3246120"/>
            <a:ext cx="94945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Nota del conjunto de datos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Fuente, unidades y limitaciones</a:t>
            </a:r>
          </a:p>
        </p:txBody>
      </p:sp>
      <p:sp>
        <p:nvSpPr>
          <p:cNvPr id="9" name="Tarjeta M03"/>
          <p:cNvSpPr/>
          <p:nvPr/>
        </p:nvSpPr>
        <p:spPr>
          <a:xfrm>
            <a:off x="548640" y="4663440"/>
            <a:ext cx="110947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M03"/>
          <p:cNvSpPr/>
          <p:nvPr/>
        </p:nvSpPr>
        <p:spPr>
          <a:xfrm>
            <a:off x="777240" y="48920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WC03</a:t>
            </a:r>
          </a:p>
        </p:txBody>
      </p:sp>
      <p:sp>
        <p:nvSpPr>
          <p:cNvPr id="11" name="Texto M03"/>
          <p:cNvSpPr txBox="1"/>
          <p:nvPr/>
        </p:nvSpPr>
        <p:spPr>
          <a:xfrm>
            <a:off x="1920240" y="4800600"/>
            <a:ext cx="94945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Serie mensual de referencia</a:t>
            </a:r>
          </a:p>
          <a:p>
            <a:pPr algn="l"/>
            <a:r>
              <a:rPr sz="1800" b="0">
                <a:solidFill>
                  <a:schemeClr val="accent5"/>
                </a:solidFill>
              </a:rPr>
              <a:t>92 meses · enero de 2019 a agosto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937760" y="1280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30′</a:t>
            </a:r>
            <a:endParaRPr lang="en-US" sz="8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Demo práctica</a:t>
            </a:r>
            <a:endParaRPr lang="en-US" sz="4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Paula analiza el corte de agua de Vaca Muerta</a:t>
            </a:r>
            <a:endParaRPr lang="en-US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0DF465-2C3D-917D-2DC1-23C5513A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2" y="0"/>
            <a:ext cx="383083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Siete puntos de control</a:t>
            </a:r>
            <a:endParaRPr lang="en-US" sz="3600" dirty="0"/>
          </a:p>
        </p:txBody>
      </p:sp>
      <p:sp>
        <p:nvSpPr>
          <p:cNvPr id="3" name="Tarjeta control 1"/>
          <p:cNvSpPr/>
          <p:nvPr/>
        </p:nvSpPr>
        <p:spPr>
          <a:xfrm>
            <a:off x="548640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írculo control 1"/>
          <p:cNvSpPr/>
          <p:nvPr/>
        </p:nvSpPr>
        <p:spPr>
          <a:xfrm>
            <a:off x="1440179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1</a:t>
            </a:r>
          </a:p>
        </p:txBody>
      </p:sp>
      <p:sp>
        <p:nvSpPr>
          <p:cNvPr id="5" name="Texto control 1"/>
          <p:cNvSpPr txBox="1"/>
          <p:nvPr/>
        </p:nvSpPr>
        <p:spPr>
          <a:xfrm>
            <a:off x="685800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Período y filas</a:t>
            </a:r>
          </a:p>
        </p:txBody>
      </p:sp>
      <p:sp>
        <p:nvSpPr>
          <p:cNvPr id="6" name="Tarjeta control 2"/>
          <p:cNvSpPr/>
          <p:nvPr/>
        </p:nvSpPr>
        <p:spPr>
          <a:xfrm>
            <a:off x="3392424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írculo control 2"/>
          <p:cNvSpPr/>
          <p:nvPr/>
        </p:nvSpPr>
        <p:spPr>
          <a:xfrm>
            <a:off x="4283964" y="1874519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2</a:t>
            </a:r>
          </a:p>
        </p:txBody>
      </p:sp>
      <p:sp>
        <p:nvSpPr>
          <p:cNvPr id="8" name="Texto control 2"/>
          <p:cNvSpPr txBox="1"/>
          <p:nvPr/>
        </p:nvSpPr>
        <p:spPr>
          <a:xfrm>
            <a:off x="3529584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Método de cálculo</a:t>
            </a:r>
          </a:p>
        </p:txBody>
      </p:sp>
      <p:sp>
        <p:nvSpPr>
          <p:cNvPr id="9" name="Tarjeta control 3"/>
          <p:cNvSpPr/>
          <p:nvPr/>
        </p:nvSpPr>
        <p:spPr>
          <a:xfrm>
            <a:off x="6236207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írculo control 3"/>
          <p:cNvSpPr/>
          <p:nvPr/>
        </p:nvSpPr>
        <p:spPr>
          <a:xfrm>
            <a:off x="7127747" y="1874519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3</a:t>
            </a:r>
          </a:p>
        </p:txBody>
      </p:sp>
      <p:sp>
        <p:nvSpPr>
          <p:cNvPr id="11" name="Texto control 3"/>
          <p:cNvSpPr txBox="1"/>
          <p:nvPr/>
        </p:nvSpPr>
        <p:spPr>
          <a:xfrm>
            <a:off x="6373368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Unidades</a:t>
            </a:r>
          </a:p>
        </p:txBody>
      </p:sp>
      <p:sp>
        <p:nvSpPr>
          <p:cNvPr id="12" name="Tarjeta control 4"/>
          <p:cNvSpPr/>
          <p:nvPr/>
        </p:nvSpPr>
        <p:spPr>
          <a:xfrm>
            <a:off x="9079992" y="1645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írculo control 4"/>
          <p:cNvSpPr/>
          <p:nvPr/>
        </p:nvSpPr>
        <p:spPr>
          <a:xfrm>
            <a:off x="9971532" y="1874519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4</a:t>
            </a:r>
          </a:p>
        </p:txBody>
      </p:sp>
      <p:sp>
        <p:nvSpPr>
          <p:cNvPr id="14" name="Texto control 4"/>
          <p:cNvSpPr txBox="1"/>
          <p:nvPr/>
        </p:nvSpPr>
        <p:spPr>
          <a:xfrm>
            <a:off x="9217152" y="2788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Pozos informados</a:t>
            </a:r>
          </a:p>
        </p:txBody>
      </p:sp>
      <p:sp>
        <p:nvSpPr>
          <p:cNvPr id="15" name="Tarjeta control 5"/>
          <p:cNvSpPr/>
          <p:nvPr/>
        </p:nvSpPr>
        <p:spPr>
          <a:xfrm>
            <a:off x="1970532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írculo control 5"/>
          <p:cNvSpPr/>
          <p:nvPr/>
        </p:nvSpPr>
        <p:spPr>
          <a:xfrm>
            <a:off x="2862072" y="41605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5</a:t>
            </a:r>
          </a:p>
        </p:txBody>
      </p:sp>
      <p:sp>
        <p:nvSpPr>
          <p:cNvPr id="17" name="Texto control 5"/>
          <p:cNvSpPr txBox="1"/>
          <p:nvPr/>
        </p:nvSpPr>
        <p:spPr>
          <a:xfrm>
            <a:off x="2107692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Valores clave</a:t>
            </a:r>
          </a:p>
        </p:txBody>
      </p:sp>
      <p:sp>
        <p:nvSpPr>
          <p:cNvPr id="18" name="Tarjeta control 6"/>
          <p:cNvSpPr/>
          <p:nvPr/>
        </p:nvSpPr>
        <p:spPr>
          <a:xfrm>
            <a:off x="4814316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írculo control 6"/>
          <p:cNvSpPr/>
          <p:nvPr/>
        </p:nvSpPr>
        <p:spPr>
          <a:xfrm>
            <a:off x="5705856" y="41605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6</a:t>
            </a:r>
          </a:p>
        </p:txBody>
      </p:sp>
      <p:sp>
        <p:nvSpPr>
          <p:cNvPr id="20" name="Texto control 6"/>
          <p:cNvSpPr txBox="1"/>
          <p:nvPr/>
        </p:nvSpPr>
        <p:spPr>
          <a:xfrm>
            <a:off x="4951476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Mes atípico</a:t>
            </a:r>
          </a:p>
        </p:txBody>
      </p:sp>
      <p:sp>
        <p:nvSpPr>
          <p:cNvPr id="21" name="Tarjeta control 7"/>
          <p:cNvSpPr/>
          <p:nvPr/>
        </p:nvSpPr>
        <p:spPr>
          <a:xfrm>
            <a:off x="7658100" y="393192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írculo control 7"/>
          <p:cNvSpPr/>
          <p:nvPr/>
        </p:nvSpPr>
        <p:spPr>
          <a:xfrm>
            <a:off x="8549640" y="41605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7</a:t>
            </a:r>
          </a:p>
        </p:txBody>
      </p:sp>
      <p:sp>
        <p:nvSpPr>
          <p:cNvPr id="23" name="Texto control 7"/>
          <p:cNvSpPr txBox="1"/>
          <p:nvPr/>
        </p:nvSpPr>
        <p:spPr>
          <a:xfrm>
            <a:off x="7795260" y="507492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chemeClr val="tx2"/>
                </a:solidFill>
                <a:latin typeface="+mj-lt"/>
                <a:ea typeface="+mj-lt"/>
                <a:cs typeface="+mj-lt"/>
              </a:rPr>
              <a:t>Seguimiento y alcance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Criterio de aceptación del análisis</a:t>
            </a:r>
            <a:endParaRPr lang="en-US" sz="3600" dirty="0"/>
          </a:p>
        </p:txBody>
      </p:sp>
      <p:sp>
        <p:nvSpPr>
          <p:cNvPr id="3" name="Tarjeta Fuentes"/>
          <p:cNvSpPr/>
          <p:nvPr/>
        </p:nvSpPr>
        <p:spPr>
          <a:xfrm>
            <a:off x="54864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Círculo Fuentes"/>
          <p:cNvSpPr/>
          <p:nvPr/>
        </p:nvSpPr>
        <p:spPr>
          <a:xfrm>
            <a:off x="1623060" y="229248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5" name="Icono" descr="Ico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612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Siete controles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Todos cumplidos</a:t>
            </a:r>
            <a:endParaRPr lang="en-US" sz="2000" dirty="0"/>
          </a:p>
        </p:txBody>
      </p:sp>
      <p:sp>
        <p:nvSpPr>
          <p:cNvPr id="8" name="Tarjeta Control"/>
          <p:cNvSpPr/>
          <p:nvPr/>
        </p:nvSpPr>
        <p:spPr>
          <a:xfrm>
            <a:off x="434340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Círculo Control"/>
          <p:cNvSpPr/>
          <p:nvPr/>
        </p:nvSpPr>
        <p:spPr>
          <a:xfrm>
            <a:off x="5417820" y="22924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0" name="Icono" descr="Ico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6125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Proyección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Coincide con la tabla de control</a:t>
            </a:r>
            <a:endParaRPr lang="en-US" sz="2000" dirty="0"/>
          </a:p>
        </p:txBody>
      </p:sp>
      <p:sp>
        <p:nvSpPr>
          <p:cNvPr id="13" name="Tarjeta Personas"/>
          <p:cNvSpPr/>
          <p:nvPr/>
        </p:nvSpPr>
        <p:spPr>
          <a:xfrm>
            <a:off x="8138160" y="1926720"/>
            <a:ext cx="3429000" cy="4286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Círculo Personas"/>
          <p:cNvSpPr/>
          <p:nvPr/>
        </p:nvSpPr>
        <p:spPr>
          <a:xfrm>
            <a:off x="9212580" y="2292480"/>
            <a:ext cx="1280160" cy="1280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5" name="Icono" descr="Ico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6125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938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Resumen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4669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5"/>
                </a:solidFill>
              </a:rPr>
              <a:t>Con supuestos, error y mes atípico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Preguntas para las conclusiones</a:t>
            </a:r>
            <a:endParaRPr lang="en-US" sz="3600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27E71E0-C85F-0128-A192-BECA2959BAC5}"/>
              </a:ext>
            </a:extLst>
          </p:cNvPr>
          <p:cNvGrpSpPr/>
          <p:nvPr/>
        </p:nvGrpSpPr>
        <p:grpSpPr>
          <a:xfrm>
            <a:off x="548640" y="1645920"/>
            <a:ext cx="5440680" cy="2011680"/>
            <a:chOff x="548640" y="1645920"/>
            <a:chExt cx="5440680" cy="2011680"/>
          </a:xfrm>
        </p:grpSpPr>
        <p:sp>
          <p:nvSpPr>
            <p:cNvPr id="3" name="Tarjeta pregunta 1"/>
            <p:cNvSpPr/>
            <p:nvPr/>
          </p:nvSpPr>
          <p:spPr>
            <a:xfrm>
              <a:off x="548640" y="1645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Círculo pregunta 1"/>
            <p:cNvSpPr/>
            <p:nvPr/>
          </p:nvSpPr>
          <p:spPr>
            <a:xfrm>
              <a:off x="822959" y="2217420"/>
              <a:ext cx="868680" cy="8686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1</a:t>
              </a:r>
            </a:p>
          </p:txBody>
        </p:sp>
        <p:sp>
          <p:nvSpPr>
            <p:cNvPr id="5" name="Texto pregunta 1"/>
            <p:cNvSpPr txBox="1"/>
            <p:nvPr/>
          </p:nvSpPr>
          <p:spPr>
            <a:xfrm>
              <a:off x="1920240" y="1828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¿Qué indicadores de producción, costos o desempeño se calculan hoy en su área a mano o en planillas?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D59AEB0-1EA6-5AA3-4B9F-7C2894507C23}"/>
              </a:ext>
            </a:extLst>
          </p:cNvPr>
          <p:cNvGrpSpPr/>
          <p:nvPr/>
        </p:nvGrpSpPr>
        <p:grpSpPr>
          <a:xfrm>
            <a:off x="6199632" y="1645920"/>
            <a:ext cx="5440680" cy="2011680"/>
            <a:chOff x="6199632" y="1645920"/>
            <a:chExt cx="5440680" cy="2011680"/>
          </a:xfrm>
        </p:grpSpPr>
        <p:sp>
          <p:nvSpPr>
            <p:cNvPr id="6" name="Tarjeta pregunta 2"/>
            <p:cNvSpPr/>
            <p:nvPr/>
          </p:nvSpPr>
          <p:spPr>
            <a:xfrm>
              <a:off x="6199632" y="1645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Círculo pregunta 2"/>
            <p:cNvSpPr/>
            <p:nvPr/>
          </p:nvSpPr>
          <p:spPr>
            <a:xfrm>
              <a:off x="6473952" y="2217420"/>
              <a:ext cx="868680" cy="86868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2</a:t>
              </a:r>
            </a:p>
          </p:txBody>
        </p:sp>
        <p:sp>
          <p:nvSpPr>
            <p:cNvPr id="8" name="Texto pregunta 2"/>
            <p:cNvSpPr txBox="1"/>
            <p:nvPr/>
          </p:nvSpPr>
          <p:spPr>
            <a:xfrm>
              <a:off x="7571232" y="1828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¿Qué diferencia hay entre promediar cada pozo y calcular sobre los totales? ¿Cuál usarían para decidir?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ED38A96-74C0-6962-FA56-D27BC2BB554A}"/>
              </a:ext>
            </a:extLst>
          </p:cNvPr>
          <p:cNvGrpSpPr/>
          <p:nvPr/>
        </p:nvGrpSpPr>
        <p:grpSpPr>
          <a:xfrm>
            <a:off x="548640" y="3931920"/>
            <a:ext cx="5440680" cy="2011680"/>
            <a:chOff x="548640" y="3931920"/>
            <a:chExt cx="5440680" cy="2011680"/>
          </a:xfrm>
        </p:grpSpPr>
        <p:sp>
          <p:nvSpPr>
            <p:cNvPr id="9" name="Tarjeta pregunta 3"/>
            <p:cNvSpPr/>
            <p:nvPr/>
          </p:nvSpPr>
          <p:spPr>
            <a:xfrm>
              <a:off x="548640" y="3931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Círculo pregunta 3"/>
            <p:cNvSpPr/>
            <p:nvPr/>
          </p:nvSpPr>
          <p:spPr>
            <a:xfrm>
              <a:off x="822959" y="4503420"/>
              <a:ext cx="868680" cy="868680"/>
            </a:xfrm>
            <a:prstGeom prst="ellipse">
              <a:avLst/>
            </a:prstGeom>
            <a:solidFill>
              <a:schemeClr val="accent3"/>
            </a:solidFill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3</a:t>
              </a:r>
            </a:p>
          </p:txBody>
        </p:sp>
        <p:sp>
          <p:nvSpPr>
            <p:cNvPr id="11" name="Texto pregunta 3"/>
            <p:cNvSpPr txBox="1"/>
            <p:nvPr/>
          </p:nvSpPr>
          <p:spPr>
            <a:xfrm>
              <a:off x="1920240" y="4114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¿Qué dato de sus series tendrían que verificar antes de proyectar, y con quién?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CE1B285-38DF-7445-953C-AF9D3A080AB2}"/>
              </a:ext>
            </a:extLst>
          </p:cNvPr>
          <p:cNvGrpSpPr/>
          <p:nvPr/>
        </p:nvGrpSpPr>
        <p:grpSpPr>
          <a:xfrm>
            <a:off x="6199632" y="3931920"/>
            <a:ext cx="5440680" cy="2011680"/>
            <a:chOff x="6199632" y="3931920"/>
            <a:chExt cx="5440680" cy="2011680"/>
          </a:xfrm>
        </p:grpSpPr>
        <p:sp>
          <p:nvSpPr>
            <p:cNvPr id="12" name="Tarjeta pregunta 4"/>
            <p:cNvSpPr/>
            <p:nvPr/>
          </p:nvSpPr>
          <p:spPr>
            <a:xfrm>
              <a:off x="6199632" y="3931920"/>
              <a:ext cx="5440680" cy="201168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Círculo pregunta 4"/>
            <p:cNvSpPr/>
            <p:nvPr/>
          </p:nvSpPr>
          <p:spPr>
            <a:xfrm>
              <a:off x="6473952" y="4503420"/>
              <a:ext cx="868680" cy="868680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3200" b="1">
                  <a:solidFill>
                    <a:schemeClr val="bg1"/>
                  </a:solidFill>
                  <a:latin typeface="+mj-lt"/>
                  <a:ea typeface="+mj-lt"/>
                  <a:cs typeface="+mj-lt"/>
                </a:rPr>
                <a:t>4</a:t>
              </a:r>
            </a:p>
          </p:txBody>
        </p:sp>
        <p:sp>
          <p:nvSpPr>
            <p:cNvPr id="14" name="Texto pregunta 4"/>
            <p:cNvSpPr txBox="1"/>
            <p:nvPr/>
          </p:nvSpPr>
          <p:spPr>
            <a:xfrm>
              <a:off x="7571232" y="4114800"/>
              <a:ext cx="3840480" cy="1645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0">
                  <a:solidFill>
                    <a:schemeClr val="tx2"/>
                  </a:solidFill>
                </a:rPr>
                <a:t>¿Qué decisiones no deberían apoyarse en una proyección con este error y quién las toma?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F321DC0-601B-98D7-563C-8C85A507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3" name="Velo de contraste">
            <a:extLst>
              <a:ext uri="{FF2B5EF4-FFF2-40B4-BE49-F238E27FC236}">
                <a16:creationId xmlns:a16="http://schemas.microsoft.com/office/drawing/2014/main" id="{7D36760C-49DA-D99C-6B0D-154D91384BE0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tx2">
              <a:alpha val="62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7C8DE7C-B3FF-BE63-267A-5134E9DA8BE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¿Preguntas?</a:t>
            </a:r>
            <a:endParaRPr lang="en-US" sz="7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A29795B-EC30-1657-459C-F42E920C3BF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accent4"/>
                </a:solidFill>
              </a:rPr>
              <a:t>Las ideas y dudas de ustedes enriquecen el caso</a:t>
            </a:r>
            <a:endParaRPr lang="en-US" sz="2600" dirty="0"/>
          </a:p>
        </p:txBody>
      </p:sp>
      <p:sp>
        <p:nvSpPr>
          <p:cNvPr id="20" name="Pie de página IA">
            <a:extLst>
              <a:ext uri="{FF2B5EF4-FFF2-40B4-BE49-F238E27FC236}">
                <a16:creationId xmlns:a16="http://schemas.microsoft.com/office/drawing/2014/main" id="{899B7EA3-4C0F-B283-1EF8-5EF938086AD4}"/>
              </a:ext>
            </a:extLst>
          </p:cNvPr>
          <p:cNvSpPr txBox="1"/>
          <p:nvPr/>
        </p:nvSpPr>
        <p:spPr>
          <a:xfrm>
            <a:off x="731520" y="6453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dirty="0">
                <a:solidFill>
                  <a:schemeClr val="bg1"/>
                </a:solidFill>
              </a:rPr>
              <a:t>Esta presentación ha sido generada con la asistencia de inteligencia artificial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6FB143-79FF-9548-DCF0-96A3EC7AF2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25" b="6653"/>
          <a:stretch>
            <a:fillRect/>
          </a:stretch>
        </p:blipFill>
        <p:spPr>
          <a:xfrm>
            <a:off x="9796551" y="0"/>
            <a:ext cx="2395144" cy="9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orkshop IA - Plantilla Base [1791645834479]">
  <a:themeElements>
    <a:clrScheme name="Workshop IA - Plantilla Base">
      <a:dk1>
        <a:srgbClr val="222B33"/>
      </a:dk1>
      <a:lt1>
        <a:srgbClr val="FFFFFF"/>
      </a:lt1>
      <a:dk2>
        <a:srgbClr val="1A2B4C"/>
      </a:dk2>
      <a:lt2>
        <a:srgbClr val="F1F3F5"/>
      </a:lt2>
      <a:accent1>
        <a:srgbClr val="2E8B7A"/>
      </a:accent1>
      <a:accent2>
        <a:srgbClr val="C8693A"/>
      </a:accent2>
      <a:accent3>
        <a:srgbClr val="5B7FA6"/>
      </a:accent3>
      <a:accent4>
        <a:srgbClr val="E2B04A"/>
      </a:accent4>
      <a:accent5>
        <a:srgbClr val="56606B"/>
      </a:accent5>
      <a:accent6>
        <a:srgbClr val="8A97A3"/>
      </a:accent6>
      <a:hlink>
        <a:srgbClr val="2E8B7A"/>
      </a:hlink>
      <a:folHlink>
        <a:srgbClr val="56606B"/>
      </a:folHlink>
    </a:clrScheme>
    <a:fontScheme name="Workshop IA - Plantilla B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0566AA-4711-4F67-99F4-88E44307B1E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a29918e-7b47-4d9d-b769-bdbced0815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365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Workshop IA - Plantilla Base [1791645834479]</vt:lpstr>
      <vt:lpstr>Water Cut</vt:lpstr>
      <vt:lpstr>El desafío de Paula</vt:lpstr>
      <vt:lpstr>PowerPoint Presentation</vt:lpstr>
      <vt:lpstr>Integra capacidades de</vt:lpstr>
      <vt:lpstr>Herramientas</vt:lpstr>
      <vt:lpstr>Archivos complementarios</vt:lpstr>
      <vt:lpstr>Demo práctica</vt:lpstr>
      <vt:lpstr>Siete puntos de control</vt:lpstr>
      <vt:lpstr>Criterio de aceptación del análisis</vt:lpstr>
      <vt:lpstr>Preguntas para las conclusiones</vt:lpstr>
      <vt:lpstr>¿Preguntas?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Demo Water Cut (borrador v0.1)</dc:title>
  <dc:subject>PptxGenJS Presentation</dc:subject>
  <dc:creator>IA para Todos</dc:creator>
  <cp:lastModifiedBy>Oscar Gerometta</cp:lastModifiedBy>
  <cp:revision>41</cp:revision>
  <dcterms:created xsi:type="dcterms:W3CDTF">2026-10-10T15:11:13Z</dcterms:created>
  <dcterms:modified xsi:type="dcterms:W3CDTF">2026-10-14T01:26:09Z</dcterms:modified>
</cp:coreProperties>
</file>