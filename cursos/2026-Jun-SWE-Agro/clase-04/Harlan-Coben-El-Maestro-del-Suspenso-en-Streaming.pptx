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Dela Gothic One"/>
      <p:regular r:id="rId201314"/>
    </p:embeddedFont>
    <p:embeddedFont>
      <p:font typeface="DM Sans"/>
      <p:regular r:id="rId201315"/>
    </p:embeddedFont>
    <p:embeddedFont>
      <p:font typeface="DM Sans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A0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03794" y="1969294"/>
            <a:ext cx="6355993" cy="1781770"/>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FAEBEB"/>
                </a:solidFill>
                <a:latin typeface="Dela Gothic One" pitchFamily="34" charset="0"/>
                <a:ea typeface="Dela Gothic One" pitchFamily="34" charset="-122"/>
                <a:cs typeface="Dela Gothic One" pitchFamily="34" charset="-120"/>
              </a:rPr>
              <a:t>Harlan Coben: El Maestro del Suspenso en Streaming</a:t>
            </a:r>
            <a:endParaRPr lang="en-US" sz="3700" dirty="0"/>
          </a:p>
        </p:txBody>
      </p:sp>
      <p:sp>
        <p:nvSpPr>
          <p:cNvPr id="4" name="Text 1"/>
          <p:cNvSpPr/>
          <p:nvPr/>
        </p:nvSpPr>
        <p:spPr>
          <a:xfrm>
            <a:off x="5203794" y="4021832"/>
            <a:ext cx="6355993" cy="866775"/>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FFE5E5"/>
                </a:solidFill>
                <a:latin typeface="DM Sans" pitchFamily="34" charset="0"/>
                <a:ea typeface="DM Sans" pitchFamily="34" charset="-122"/>
                <a:cs typeface="DM Sans" pitchFamily="34" charset="-120"/>
              </a:rPr>
              <a:t>Del papel a la pantalla: el autor más prolífico del thriller moderno conquistó el streaming global con una fórmula irresistible de secretos, familias rotas y giros finales que lo cambian todo.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03794" y="716161"/>
            <a:ext cx="6355993" cy="566043"/>
          </a:xfrm>
          <a:prstGeom prst="rect">
            <a:avLst/>
          </a:prstGeom>
          <a:noFill/>
          <a:ln/>
        </p:spPr>
        <p:txBody>
          <a:bodyPr wrap="none" lIns="0" tIns="0" rIns="0" bIns="0" rtlCol="0" anchor="t"/>
          <a:lstStyle/>
          <a:p>
            <a:pPr algn="l" indent="0" marL="0">
              <a:lnSpc>
                <a:spcPct val="104000"/>
              </a:lnSpc>
              <a:buNone/>
            </a:pPr>
            <a:r>
              <a:rPr lang="en-US" sz="3550" dirty="0">
                <a:solidFill>
                  <a:srgbClr val="FAEBEB"/>
                </a:solidFill>
                <a:latin typeface="Dela Gothic One" pitchFamily="34" charset="0"/>
                <a:ea typeface="Dela Gothic One" pitchFamily="34" charset="-122"/>
                <a:cs typeface="Dela Gothic One" pitchFamily="34" charset="-120"/>
              </a:rPr>
              <a:t>El Origen del Fenómeno</a:t>
            </a:r>
            <a:endParaRPr lang="en-US" sz="3550" dirty="0"/>
          </a:p>
        </p:txBody>
      </p:sp>
      <p:sp>
        <p:nvSpPr>
          <p:cNvPr id="4" name="Text 1"/>
          <p:cNvSpPr/>
          <p:nvPr/>
        </p:nvSpPr>
        <p:spPr>
          <a:xfrm>
            <a:off x="5203794" y="1614190"/>
            <a:ext cx="3075506" cy="567928"/>
          </a:xfrm>
          <a:prstGeom prst="rect">
            <a:avLst/>
          </a:prstGeom>
          <a:noFill/>
          <a:ln/>
        </p:spPr>
        <p:txBody>
          <a:bodyPr wrap="none" lIns="0" tIns="0" rIns="0" bIns="0" rtlCol="0" anchor="t"/>
          <a:lstStyle/>
          <a:p>
            <a:pPr algn="ctr" indent="0" marL="0">
              <a:lnSpc>
                <a:spcPct val="83000"/>
              </a:lnSpc>
              <a:buNone/>
            </a:pPr>
            <a:r>
              <a:rPr lang="en-US" sz="4450" dirty="0">
                <a:solidFill>
                  <a:srgbClr val="FFE5E5"/>
                </a:solidFill>
                <a:latin typeface="Dela Gothic One" pitchFamily="34" charset="0"/>
                <a:ea typeface="Dela Gothic One" pitchFamily="34" charset="-122"/>
                <a:cs typeface="Dela Gothic One" pitchFamily="34" charset="-120"/>
              </a:rPr>
              <a:t>90M</a:t>
            </a:r>
            <a:endParaRPr lang="en-US" sz="4450" dirty="0"/>
          </a:p>
        </p:txBody>
      </p:sp>
      <p:sp>
        <p:nvSpPr>
          <p:cNvPr id="5" name="Text 2"/>
          <p:cNvSpPr/>
          <p:nvPr/>
        </p:nvSpPr>
        <p:spPr>
          <a:xfrm>
            <a:off x="5203794" y="2391073"/>
            <a:ext cx="3075506" cy="282972"/>
          </a:xfrm>
          <a:prstGeom prst="rect">
            <a:avLst/>
          </a:prstGeom>
          <a:noFill/>
          <a:ln/>
        </p:spPr>
        <p:txBody>
          <a:bodyPr wrap="none" lIns="0" tIns="0" rIns="0" bIns="0" rtlCol="0" anchor="t"/>
          <a:lstStyle/>
          <a:p>
            <a:pPr algn="ctr" indent="0" marL="0">
              <a:lnSpc>
                <a:spcPct val="104000"/>
              </a:lnSpc>
              <a:buNone/>
            </a:pPr>
            <a:r>
              <a:rPr lang="en-US" sz="1750" dirty="0">
                <a:solidFill>
                  <a:srgbClr val="FFE5E5"/>
                </a:solidFill>
                <a:latin typeface="Dela Gothic One" pitchFamily="34" charset="0"/>
                <a:ea typeface="Dela Gothic One" pitchFamily="34" charset="-122"/>
                <a:cs typeface="Dela Gothic One" pitchFamily="34" charset="-120"/>
              </a:rPr>
              <a:t>Ejemplares vendidos</a:t>
            </a:r>
            <a:endParaRPr lang="en-US" sz="1750" dirty="0"/>
          </a:p>
        </p:txBody>
      </p:sp>
      <p:sp>
        <p:nvSpPr>
          <p:cNvPr id="6" name="Text 3"/>
          <p:cNvSpPr/>
          <p:nvPr/>
        </p:nvSpPr>
        <p:spPr>
          <a:xfrm>
            <a:off x="5203794" y="2772370"/>
            <a:ext cx="3075506" cy="268784"/>
          </a:xfrm>
          <a:prstGeom prst="rect">
            <a:avLst/>
          </a:prstGeom>
          <a:noFill/>
          <a:ln/>
        </p:spPr>
        <p:txBody>
          <a:bodyPr wrap="none" lIns="0" tIns="0" rIns="0" bIns="0" rtlCol="0" anchor="t"/>
          <a:lstStyle/>
          <a:p>
            <a:pPr algn="ctr" indent="0" marL="0">
              <a:lnSpc>
                <a:spcPct val="130000"/>
              </a:lnSpc>
              <a:buNone/>
            </a:pPr>
            <a:r>
              <a:rPr lang="en-US" sz="1350" dirty="0">
                <a:solidFill>
                  <a:srgbClr val="FFE5E5"/>
                </a:solidFill>
                <a:latin typeface="DM Sans" pitchFamily="34" charset="0"/>
                <a:ea typeface="DM Sans" pitchFamily="34" charset="-122"/>
                <a:cs typeface="DM Sans" pitchFamily="34" charset="-120"/>
              </a:rPr>
              <a:t>En 46 idiomas alrededor del mundo</a:t>
            </a:r>
            <a:endParaRPr lang="en-US" sz="1350" dirty="0"/>
          </a:p>
        </p:txBody>
      </p:sp>
      <p:sp>
        <p:nvSpPr>
          <p:cNvPr id="7" name="Text 4"/>
          <p:cNvSpPr/>
          <p:nvPr/>
        </p:nvSpPr>
        <p:spPr>
          <a:xfrm>
            <a:off x="8484281" y="1614190"/>
            <a:ext cx="3075506" cy="567928"/>
          </a:xfrm>
          <a:prstGeom prst="rect">
            <a:avLst/>
          </a:prstGeom>
          <a:noFill/>
          <a:ln/>
        </p:spPr>
        <p:txBody>
          <a:bodyPr wrap="none" lIns="0" tIns="0" rIns="0" bIns="0" rtlCol="0" anchor="t"/>
          <a:lstStyle/>
          <a:p>
            <a:pPr algn="ctr" indent="0" marL="0">
              <a:lnSpc>
                <a:spcPct val="83000"/>
              </a:lnSpc>
              <a:buNone/>
            </a:pPr>
            <a:r>
              <a:rPr lang="en-US" sz="4450" dirty="0">
                <a:solidFill>
                  <a:srgbClr val="FFE5E5"/>
                </a:solidFill>
                <a:latin typeface="Dela Gothic One" pitchFamily="34" charset="0"/>
                <a:ea typeface="Dela Gothic One" pitchFamily="34" charset="-122"/>
                <a:cs typeface="Dela Gothic One" pitchFamily="34" charset="-120"/>
              </a:rPr>
              <a:t>14</a:t>
            </a:r>
            <a:endParaRPr lang="en-US" sz="4450" dirty="0"/>
          </a:p>
        </p:txBody>
      </p:sp>
      <p:sp>
        <p:nvSpPr>
          <p:cNvPr id="8" name="Text 5"/>
          <p:cNvSpPr/>
          <p:nvPr/>
        </p:nvSpPr>
        <p:spPr>
          <a:xfrm>
            <a:off x="8484281" y="2391073"/>
            <a:ext cx="3075506" cy="282972"/>
          </a:xfrm>
          <a:prstGeom prst="rect">
            <a:avLst/>
          </a:prstGeom>
          <a:noFill/>
          <a:ln/>
        </p:spPr>
        <p:txBody>
          <a:bodyPr wrap="none" lIns="0" tIns="0" rIns="0" bIns="0" rtlCol="0" anchor="t"/>
          <a:lstStyle/>
          <a:p>
            <a:pPr algn="ctr" indent="0" marL="0">
              <a:lnSpc>
                <a:spcPct val="104000"/>
              </a:lnSpc>
              <a:buNone/>
            </a:pPr>
            <a:r>
              <a:rPr lang="en-US" sz="1750" dirty="0">
                <a:solidFill>
                  <a:srgbClr val="FFE5E5"/>
                </a:solidFill>
                <a:latin typeface="Dela Gothic One" pitchFamily="34" charset="0"/>
                <a:ea typeface="Dela Gothic One" pitchFamily="34" charset="-122"/>
                <a:cs typeface="Dela Gothic One" pitchFamily="34" charset="-120"/>
              </a:rPr>
              <a:t>Títulos con Netflix</a:t>
            </a:r>
            <a:endParaRPr lang="en-US" sz="1750" dirty="0"/>
          </a:p>
        </p:txBody>
      </p:sp>
      <p:sp>
        <p:nvSpPr>
          <p:cNvPr id="9" name="Text 6"/>
          <p:cNvSpPr/>
          <p:nvPr/>
        </p:nvSpPr>
        <p:spPr>
          <a:xfrm>
            <a:off x="8484281" y="2772370"/>
            <a:ext cx="3075506" cy="537567"/>
          </a:xfrm>
          <a:prstGeom prst="rect">
            <a:avLst/>
          </a:prstGeom>
          <a:noFill/>
          <a:ln/>
        </p:spPr>
        <p:txBody>
          <a:bodyPr wrap="square" lIns="0" tIns="0" rIns="0" bIns="0" rtlCol="0" anchor="t">
            <a:normAutofit/>
          </a:bodyPr>
          <a:lstStyle/>
          <a:p>
            <a:pPr algn="ctr" indent="0" marL="0">
              <a:lnSpc>
                <a:spcPct val="130000"/>
              </a:lnSpc>
              <a:buNone/>
            </a:pPr>
            <a:r>
              <a:rPr lang="en-US" sz="1350" dirty="0">
                <a:solidFill>
                  <a:srgbClr val="FFE5E5"/>
                </a:solidFill>
                <a:latin typeface="DM Sans" pitchFamily="34" charset="0"/>
                <a:ea typeface="DM Sans" pitchFamily="34" charset="-122"/>
                <a:cs typeface="DM Sans" pitchFamily="34" charset="-120"/>
              </a:rPr>
              <a:t>Acuerdo de adaptación global desde 2018</a:t>
            </a:r>
            <a:endParaRPr lang="en-US" sz="1350" dirty="0"/>
          </a:p>
        </p:txBody>
      </p:sp>
      <p:sp>
        <p:nvSpPr>
          <p:cNvPr id="10" name="Text 7"/>
          <p:cNvSpPr/>
          <p:nvPr/>
        </p:nvSpPr>
        <p:spPr>
          <a:xfrm>
            <a:off x="6844037" y="3723977"/>
            <a:ext cx="3075506" cy="567928"/>
          </a:xfrm>
          <a:prstGeom prst="rect">
            <a:avLst/>
          </a:prstGeom>
          <a:noFill/>
          <a:ln/>
        </p:spPr>
        <p:txBody>
          <a:bodyPr wrap="none" lIns="0" tIns="0" rIns="0" bIns="0" rtlCol="0" anchor="t"/>
          <a:lstStyle/>
          <a:p>
            <a:pPr algn="ctr" indent="0" marL="0">
              <a:lnSpc>
                <a:spcPct val="83000"/>
              </a:lnSpc>
              <a:buNone/>
            </a:pPr>
            <a:r>
              <a:rPr lang="en-US" sz="4450" dirty="0">
                <a:solidFill>
                  <a:srgbClr val="FFE5E5"/>
                </a:solidFill>
                <a:latin typeface="Dela Gothic One" pitchFamily="34" charset="0"/>
                <a:ea typeface="Dela Gothic One" pitchFamily="34" charset="-122"/>
                <a:cs typeface="Dela Gothic One" pitchFamily="34" charset="-120"/>
              </a:rPr>
              <a:t>1962</a:t>
            </a:r>
            <a:endParaRPr lang="en-US" sz="4450" dirty="0"/>
          </a:p>
        </p:txBody>
      </p:sp>
      <p:sp>
        <p:nvSpPr>
          <p:cNvPr id="11" name="Text 8"/>
          <p:cNvSpPr/>
          <p:nvPr/>
        </p:nvSpPr>
        <p:spPr>
          <a:xfrm>
            <a:off x="6844037" y="4500860"/>
            <a:ext cx="3075506" cy="282972"/>
          </a:xfrm>
          <a:prstGeom prst="rect">
            <a:avLst/>
          </a:prstGeom>
          <a:noFill/>
          <a:ln/>
        </p:spPr>
        <p:txBody>
          <a:bodyPr wrap="none" lIns="0" tIns="0" rIns="0" bIns="0" rtlCol="0" anchor="t"/>
          <a:lstStyle/>
          <a:p>
            <a:pPr algn="ctr" indent="0" marL="0">
              <a:lnSpc>
                <a:spcPct val="104000"/>
              </a:lnSpc>
              <a:buNone/>
            </a:pPr>
            <a:r>
              <a:rPr lang="en-US" sz="1750" dirty="0">
                <a:solidFill>
                  <a:srgbClr val="FFE5E5"/>
                </a:solidFill>
                <a:latin typeface="Dela Gothic One" pitchFamily="34" charset="0"/>
                <a:ea typeface="Dela Gothic One" pitchFamily="34" charset="-122"/>
                <a:cs typeface="Dela Gothic One" pitchFamily="34" charset="-120"/>
              </a:rPr>
              <a:t>Año de nacimiento</a:t>
            </a:r>
            <a:endParaRPr lang="en-US" sz="1750" dirty="0"/>
          </a:p>
        </p:txBody>
      </p:sp>
      <p:sp>
        <p:nvSpPr>
          <p:cNvPr id="12" name="Text 9"/>
          <p:cNvSpPr/>
          <p:nvPr/>
        </p:nvSpPr>
        <p:spPr>
          <a:xfrm>
            <a:off x="6844037" y="4882158"/>
            <a:ext cx="3075506" cy="268784"/>
          </a:xfrm>
          <a:prstGeom prst="rect">
            <a:avLst/>
          </a:prstGeom>
          <a:noFill/>
          <a:ln/>
        </p:spPr>
        <p:txBody>
          <a:bodyPr wrap="none" lIns="0" tIns="0" rIns="0" bIns="0" rtlCol="0" anchor="t"/>
          <a:lstStyle/>
          <a:p>
            <a:pPr algn="ctr" indent="0" marL="0">
              <a:lnSpc>
                <a:spcPct val="130000"/>
              </a:lnSpc>
              <a:buNone/>
            </a:pPr>
            <a:r>
              <a:rPr lang="en-US" sz="1350" dirty="0">
                <a:solidFill>
                  <a:srgbClr val="FFE5E5"/>
                </a:solidFill>
                <a:latin typeface="DM Sans" pitchFamily="34" charset="0"/>
                <a:ea typeface="DM Sans" pitchFamily="34" charset="-122"/>
                <a:cs typeface="DM Sans" pitchFamily="34" charset="-120"/>
              </a:rPr>
              <a:t>Newark, Nueva Jersey</a:t>
            </a:r>
            <a:endParaRPr lang="en-US" sz="1350" dirty="0"/>
          </a:p>
        </p:txBody>
      </p:sp>
      <p:sp>
        <p:nvSpPr>
          <p:cNvPr id="13" name="Text 10"/>
          <p:cNvSpPr/>
          <p:nvPr/>
        </p:nvSpPr>
        <p:spPr>
          <a:xfrm>
            <a:off x="5203794" y="5335389"/>
            <a:ext cx="6355993" cy="806351"/>
          </a:xfrm>
          <a:prstGeom prst="rect">
            <a:avLst/>
          </a:prstGeom>
          <a:noFill/>
          <a:ln/>
        </p:spPr>
        <p:txBody>
          <a:bodyPr wrap="square" lIns="0" tIns="0" rIns="0" bIns="0" rtlCol="0" anchor="t">
            <a:normAutofit/>
          </a:bodyPr>
          <a:lstStyle/>
          <a:p>
            <a:pPr algn="l" indent="0" marL="0">
              <a:lnSpc>
                <a:spcPct val="130000"/>
              </a:lnSpc>
              <a:buNone/>
            </a:pPr>
            <a:r>
              <a:rPr lang="en-US" sz="1350" dirty="0">
                <a:solidFill>
                  <a:srgbClr val="FFE5E5"/>
                </a:solidFill>
                <a:latin typeface="DM Sans" pitchFamily="34" charset="0"/>
                <a:ea typeface="DM Sans" pitchFamily="34" charset="-122"/>
                <a:cs typeface="DM Sans" pitchFamily="34" charset="-120"/>
              </a:rPr>
              <a:t>Coben escribe con una filosofía única: </a:t>
            </a:r>
            <a:pPr algn="l" indent="0" marL="0">
              <a:lnSpc>
                <a:spcPct val="130000"/>
              </a:lnSpc>
              <a:buNone/>
            </a:pPr>
            <a:r>
              <a:rPr lang="en-US" sz="1350" b="1" dirty="0">
                <a:solidFill>
                  <a:srgbClr val="FFE5E5"/>
                </a:solidFill>
                <a:latin typeface="DM Sans Bold" pitchFamily="34" charset="0"/>
                <a:ea typeface="DM Sans Bold" pitchFamily="34" charset="-122"/>
                <a:cs typeface="DM Sans Bold" pitchFamily="34" charset="-120"/>
              </a:rPr>
              <a:t>conoce el final antes de empezar</a:t>
            </a:r>
            <a:pPr algn="l" indent="0" marL="0">
              <a:lnSpc>
                <a:spcPct val="130000"/>
              </a:lnSpc>
              <a:buNone/>
            </a:pPr>
            <a:r>
              <a:rPr lang="en-US" sz="1350" dirty="0">
                <a:solidFill>
                  <a:srgbClr val="FFE5E5"/>
                </a:solidFill>
                <a:latin typeface="DM Sans" pitchFamily="34" charset="0"/>
                <a:ea typeface="DM Sans" pitchFamily="34" charset="-122"/>
                <a:cs typeface="DM Sans" pitchFamily="34" charset="-120"/>
              </a:rPr>
              <a:t>. Esa certeza le permite construir tramas donde cada detalle cobra sentido en el último momento.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502245"/>
            <a:ext cx="10927878" cy="315516"/>
          </a:xfrm>
          <a:prstGeom prst="rect">
            <a:avLst/>
          </a:prstGeom>
          <a:noFill/>
          <a:ln/>
        </p:spPr>
        <p:txBody>
          <a:bodyPr wrap="none" lIns="0" tIns="0" rIns="0" bIns="0" rtlCol="0" anchor="t"/>
          <a:lstStyle/>
          <a:p>
            <a:pPr algn="l" indent="0" marL="0">
              <a:lnSpc>
                <a:spcPct val="104000"/>
              </a:lnSpc>
              <a:buNone/>
            </a:pPr>
            <a:r>
              <a:rPr lang="en-US" sz="1950" dirty="0">
                <a:solidFill>
                  <a:srgbClr val="FAEBEB"/>
                </a:solidFill>
                <a:latin typeface="Dela Gothic One" pitchFamily="34" charset="0"/>
                <a:ea typeface="Dela Gothic One" pitchFamily="34" charset="-122"/>
                <a:cs typeface="Dela Gothic One" pitchFamily="34" charset="-120"/>
              </a:rPr>
              <a:t>La Fórmula Coben</a:t>
            </a:r>
            <a:endParaRPr lang="en-US" sz="1950" dirty="0"/>
          </a:p>
        </p:txBody>
      </p:sp>
      <p:sp>
        <p:nvSpPr>
          <p:cNvPr id="3" name="Text 1"/>
          <p:cNvSpPr/>
          <p:nvPr/>
        </p:nvSpPr>
        <p:spPr>
          <a:xfrm>
            <a:off x="631908" y="3344664"/>
            <a:ext cx="5346963" cy="234950"/>
          </a:xfrm>
          <a:prstGeom prst="rect">
            <a:avLst/>
          </a:prstGeom>
          <a:noFill/>
          <a:ln/>
        </p:spPr>
        <p:txBody>
          <a:bodyPr wrap="square" lIns="0" tIns="0" rIns="0" bIns="0" rtlCol="0" anchor="t">
            <a:normAutofit/>
          </a:bodyPr>
          <a:lstStyle/>
          <a:p>
            <a:pPr algn="l" indent="0" marL="0">
              <a:lnSpc>
                <a:spcPct val="102000"/>
              </a:lnSpc>
              <a:buNone/>
            </a:pPr>
            <a:r>
              <a:rPr lang="en-US" sz="750" dirty="0">
                <a:solidFill>
                  <a:srgbClr val="FFE5E5"/>
                </a:solidFill>
                <a:latin typeface="DM Sans" pitchFamily="34" charset="0"/>
                <a:ea typeface="DM Sans" pitchFamily="34" charset="-122"/>
                <a:cs typeface="DM Sans" pitchFamily="34" charset="-120"/>
              </a:rPr>
              <a:t>Cada historia parte de un punto de partida familiar: una vida aparentemente normal que se desmorona cuando un secreto enterrado sale a la luz. El lector —y el espectador— nunca sabe en quién confiar.</a:t>
            </a:r>
            <a:endParaRPr lang="en-US" sz="750" dirty="0"/>
          </a:p>
        </p:txBody>
      </p:sp>
      <p:sp>
        <p:nvSpPr>
          <p:cNvPr id="4" name="Shape 2"/>
          <p:cNvSpPr/>
          <p:nvPr/>
        </p:nvSpPr>
        <p:spPr>
          <a:xfrm>
            <a:off x="631908" y="3636863"/>
            <a:ext cx="5346963" cy="256977"/>
          </a:xfrm>
          <a:prstGeom prst="roundRect">
            <a:avLst>
              <a:gd name="adj" fmla="val 15676"/>
            </a:avLst>
          </a:prstGeom>
          <a:solidFill>
            <a:srgbClr val="740B0B"/>
          </a:solidFill>
          <a:ln/>
        </p:spPr>
      </p:sp>
      <p:pic>
        <p:nvPicPr>
          <p:cNvPr id="5" name="Image 0" descr="preencoded.png">    </p:cNvPr>
          <p:cNvPicPr>
            <a:picLocks noChangeAspect="1"/>
          </p:cNvPicPr>
          <p:nvPr/>
        </p:nvPicPr>
        <p:blipFill>
          <a:blip r:embed="rId1"/>
          <a:stretch>
            <a:fillRect/>
          </a:stretch>
        </p:blipFill>
        <p:spPr>
          <a:xfrm>
            <a:off x="727751" y="3716635"/>
            <a:ext cx="119853" cy="95845"/>
          </a:xfrm>
          <a:prstGeom prst="rect">
            <a:avLst/>
          </a:prstGeom>
        </p:spPr>
      </p:pic>
      <p:sp>
        <p:nvSpPr>
          <p:cNvPr id="6" name="Text 3"/>
          <p:cNvSpPr/>
          <p:nvPr/>
        </p:nvSpPr>
        <p:spPr>
          <a:xfrm>
            <a:off x="943447" y="3706614"/>
            <a:ext cx="5549166" cy="117475"/>
          </a:xfrm>
          <a:prstGeom prst="rect">
            <a:avLst/>
          </a:prstGeom>
          <a:noFill/>
          <a:ln/>
        </p:spPr>
        <p:txBody>
          <a:bodyPr wrap="none" lIns="0" tIns="0" rIns="0" bIns="0" rtlCol="0" anchor="t"/>
          <a:lstStyle/>
          <a:p>
            <a:pPr algn="l" indent="0" marL="0">
              <a:lnSpc>
                <a:spcPct val="102000"/>
              </a:lnSpc>
              <a:buNone/>
            </a:pPr>
            <a:r>
              <a:rPr lang="en-US" sz="750" dirty="0">
                <a:solidFill>
                  <a:srgbClr val="FFFFFF"/>
                </a:solidFill>
                <a:latin typeface="DM Sans" pitchFamily="34" charset="0"/>
                <a:ea typeface="DM Sans" pitchFamily="34" charset="-122"/>
                <a:cs typeface="DM Sans" pitchFamily="34" charset="-120"/>
              </a:rPr>
              <a:t>Su objetivo declarado: </a:t>
            </a:r>
            <a:pPr algn="l" indent="0" marL="0">
              <a:lnSpc>
                <a:spcPct val="102000"/>
              </a:lnSpc>
              <a:buNone/>
            </a:pPr>
            <a:r>
              <a:rPr lang="en-US" sz="750" b="1" dirty="0">
                <a:solidFill>
                  <a:srgbClr val="FFFFFF"/>
                </a:solidFill>
                <a:latin typeface="DM Sans Bold" pitchFamily="34" charset="0"/>
                <a:ea typeface="DM Sans Bold" pitchFamily="34" charset="-122"/>
                <a:cs typeface="DM Sans Bold" pitchFamily="34" charset="-120"/>
              </a:rPr>
              <a:t>acelerar el pulso, la mente y, sobre todo, el corazón.</a:t>
            </a:r>
            <a:endParaRPr lang="en-US" sz="750" dirty="0"/>
          </a:p>
        </p:txBody>
      </p:sp>
      <p:pic>
        <p:nvPicPr>
          <p:cNvPr id="7" name="Image 1" descr="preencoded.png">    </p:cNvPr>
          <p:cNvPicPr>
            <a:picLocks noChangeAspect="1"/>
          </p:cNvPicPr>
          <p:nvPr/>
        </p:nvPicPr>
        <p:blipFill>
          <a:blip r:embed="rId2"/>
          <a:stretch>
            <a:fillRect/>
          </a:stretch>
        </p:blipFill>
        <p:spPr>
          <a:xfrm>
            <a:off x="6219173" y="951409"/>
            <a:ext cx="5346963" cy="53470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31908" y="507901"/>
            <a:ext cx="1235540" cy="158552"/>
          </a:xfrm>
          <a:prstGeom prst="roundRect">
            <a:avLst>
              <a:gd name="adj" fmla="val 22120"/>
            </a:avLst>
          </a:prstGeom>
          <a:solidFill>
            <a:srgbClr val="460707"/>
          </a:solidFill>
          <a:ln/>
        </p:spPr>
      </p:sp>
      <p:sp>
        <p:nvSpPr>
          <p:cNvPr id="3" name="Text 1"/>
          <p:cNvSpPr/>
          <p:nvPr/>
        </p:nvSpPr>
        <p:spPr>
          <a:xfrm>
            <a:off x="694514" y="539155"/>
            <a:ext cx="1719914" cy="96044"/>
          </a:xfrm>
          <a:prstGeom prst="rect">
            <a:avLst/>
          </a:prstGeom>
          <a:noFill/>
          <a:ln/>
        </p:spPr>
        <p:txBody>
          <a:bodyPr wrap="none" lIns="0" tIns="0" rIns="0" bIns="0" rtlCol="0" anchor="t"/>
          <a:lstStyle/>
          <a:p>
            <a:pPr algn="l" indent="0" marL="0">
              <a:lnSpc>
                <a:spcPct val="96000"/>
              </a:lnSpc>
              <a:buNone/>
            </a:pPr>
            <a:r>
              <a:rPr lang="en-US" sz="650" dirty="0">
                <a:solidFill>
                  <a:srgbClr val="FFE5E5"/>
                </a:solidFill>
                <a:latin typeface="DM Sans" pitchFamily="34" charset="0"/>
                <a:ea typeface="DM Sans" pitchFamily="34" charset="-122"/>
                <a:cs typeface="DM Sans" pitchFamily="34" charset="-120"/>
              </a:rPr>
              <a:t>PRIMERA ADAPTACIÓN · 2018</a:t>
            </a:r>
            <a:endParaRPr lang="en-US" sz="650" dirty="0"/>
          </a:p>
        </p:txBody>
      </p:sp>
      <p:sp>
        <p:nvSpPr>
          <p:cNvPr id="4" name="Text 2"/>
          <p:cNvSpPr/>
          <p:nvPr/>
        </p:nvSpPr>
        <p:spPr>
          <a:xfrm>
            <a:off x="631908" y="690563"/>
            <a:ext cx="10927878" cy="343396"/>
          </a:xfrm>
          <a:prstGeom prst="rect">
            <a:avLst/>
          </a:prstGeom>
          <a:noFill/>
          <a:ln/>
        </p:spPr>
        <p:txBody>
          <a:bodyPr wrap="none" lIns="0" tIns="0" rIns="0" bIns="0" rtlCol="0" anchor="t"/>
          <a:lstStyle/>
          <a:p>
            <a:pPr algn="l" indent="0" marL="0">
              <a:lnSpc>
                <a:spcPct val="104000"/>
              </a:lnSpc>
              <a:buNone/>
            </a:pPr>
            <a:r>
              <a:rPr lang="en-US" sz="2150" dirty="0">
                <a:solidFill>
                  <a:srgbClr val="FAEBEB"/>
                </a:solidFill>
                <a:latin typeface="Dela Gothic One" pitchFamily="34" charset="0"/>
                <a:ea typeface="Dela Gothic One" pitchFamily="34" charset="-122"/>
                <a:cs typeface="Dela Gothic One" pitchFamily="34" charset="-120"/>
              </a:rPr>
              <a:t>Safe</a:t>
            </a:r>
            <a:endParaRPr lang="en-US" sz="2150" dirty="0"/>
          </a:p>
        </p:txBody>
      </p:sp>
      <p:pic>
        <p:nvPicPr>
          <p:cNvPr id="5" name="Image 0" descr="preencoded.png">    </p:cNvPr>
          <p:cNvPicPr>
            <a:picLocks noChangeAspect="1"/>
          </p:cNvPicPr>
          <p:nvPr/>
        </p:nvPicPr>
        <p:blipFill>
          <a:blip r:embed="rId1"/>
          <a:stretch>
            <a:fillRect/>
          </a:stretch>
        </p:blipFill>
        <p:spPr>
          <a:xfrm>
            <a:off x="631908" y="1192312"/>
            <a:ext cx="7013995" cy="3974604"/>
          </a:xfrm>
          <a:prstGeom prst="rect">
            <a:avLst/>
          </a:prstGeom>
        </p:spPr>
      </p:pic>
      <p:sp>
        <p:nvSpPr>
          <p:cNvPr id="6" name="Text 3"/>
          <p:cNvSpPr/>
          <p:nvPr/>
        </p:nvSpPr>
        <p:spPr>
          <a:xfrm>
            <a:off x="7906842" y="2916039"/>
            <a:ext cx="3659195" cy="527050"/>
          </a:xfrm>
          <a:prstGeom prst="rect">
            <a:avLst/>
          </a:prstGeom>
          <a:noFill/>
          <a:ln/>
        </p:spPr>
        <p:txBody>
          <a:bodyPr wrap="square" lIns="0" tIns="0" rIns="0" bIns="0" rtlCol="0" anchor="t">
            <a:normAutofit/>
          </a:bodyPr>
          <a:lstStyle/>
          <a:p>
            <a:pPr algn="l" indent="0" marL="0">
              <a:lnSpc>
                <a:spcPct val="105000"/>
              </a:lnSpc>
              <a:buNone/>
            </a:pPr>
            <a:r>
              <a:rPr lang="en-US" sz="800" dirty="0">
                <a:solidFill>
                  <a:srgbClr val="FFE5E5"/>
                </a:solidFill>
                <a:latin typeface="DM Sans" pitchFamily="34" charset="0"/>
                <a:ea typeface="DM Sans" pitchFamily="34" charset="-122"/>
                <a:cs typeface="DM Sans" pitchFamily="34" charset="-120"/>
              </a:rPr>
              <a:t>Un cirujano viudo ve cómo su vida se desmorona cuando su hija desaparece en una urbanización de lujo británica. Lo que parece un caso simple revela secretos que nadie en la comunidad quería que salieran a la luz.</a:t>
            </a:r>
            <a:endParaRPr lang="en-US" sz="800" dirty="0"/>
          </a:p>
        </p:txBody>
      </p:sp>
      <p:sp>
        <p:nvSpPr>
          <p:cNvPr id="7" name="Shape 4"/>
          <p:cNvSpPr/>
          <p:nvPr/>
        </p:nvSpPr>
        <p:spPr>
          <a:xfrm>
            <a:off x="631908" y="5302647"/>
            <a:ext cx="3602344" cy="586383"/>
          </a:xfrm>
          <a:prstGeom prst="roundRect">
            <a:avLst>
              <a:gd name="adj" fmla="val 7476"/>
            </a:avLst>
          </a:prstGeom>
          <a:solidFill>
            <a:srgbClr val="0A0A0A">
              <a:alpha val="95000"/>
            </a:srgbClr>
          </a:solidFill>
          <a:ln w="12700">
            <a:solidFill>
              <a:srgbClr val="8D2424"/>
            </a:solidFill>
            <a:prstDash val="solid"/>
          </a:ln>
        </p:spPr>
      </p:sp>
      <p:sp>
        <p:nvSpPr>
          <p:cNvPr id="8" name="Text 5"/>
          <p:cNvSpPr/>
          <p:nvPr/>
        </p:nvSpPr>
        <p:spPr>
          <a:xfrm>
            <a:off x="748984" y="5419725"/>
            <a:ext cx="3368194" cy="184348"/>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050" dirty="0">
                <a:solidFill>
                  <a:srgbClr val="FFE5E5"/>
                </a:solidFill>
                <a:latin typeface="Dela Gothic One" pitchFamily="34" charset="0"/>
                <a:ea typeface="Dela Gothic One" pitchFamily="34" charset="-122"/>
                <a:cs typeface="Dela Gothic One" pitchFamily="34" charset="-120"/>
              </a:rPr>
              <a:t> Género</a:t>
            </a:r>
            <a:endParaRPr lang="en-US" sz="1050" dirty="0"/>
          </a:p>
        </p:txBody>
      </p:sp>
      <p:sp>
        <p:nvSpPr>
          <p:cNvPr id="9" name="Text 6"/>
          <p:cNvSpPr/>
          <p:nvPr/>
        </p:nvSpPr>
        <p:spPr>
          <a:xfrm>
            <a:off x="748984" y="5640189"/>
            <a:ext cx="3368194" cy="131763"/>
          </a:xfrm>
          <a:prstGeom prst="rect">
            <a:avLst/>
          </a:prstGeom>
          <a:noFill/>
          <a:ln/>
        </p:spPr>
        <p:txBody>
          <a:bodyPr wrap="none" lIns="0" tIns="0" rIns="0" bIns="0" rtlCol="0" anchor="t"/>
          <a:lstStyle/>
          <a:p>
            <a:pPr algn="l" indent="0" marL="0">
              <a:lnSpc>
                <a:spcPct val="105000"/>
              </a:lnSpc>
              <a:buNone/>
            </a:pPr>
            <a:r>
              <a:rPr lang="en-US" sz="800" dirty="0">
                <a:solidFill>
                  <a:srgbClr val="FFE5E5"/>
                </a:solidFill>
                <a:latin typeface="DM Sans" pitchFamily="34" charset="0"/>
                <a:ea typeface="DM Sans" pitchFamily="34" charset="-122"/>
                <a:cs typeface="DM Sans" pitchFamily="34" charset="-120"/>
              </a:rPr>
              <a:t>Drama / Intriga</a:t>
            </a:r>
            <a:endParaRPr lang="en-US" sz="800" dirty="0"/>
          </a:p>
        </p:txBody>
      </p:sp>
      <p:sp>
        <p:nvSpPr>
          <p:cNvPr id="10" name="Shape 7"/>
          <p:cNvSpPr/>
          <p:nvPr/>
        </p:nvSpPr>
        <p:spPr>
          <a:xfrm>
            <a:off x="4294576" y="5302647"/>
            <a:ext cx="3602443" cy="586383"/>
          </a:xfrm>
          <a:prstGeom prst="roundRect">
            <a:avLst>
              <a:gd name="adj" fmla="val 7476"/>
            </a:avLst>
          </a:prstGeom>
          <a:solidFill>
            <a:srgbClr val="0A0A0A">
              <a:alpha val="95000"/>
            </a:srgbClr>
          </a:solidFill>
          <a:ln w="12700">
            <a:solidFill>
              <a:srgbClr val="8D2424"/>
            </a:solidFill>
            <a:prstDash val="solid"/>
          </a:ln>
        </p:spPr>
      </p:sp>
      <p:sp>
        <p:nvSpPr>
          <p:cNvPr id="11" name="Text 8"/>
          <p:cNvSpPr/>
          <p:nvPr/>
        </p:nvSpPr>
        <p:spPr>
          <a:xfrm>
            <a:off x="4411651" y="5419725"/>
            <a:ext cx="3368293" cy="184348"/>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050" dirty="0">
                <a:solidFill>
                  <a:srgbClr val="FFE5E5"/>
                </a:solidFill>
                <a:latin typeface="Dela Gothic One" pitchFamily="34" charset="0"/>
                <a:ea typeface="Dela Gothic One" pitchFamily="34" charset="-122"/>
                <a:cs typeface="Dela Gothic One" pitchFamily="34" charset="-120"/>
              </a:rPr>
              <a:t> Protagonista</a:t>
            </a:r>
            <a:endParaRPr lang="en-US" sz="1050" dirty="0"/>
          </a:p>
        </p:txBody>
      </p:sp>
      <p:sp>
        <p:nvSpPr>
          <p:cNvPr id="12" name="Text 9"/>
          <p:cNvSpPr/>
          <p:nvPr/>
        </p:nvSpPr>
        <p:spPr>
          <a:xfrm>
            <a:off x="4411651" y="5640189"/>
            <a:ext cx="3368293" cy="131763"/>
          </a:xfrm>
          <a:prstGeom prst="rect">
            <a:avLst/>
          </a:prstGeom>
          <a:noFill/>
          <a:ln/>
        </p:spPr>
        <p:txBody>
          <a:bodyPr wrap="none" lIns="0" tIns="0" rIns="0" bIns="0" rtlCol="0" anchor="t"/>
          <a:lstStyle/>
          <a:p>
            <a:pPr algn="l" indent="0" marL="0">
              <a:lnSpc>
                <a:spcPct val="105000"/>
              </a:lnSpc>
              <a:buNone/>
            </a:pPr>
            <a:r>
              <a:rPr lang="en-US" sz="800" dirty="0">
                <a:solidFill>
                  <a:srgbClr val="FFE5E5"/>
                </a:solidFill>
                <a:latin typeface="DM Sans" pitchFamily="34" charset="0"/>
                <a:ea typeface="DM Sans" pitchFamily="34" charset="-122"/>
                <a:cs typeface="DM Sans" pitchFamily="34" charset="-120"/>
              </a:rPr>
              <a:t>Michael C. Hall</a:t>
            </a:r>
            <a:endParaRPr lang="en-US" sz="800" dirty="0"/>
          </a:p>
        </p:txBody>
      </p:sp>
      <p:sp>
        <p:nvSpPr>
          <p:cNvPr id="13" name="Shape 10"/>
          <p:cNvSpPr/>
          <p:nvPr/>
        </p:nvSpPr>
        <p:spPr>
          <a:xfrm>
            <a:off x="7957343" y="5302647"/>
            <a:ext cx="3602443" cy="586383"/>
          </a:xfrm>
          <a:prstGeom prst="roundRect">
            <a:avLst>
              <a:gd name="adj" fmla="val 7476"/>
            </a:avLst>
          </a:prstGeom>
          <a:solidFill>
            <a:srgbClr val="0A0A0A">
              <a:alpha val="95000"/>
            </a:srgbClr>
          </a:solidFill>
          <a:ln w="12700">
            <a:solidFill>
              <a:srgbClr val="8D2424"/>
            </a:solidFill>
            <a:prstDash val="solid"/>
          </a:ln>
        </p:spPr>
      </p:sp>
      <p:sp>
        <p:nvSpPr>
          <p:cNvPr id="14" name="Text 11"/>
          <p:cNvSpPr/>
          <p:nvPr/>
        </p:nvSpPr>
        <p:spPr>
          <a:xfrm>
            <a:off x="8074418" y="5419725"/>
            <a:ext cx="3368293" cy="184348"/>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050" dirty="0">
                <a:solidFill>
                  <a:srgbClr val="FFE5E5"/>
                </a:solidFill>
                <a:latin typeface="Dela Gothic One" pitchFamily="34" charset="0"/>
                <a:ea typeface="Dela Gothic One" pitchFamily="34" charset="-122"/>
                <a:cs typeface="Dela Gothic One" pitchFamily="34" charset="-120"/>
              </a:rPr>
              <a:t> IMDb</a:t>
            </a:r>
            <a:endParaRPr lang="en-US" sz="1050" dirty="0"/>
          </a:p>
        </p:txBody>
      </p:sp>
      <p:sp>
        <p:nvSpPr>
          <p:cNvPr id="15" name="Text 12"/>
          <p:cNvSpPr/>
          <p:nvPr/>
        </p:nvSpPr>
        <p:spPr>
          <a:xfrm>
            <a:off x="8074418" y="5640189"/>
            <a:ext cx="3368293" cy="131763"/>
          </a:xfrm>
          <a:prstGeom prst="rect">
            <a:avLst/>
          </a:prstGeom>
          <a:noFill/>
          <a:ln/>
        </p:spPr>
        <p:txBody>
          <a:bodyPr wrap="none" lIns="0" tIns="0" rIns="0" bIns="0" rtlCol="0" anchor="t"/>
          <a:lstStyle/>
          <a:p>
            <a:pPr algn="l" indent="0" marL="0">
              <a:lnSpc>
                <a:spcPct val="105000"/>
              </a:lnSpc>
              <a:buNone/>
            </a:pPr>
            <a:r>
              <a:rPr lang="en-US" sz="800" dirty="0">
                <a:solidFill>
                  <a:srgbClr val="FFE5E5"/>
                </a:solidFill>
                <a:latin typeface="DM Sans" pitchFamily="34" charset="0"/>
                <a:ea typeface="DM Sans" pitchFamily="34" charset="-122"/>
                <a:cs typeface="DM Sans" pitchFamily="34" charset="-120"/>
              </a:rPr>
              <a:t>Pendiente de confirmación</a:t>
            </a:r>
            <a:endParaRPr lang="en-US" sz="800" dirty="0"/>
          </a:p>
        </p:txBody>
      </p:sp>
      <p:sp>
        <p:nvSpPr>
          <p:cNvPr id="16" name="Shape 13"/>
          <p:cNvSpPr/>
          <p:nvPr/>
        </p:nvSpPr>
        <p:spPr>
          <a:xfrm>
            <a:off x="631908" y="5956895"/>
            <a:ext cx="10927878" cy="393105"/>
          </a:xfrm>
          <a:prstGeom prst="roundRect">
            <a:avLst>
              <a:gd name="adj" fmla="val 11152"/>
            </a:avLst>
          </a:prstGeom>
          <a:solidFill>
            <a:srgbClr val="740B0B"/>
          </a:solidFill>
          <a:ln w="6350">
            <a:solidFill>
              <a:srgbClr val="8D2424"/>
            </a:solidFill>
            <a:prstDash val="solid"/>
          </a:ln>
        </p:spPr>
      </p:sp>
      <p:sp>
        <p:nvSpPr>
          <p:cNvPr id="17" name="Shape 14"/>
          <p:cNvSpPr/>
          <p:nvPr/>
        </p:nvSpPr>
        <p:spPr>
          <a:xfrm>
            <a:off x="638258" y="5963245"/>
            <a:ext cx="5457589" cy="380405"/>
          </a:xfrm>
          <a:custGeom>
            <a:avLst/>
            <a:gdLst/>
            <a:ahLst/>
            <a:cxnLst/>
            <a:rect l="l" t="t" r="r" b="b"/>
            <a:pathLst>
              <a:path w="5457589" h="380405">
                <a:moveTo>
                  <a:pt x="36533" y="0"/>
                </a:moveTo>
                <a:lnTo>
                  <a:pt x="5457589" y="0"/>
                </a:lnTo>
                <a:lnTo>
                  <a:pt x="5457589" y="380405"/>
                </a:lnTo>
                <a:lnTo>
                  <a:pt x="36533" y="380405"/>
                </a:lnTo>
                <a:arcTo hR="36534" wR="36533" stAng="5400000" swAng="5400000"/>
                <a:lnTo>
                  <a:pt x="0" y="36534"/>
                </a:lnTo>
                <a:arcTo hR="36534" wR="36533" stAng="10800000" swAng="5400000"/>
                <a:close/>
              </a:path>
            </a:pathLst>
          </a:custGeom>
          <a:solidFill>
            <a:srgbClr val="740B0B"/>
          </a:solidFill>
          <a:ln/>
        </p:spPr>
      </p:sp>
      <p:sp>
        <p:nvSpPr>
          <p:cNvPr id="18" name="Text 15"/>
          <p:cNvSpPr/>
          <p:nvPr/>
        </p:nvSpPr>
        <p:spPr>
          <a:xfrm>
            <a:off x="742634" y="6067623"/>
            <a:ext cx="5248838" cy="171648"/>
          </a:xfrm>
          <a:prstGeom prst="rect">
            <a:avLst/>
          </a:prstGeom>
          <a:noFill/>
          <a:ln/>
        </p:spPr>
        <p:txBody>
          <a:bodyPr wrap="none" lIns="0" tIns="0" rIns="0" bIns="0" rtlCol="0" anchor="t"/>
          <a:lstStyle/>
          <a:p>
            <a:pPr algn="l" indent="0" marL="0">
              <a:lnSpc>
                <a:spcPct val="104000"/>
              </a:lnSpc>
              <a:buNone/>
            </a:pPr>
            <a:r>
              <a:rPr lang="en-US" sz="1050" dirty="0">
                <a:solidFill>
                  <a:srgbClr val="FFE5E5"/>
                </a:solidFill>
                <a:latin typeface="Dela Gothic One" pitchFamily="34" charset="0"/>
                <a:ea typeface="Dela Gothic One" pitchFamily="34" charset="-122"/>
                <a:cs typeface="Dela Gothic One" pitchFamily="34" charset="-120"/>
              </a:rPr>
              <a:t>1 Temporada</a:t>
            </a:r>
            <a:endParaRPr lang="en-US" sz="1050" dirty="0"/>
          </a:p>
        </p:txBody>
      </p:sp>
      <p:sp>
        <p:nvSpPr>
          <p:cNvPr id="19" name="Shape 16"/>
          <p:cNvSpPr/>
          <p:nvPr/>
        </p:nvSpPr>
        <p:spPr>
          <a:xfrm>
            <a:off x="6095848" y="5963245"/>
            <a:ext cx="5457589" cy="380405"/>
          </a:xfrm>
          <a:custGeom>
            <a:avLst/>
            <a:gdLst/>
            <a:ahLst/>
            <a:cxnLst/>
            <a:rect l="l" t="t" r="r" b="b"/>
            <a:pathLst>
              <a:path w="5457589" h="380405">
                <a:moveTo>
                  <a:pt x="0" y="0"/>
                </a:moveTo>
                <a:lnTo>
                  <a:pt x="5421057" y="0"/>
                </a:lnTo>
                <a:arcTo hR="36534" wR="36533" stAng="16200000" swAng="5400000"/>
                <a:lnTo>
                  <a:pt x="5457589" y="343871"/>
                </a:lnTo>
                <a:arcTo hR="36534" wR="36533" stAng="0" swAng="5400000"/>
                <a:lnTo>
                  <a:pt x="0" y="380405"/>
                </a:lnTo>
                <a:lnTo>
                  <a:pt x="0" y="0"/>
                </a:lnTo>
                <a:close/>
              </a:path>
            </a:pathLst>
          </a:custGeom>
          <a:solidFill>
            <a:srgbClr val="740B0B"/>
          </a:solidFill>
          <a:ln/>
        </p:spPr>
      </p:sp>
      <p:sp>
        <p:nvSpPr>
          <p:cNvPr id="20" name="Shape 17"/>
          <p:cNvSpPr/>
          <p:nvPr/>
        </p:nvSpPr>
        <p:spPr>
          <a:xfrm>
            <a:off x="6095848" y="5963245"/>
            <a:ext cx="12700" cy="380405"/>
          </a:xfrm>
          <a:prstGeom prst="roundRect">
            <a:avLst>
              <a:gd name="adj" fmla="val 49999"/>
            </a:avLst>
          </a:prstGeom>
          <a:solidFill>
            <a:srgbClr val="8D2424"/>
          </a:solidFill>
          <a:ln/>
        </p:spPr>
      </p:sp>
      <p:sp>
        <p:nvSpPr>
          <p:cNvPr id="21" name="Text 18"/>
          <p:cNvSpPr/>
          <p:nvPr/>
        </p:nvSpPr>
        <p:spPr>
          <a:xfrm>
            <a:off x="6200223" y="6067623"/>
            <a:ext cx="5248838" cy="171648"/>
          </a:xfrm>
          <a:prstGeom prst="rect">
            <a:avLst/>
          </a:prstGeom>
          <a:noFill/>
          <a:ln/>
        </p:spPr>
        <p:txBody>
          <a:bodyPr wrap="none" lIns="0" tIns="0" rIns="0" bIns="0" rtlCol="0" anchor="t"/>
          <a:lstStyle/>
          <a:p>
            <a:pPr algn="l" indent="0" marL="0">
              <a:lnSpc>
                <a:spcPct val="104000"/>
              </a:lnSpc>
              <a:buNone/>
            </a:pPr>
            <a:r>
              <a:rPr lang="en-US" sz="1050" dirty="0">
                <a:solidFill>
                  <a:srgbClr val="FFE5E5"/>
                </a:solidFill>
                <a:latin typeface="Dela Gothic One" pitchFamily="34" charset="0"/>
                <a:ea typeface="Dela Gothic One" pitchFamily="34" charset="-122"/>
                <a:cs typeface="Dela Gothic One" pitchFamily="34" charset="-120"/>
              </a:rPr>
              <a:t>8 Episodios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31908" y="496491"/>
            <a:ext cx="1390516" cy="137021"/>
          </a:xfrm>
          <a:prstGeom prst="roundRect">
            <a:avLst>
              <a:gd name="adj" fmla="val 22137"/>
            </a:avLst>
          </a:prstGeom>
          <a:solidFill>
            <a:srgbClr val="460707"/>
          </a:solidFill>
          <a:ln/>
        </p:spPr>
      </p:sp>
      <p:sp>
        <p:nvSpPr>
          <p:cNvPr id="3" name="Text 1"/>
          <p:cNvSpPr/>
          <p:nvPr/>
        </p:nvSpPr>
        <p:spPr>
          <a:xfrm>
            <a:off x="685981" y="523478"/>
            <a:ext cx="1891955" cy="83046"/>
          </a:xfrm>
          <a:prstGeom prst="rect">
            <a:avLst/>
          </a:prstGeom>
          <a:noFill/>
          <a:ln/>
        </p:spPr>
        <p:txBody>
          <a:bodyPr wrap="none" lIns="0" tIns="0" rIns="0" bIns="0" rtlCol="0" anchor="t"/>
          <a:lstStyle/>
          <a:p>
            <a:pPr algn="l" indent="0" marL="0">
              <a:lnSpc>
                <a:spcPct val="96000"/>
              </a:lnSpc>
              <a:buNone/>
            </a:pPr>
            <a:r>
              <a:rPr lang="en-US" sz="550" dirty="0">
                <a:solidFill>
                  <a:srgbClr val="FFE5E5"/>
                </a:solidFill>
                <a:latin typeface="DM Sans" pitchFamily="34" charset="0"/>
                <a:ea typeface="DM Sans" pitchFamily="34" charset="-122"/>
                <a:cs typeface="DM Sans" pitchFamily="34" charset="-120"/>
              </a:rPr>
              <a:t>ÉXITO INTERNACIONAL · ESPAÑA · 2021</a:t>
            </a:r>
            <a:endParaRPr lang="en-US" sz="550" dirty="0"/>
          </a:p>
        </p:txBody>
      </p:sp>
      <p:sp>
        <p:nvSpPr>
          <p:cNvPr id="4" name="Text 2"/>
          <p:cNvSpPr/>
          <p:nvPr/>
        </p:nvSpPr>
        <p:spPr>
          <a:xfrm>
            <a:off x="631908" y="651470"/>
            <a:ext cx="10927878" cy="296863"/>
          </a:xfrm>
          <a:prstGeom prst="rect">
            <a:avLst/>
          </a:prstGeom>
          <a:noFill/>
          <a:ln/>
        </p:spPr>
        <p:txBody>
          <a:bodyPr wrap="none" lIns="0" tIns="0" rIns="0" bIns="0" rtlCol="0" anchor="t"/>
          <a:lstStyle/>
          <a:p>
            <a:pPr algn="l" indent="0" marL="0">
              <a:lnSpc>
                <a:spcPct val="104000"/>
              </a:lnSpc>
              <a:buNone/>
            </a:pPr>
            <a:r>
              <a:rPr lang="en-US" sz="1850" dirty="0">
                <a:solidFill>
                  <a:srgbClr val="FAEBEB"/>
                </a:solidFill>
                <a:latin typeface="Dela Gothic One" pitchFamily="34" charset="0"/>
                <a:ea typeface="Dela Gothic One" pitchFamily="34" charset="-122"/>
                <a:cs typeface="Dela Gothic One" pitchFamily="34" charset="-120"/>
              </a:rPr>
              <a:t>El Inocente</a:t>
            </a:r>
            <a:endParaRPr lang="en-US" sz="1850" dirty="0"/>
          </a:p>
        </p:txBody>
      </p:sp>
      <p:sp>
        <p:nvSpPr>
          <p:cNvPr id="5" name="Text 3"/>
          <p:cNvSpPr/>
          <p:nvPr/>
        </p:nvSpPr>
        <p:spPr>
          <a:xfrm>
            <a:off x="631908" y="2800350"/>
            <a:ext cx="3681519" cy="148431"/>
          </a:xfrm>
          <a:prstGeom prst="rect">
            <a:avLst/>
          </a:prstGeom>
          <a:noFill/>
          <a:ln/>
        </p:spPr>
        <p:txBody>
          <a:bodyPr wrap="none" lIns="0" tIns="0" rIns="0" bIns="0" rtlCol="0" anchor="t"/>
          <a:lstStyle/>
          <a:p>
            <a:pPr algn="l" indent="0" marL="0">
              <a:lnSpc>
                <a:spcPct val="104000"/>
              </a:lnSpc>
              <a:buNone/>
            </a:pPr>
            <a:r>
              <a:rPr lang="en-US" sz="900" dirty="0">
                <a:solidFill>
                  <a:srgbClr val="FAEBEB"/>
                </a:solidFill>
                <a:latin typeface="Dela Gothic One" pitchFamily="34" charset="0"/>
                <a:ea typeface="Dela Gothic One" pitchFamily="34" charset="-122"/>
                <a:cs typeface="Dela Gothic One" pitchFamily="34" charset="-120"/>
              </a:rPr>
              <a:t>La Trama</a:t>
            </a:r>
            <a:endParaRPr lang="en-US" sz="900" dirty="0"/>
          </a:p>
        </p:txBody>
      </p:sp>
      <p:sp>
        <p:nvSpPr>
          <p:cNvPr id="6" name="Text 4"/>
          <p:cNvSpPr/>
          <p:nvPr/>
        </p:nvSpPr>
        <p:spPr>
          <a:xfrm>
            <a:off x="631908" y="2993827"/>
            <a:ext cx="3681519" cy="325041"/>
          </a:xfrm>
          <a:prstGeom prst="rect">
            <a:avLst/>
          </a:prstGeom>
          <a:noFill/>
          <a:ln/>
        </p:spPr>
        <p:txBody>
          <a:bodyPr wrap="square" lIns="0" tIns="0" rIns="0" bIns="0" rtlCol="0" anchor="t">
            <a:normAutofit/>
          </a:bodyPr>
          <a:lstStyle/>
          <a:p>
            <a:pPr algn="l" indent="0" marL="0">
              <a:lnSpc>
                <a:spcPct val="100000"/>
              </a:lnSpc>
              <a:buNone/>
            </a:pPr>
            <a:r>
              <a:rPr lang="en-US" sz="700" dirty="0">
                <a:solidFill>
                  <a:srgbClr val="FFE5E5"/>
                </a:solidFill>
                <a:latin typeface="DM Sans" pitchFamily="34" charset="0"/>
                <a:ea typeface="DM Sans" pitchFamily="34" charset="-122"/>
                <a:cs typeface="DM Sans" pitchFamily="34" charset="-120"/>
              </a:rPr>
              <a:t>Una llamada inesperada despierta los fantasmas del pasado de Mateo. Una muerte accidental cometida años atrás lo arrastra a un espiral de mentiras y secretos que amenazan su nueva vida.</a:t>
            </a:r>
            <a:endParaRPr lang="en-US" sz="700" dirty="0"/>
          </a:p>
        </p:txBody>
      </p:sp>
      <p:pic>
        <p:nvPicPr>
          <p:cNvPr id="7" name="Image 0" descr="preencoded.png">    </p:cNvPr>
          <p:cNvPicPr>
            <a:picLocks noChangeAspect="1"/>
          </p:cNvPicPr>
          <p:nvPr/>
        </p:nvPicPr>
        <p:blipFill>
          <a:blip r:embed="rId1"/>
          <a:stretch>
            <a:fillRect/>
          </a:stretch>
        </p:blipFill>
        <p:spPr>
          <a:xfrm>
            <a:off x="4540037" y="1066701"/>
            <a:ext cx="7026000" cy="3981450"/>
          </a:xfrm>
          <a:prstGeom prst="rect">
            <a:avLst/>
          </a:prstGeom>
        </p:spPr>
      </p:pic>
      <p:sp>
        <p:nvSpPr>
          <p:cNvPr id="8" name="Shape 5"/>
          <p:cNvSpPr/>
          <p:nvPr/>
        </p:nvSpPr>
        <p:spPr>
          <a:xfrm>
            <a:off x="631908" y="5149552"/>
            <a:ext cx="3612564" cy="341511"/>
          </a:xfrm>
          <a:prstGeom prst="roundRect">
            <a:avLst>
              <a:gd name="adj" fmla="val 11102"/>
            </a:avLst>
          </a:prstGeom>
          <a:solidFill>
            <a:srgbClr val="740B0B"/>
          </a:solidFill>
          <a:ln w="6350">
            <a:solidFill>
              <a:srgbClr val="8D2424"/>
            </a:solidFill>
            <a:prstDash val="solid"/>
          </a:ln>
        </p:spPr>
      </p:sp>
      <p:sp>
        <p:nvSpPr>
          <p:cNvPr id="9" name="Text 6"/>
          <p:cNvSpPr/>
          <p:nvPr/>
        </p:nvSpPr>
        <p:spPr>
          <a:xfrm>
            <a:off x="728446" y="5246092"/>
            <a:ext cx="3419489" cy="148431"/>
          </a:xfrm>
          <a:prstGeom prst="rect">
            <a:avLst/>
          </a:prstGeom>
          <a:noFill/>
          <a:ln/>
        </p:spPr>
        <p:txBody>
          <a:bodyPr wrap="none" lIns="0" tIns="0" rIns="0" bIns="0" rtlCol="0" anchor="t"/>
          <a:lstStyle/>
          <a:p>
            <a:pPr algn="l" indent="0" marL="0">
              <a:lnSpc>
                <a:spcPct val="104000"/>
              </a:lnSpc>
              <a:buNone/>
            </a:pPr>
            <a:r>
              <a:rPr lang="en-US" sz="900" dirty="0">
                <a:solidFill>
                  <a:srgbClr val="FFE5E5"/>
                </a:solidFill>
                <a:latin typeface="Dela Gothic One" pitchFamily="34" charset="0"/>
                <a:ea typeface="Dela Gothic One" pitchFamily="34" charset="-122"/>
                <a:cs typeface="Dela Gothic One" pitchFamily="34" charset="-120"/>
              </a:rPr>
              <a:t>Thriller / Drama</a:t>
            </a:r>
            <a:endParaRPr lang="en-US" sz="900" dirty="0"/>
          </a:p>
        </p:txBody>
      </p:sp>
      <p:sp>
        <p:nvSpPr>
          <p:cNvPr id="10" name="Shape 7"/>
          <p:cNvSpPr/>
          <p:nvPr/>
        </p:nvSpPr>
        <p:spPr>
          <a:xfrm>
            <a:off x="4289516" y="5149552"/>
            <a:ext cx="3612564" cy="341511"/>
          </a:xfrm>
          <a:prstGeom prst="roundRect">
            <a:avLst>
              <a:gd name="adj" fmla="val 11102"/>
            </a:avLst>
          </a:prstGeom>
          <a:solidFill>
            <a:srgbClr val="740B0B"/>
          </a:solidFill>
          <a:ln w="6350">
            <a:solidFill>
              <a:srgbClr val="8D2424"/>
            </a:solidFill>
            <a:prstDash val="solid"/>
          </a:ln>
        </p:spPr>
      </p:sp>
      <p:sp>
        <p:nvSpPr>
          <p:cNvPr id="11" name="Text 8"/>
          <p:cNvSpPr/>
          <p:nvPr/>
        </p:nvSpPr>
        <p:spPr>
          <a:xfrm>
            <a:off x="4386054" y="5246092"/>
            <a:ext cx="3419489" cy="148431"/>
          </a:xfrm>
          <a:prstGeom prst="rect">
            <a:avLst/>
          </a:prstGeom>
          <a:noFill/>
          <a:ln/>
        </p:spPr>
        <p:txBody>
          <a:bodyPr wrap="none" lIns="0" tIns="0" rIns="0" bIns="0" rtlCol="0" anchor="t"/>
          <a:lstStyle/>
          <a:p>
            <a:pPr algn="l" indent="0" marL="0">
              <a:lnSpc>
                <a:spcPct val="104000"/>
              </a:lnSpc>
              <a:buNone/>
            </a:pPr>
            <a:r>
              <a:rPr lang="en-US" sz="900" dirty="0">
                <a:solidFill>
                  <a:srgbClr val="FFE5E5"/>
                </a:solidFill>
                <a:latin typeface="Dela Gothic One" pitchFamily="34" charset="0"/>
                <a:ea typeface="Dela Gothic One" pitchFamily="34" charset="-122"/>
                <a:cs typeface="Dela Gothic One" pitchFamily="34" charset="-120"/>
              </a:rPr>
              <a:t>Mario Casas</a:t>
            </a:r>
            <a:endParaRPr lang="en-US" sz="900" dirty="0"/>
          </a:p>
        </p:txBody>
      </p:sp>
      <p:sp>
        <p:nvSpPr>
          <p:cNvPr id="12" name="Shape 9"/>
          <p:cNvSpPr/>
          <p:nvPr/>
        </p:nvSpPr>
        <p:spPr>
          <a:xfrm>
            <a:off x="7947124" y="5149552"/>
            <a:ext cx="3612564" cy="341511"/>
          </a:xfrm>
          <a:prstGeom prst="roundRect">
            <a:avLst>
              <a:gd name="adj" fmla="val 11102"/>
            </a:avLst>
          </a:prstGeom>
          <a:solidFill>
            <a:srgbClr val="740B0B"/>
          </a:solidFill>
          <a:ln w="6350">
            <a:solidFill>
              <a:srgbClr val="8D2424"/>
            </a:solidFill>
            <a:prstDash val="solid"/>
          </a:ln>
        </p:spPr>
      </p:sp>
      <p:sp>
        <p:nvSpPr>
          <p:cNvPr id="13" name="Text 10"/>
          <p:cNvSpPr/>
          <p:nvPr/>
        </p:nvSpPr>
        <p:spPr>
          <a:xfrm>
            <a:off x="8043661" y="5246092"/>
            <a:ext cx="3419489" cy="148431"/>
          </a:xfrm>
          <a:prstGeom prst="rect">
            <a:avLst/>
          </a:prstGeom>
          <a:noFill/>
          <a:ln/>
        </p:spPr>
        <p:txBody>
          <a:bodyPr wrap="none" lIns="0" tIns="0" rIns="0" bIns="0" rtlCol="0" anchor="t"/>
          <a:lstStyle/>
          <a:p>
            <a:pPr algn="l" indent="0" marL="0">
              <a:lnSpc>
                <a:spcPct val="104000"/>
              </a:lnSpc>
              <a:buNone/>
            </a:pPr>
            <a:r>
              <a:rPr lang="en-US" sz="900" dirty="0">
                <a:solidFill>
                  <a:srgbClr val="FFE5E5"/>
                </a:solidFill>
                <a:latin typeface="Dela Gothic One" pitchFamily="34" charset="0"/>
                <a:ea typeface="Dela Gothic One" pitchFamily="34" charset="-122"/>
                <a:cs typeface="Dela Gothic One" pitchFamily="34" charset="-120"/>
              </a:rPr>
              <a:t>8 episodios</a:t>
            </a:r>
            <a:endParaRPr lang="en-US" sz="900" dirty="0"/>
          </a:p>
        </p:txBody>
      </p:sp>
      <p:sp>
        <p:nvSpPr>
          <p:cNvPr id="14" name="Text 11"/>
          <p:cNvSpPr/>
          <p:nvPr/>
        </p:nvSpPr>
        <p:spPr>
          <a:xfrm>
            <a:off x="5540633" y="6128445"/>
            <a:ext cx="1110329" cy="225723"/>
          </a:xfrm>
          <a:prstGeom prst="rect">
            <a:avLst/>
          </a:prstGeom>
          <a:noFill/>
          <a:ln/>
        </p:spPr>
        <p:txBody>
          <a:bodyPr wrap="none" lIns="0" tIns="0" rIns="0" bIns="0" rtlCol="0" anchor="t"/>
          <a:lstStyle/>
          <a:p>
            <a:pPr algn="ctr" indent="0" marL="0">
              <a:lnSpc>
                <a:spcPct val="83000"/>
              </a:lnSpc>
              <a:buNone/>
            </a:pPr>
            <a:r>
              <a:rPr lang="en-US" sz="1750" dirty="0">
                <a:solidFill>
                  <a:srgbClr val="FFE5E5"/>
                </a:solidFill>
                <a:latin typeface="Dela Gothic One" pitchFamily="34" charset="0"/>
                <a:ea typeface="Dela Gothic One" pitchFamily="34" charset="-122"/>
                <a:cs typeface="Dela Gothic One" pitchFamily="34" charset="-120"/>
              </a:rPr>
              <a:t>7.9/10</a:t>
            </a:r>
            <a:endParaRPr lang="en-US" sz="1750" dirty="0"/>
          </a:p>
        </p:txBody>
      </p:sp>
      <p:pic>
        <p:nvPicPr>
          <p:cNvPr id="15" name="Image 1" descr="preencoded.png">    </p:cNvPr>
          <p:cNvPicPr>
            <a:picLocks noChangeAspect="1"/>
          </p:cNvPicPr>
          <p:nvPr/>
        </p:nvPicPr>
        <p:blipFill>
          <a:blip r:embed="rId2"/>
          <a:stretch>
            <a:fillRect/>
          </a:stretch>
        </p:blipFill>
        <p:spPr>
          <a:xfrm>
            <a:off x="5418796" y="5564287"/>
            <a:ext cx="1354104" cy="1354138"/>
          </a:xfrm>
          <a:prstGeom prst="rect">
            <a:avLst/>
          </a:prstGeom>
        </p:spPr>
      </p:pic>
      <p:sp>
        <p:nvSpPr>
          <p:cNvPr id="16" name="Text 12"/>
          <p:cNvSpPr/>
          <p:nvPr/>
        </p:nvSpPr>
        <p:spPr>
          <a:xfrm>
            <a:off x="631908" y="6985992"/>
            <a:ext cx="10927878" cy="148431"/>
          </a:xfrm>
          <a:prstGeom prst="rect">
            <a:avLst/>
          </a:prstGeom>
          <a:noFill/>
          <a:ln/>
        </p:spPr>
        <p:txBody>
          <a:bodyPr wrap="none" lIns="0" tIns="0" rIns="0" bIns="0" rtlCol="0" anchor="t"/>
          <a:lstStyle/>
          <a:p>
            <a:pPr algn="ctr" indent="0" marL="0">
              <a:lnSpc>
                <a:spcPct val="104000"/>
              </a:lnSpc>
              <a:buNone/>
            </a:pPr>
            <a:r>
              <a:rPr lang="en-US" sz="900" dirty="0">
                <a:solidFill>
                  <a:srgbClr val="FFE5E5"/>
                </a:solidFill>
                <a:latin typeface="Dela Gothic One" pitchFamily="34" charset="0"/>
                <a:ea typeface="Dela Gothic One" pitchFamily="34" charset="-122"/>
                <a:cs typeface="Dela Gothic One" pitchFamily="34" charset="-120"/>
              </a:rPr>
              <a:t>Puntuación IMDb</a:t>
            </a:r>
            <a:endParaRPr lang="en-US" sz="900" dirty="0"/>
          </a:p>
        </p:txBody>
      </p:sp>
      <p:sp>
        <p:nvSpPr>
          <p:cNvPr id="17" name="Text 13"/>
          <p:cNvSpPr/>
          <p:nvPr/>
        </p:nvSpPr>
        <p:spPr>
          <a:xfrm>
            <a:off x="631908" y="7161411"/>
            <a:ext cx="10927878" cy="108347"/>
          </a:xfrm>
          <a:prstGeom prst="rect">
            <a:avLst/>
          </a:prstGeom>
          <a:noFill/>
          <a:ln/>
        </p:spPr>
        <p:txBody>
          <a:bodyPr wrap="none" lIns="0" tIns="0" rIns="0" bIns="0" rtlCol="0" anchor="t"/>
          <a:lstStyle/>
          <a:p>
            <a:pPr algn="ctr" indent="0" marL="0">
              <a:lnSpc>
                <a:spcPct val="100000"/>
              </a:lnSpc>
              <a:buNone/>
            </a:pPr>
            <a:r>
              <a:rPr lang="en-US" sz="700" dirty="0">
                <a:solidFill>
                  <a:srgbClr val="FFE5E5"/>
                </a:solidFill>
                <a:latin typeface="DM Sans" pitchFamily="34" charset="0"/>
                <a:ea typeface="DM Sans" pitchFamily="34" charset="-122"/>
                <a:cs typeface="DM Sans" pitchFamily="34" charset="-120"/>
              </a:rPr>
              <a:t>Una de las adaptaciones mejor valoradas del universo Coben</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31908" y="507802"/>
            <a:ext cx="922711" cy="197048"/>
          </a:xfrm>
          <a:prstGeom prst="roundRect">
            <a:avLst>
              <a:gd name="adj" fmla="val 22128"/>
            </a:avLst>
          </a:prstGeom>
          <a:solidFill>
            <a:srgbClr val="460707"/>
          </a:solidFill>
          <a:ln/>
        </p:spPr>
      </p:sp>
      <p:sp>
        <p:nvSpPr>
          <p:cNvPr id="3" name="Text 1"/>
          <p:cNvSpPr/>
          <p:nvPr/>
        </p:nvSpPr>
        <p:spPr>
          <a:xfrm>
            <a:off x="709694" y="546695"/>
            <a:ext cx="1376725" cy="119261"/>
          </a:xfrm>
          <a:prstGeom prst="rect">
            <a:avLst/>
          </a:prstGeom>
          <a:noFill/>
          <a:ln/>
        </p:spPr>
        <p:txBody>
          <a:bodyPr wrap="none" lIns="0" tIns="0" rIns="0" bIns="0" rtlCol="0" anchor="t"/>
          <a:lstStyle/>
          <a:p>
            <a:pPr algn="l" indent="0" marL="0">
              <a:lnSpc>
                <a:spcPct val="96000"/>
              </a:lnSpc>
              <a:buNone/>
            </a:pPr>
            <a:r>
              <a:rPr lang="en-US" sz="800" dirty="0">
                <a:solidFill>
                  <a:srgbClr val="FFE5E5"/>
                </a:solidFill>
                <a:latin typeface="DM Sans" pitchFamily="34" charset="0"/>
                <a:ea typeface="DM Sans" pitchFamily="34" charset="-122"/>
                <a:cs typeface="DM Sans" pitchFamily="34" charset="-120"/>
              </a:rPr>
              <a:t>POLONIA · 2020</a:t>
            </a:r>
            <a:endParaRPr lang="en-US" sz="800" dirty="0"/>
          </a:p>
        </p:txBody>
      </p:sp>
      <p:sp>
        <p:nvSpPr>
          <p:cNvPr id="4" name="Text 2"/>
          <p:cNvSpPr/>
          <p:nvPr/>
        </p:nvSpPr>
        <p:spPr>
          <a:xfrm>
            <a:off x="631908" y="742156"/>
            <a:ext cx="10927878" cy="426839"/>
          </a:xfrm>
          <a:prstGeom prst="rect">
            <a:avLst/>
          </a:prstGeom>
          <a:noFill/>
          <a:ln/>
        </p:spPr>
        <p:txBody>
          <a:bodyPr wrap="none" lIns="0" tIns="0" rIns="0" bIns="0" rtlCol="0" anchor="t"/>
          <a:lstStyle/>
          <a:p>
            <a:pPr algn="l" indent="0" marL="0">
              <a:lnSpc>
                <a:spcPct val="104000"/>
              </a:lnSpc>
              <a:buNone/>
            </a:pPr>
            <a:r>
              <a:rPr lang="en-US" sz="2650" dirty="0">
                <a:solidFill>
                  <a:srgbClr val="FAEBEB"/>
                </a:solidFill>
                <a:latin typeface="Dela Gothic One" pitchFamily="34" charset="0"/>
                <a:ea typeface="Dela Gothic One" pitchFamily="34" charset="-122"/>
                <a:cs typeface="Dela Gothic One" pitchFamily="34" charset="-120"/>
              </a:rPr>
              <a:t>Bosque Adentro</a:t>
            </a:r>
            <a:endParaRPr lang="en-US" sz="2650" dirty="0"/>
          </a:p>
        </p:txBody>
      </p:sp>
      <p:pic>
        <p:nvPicPr>
          <p:cNvPr id="5" name="Image 0" descr="preencoded.png">    </p:cNvPr>
          <p:cNvPicPr>
            <a:picLocks noChangeAspect="1"/>
          </p:cNvPicPr>
          <p:nvPr/>
        </p:nvPicPr>
        <p:blipFill>
          <a:blip r:embed="rId1"/>
          <a:stretch>
            <a:fillRect/>
          </a:stretch>
        </p:blipFill>
        <p:spPr>
          <a:xfrm>
            <a:off x="631908" y="1413768"/>
            <a:ext cx="6992266" cy="3962301"/>
          </a:xfrm>
          <a:prstGeom prst="rect">
            <a:avLst/>
          </a:prstGeom>
        </p:spPr>
      </p:pic>
      <p:sp>
        <p:nvSpPr>
          <p:cNvPr id="6" name="Text 3"/>
          <p:cNvSpPr/>
          <p:nvPr/>
        </p:nvSpPr>
        <p:spPr>
          <a:xfrm>
            <a:off x="7947025" y="3038078"/>
            <a:ext cx="3619013" cy="713581"/>
          </a:xfrm>
          <a:prstGeom prst="rect">
            <a:avLst/>
          </a:prstGeom>
          <a:noFill/>
          <a:ln/>
        </p:spPr>
        <p:txBody>
          <a:bodyPr wrap="square" lIns="0" tIns="0" rIns="0" bIns="0" rtlCol="0" anchor="t">
            <a:normAutofit/>
          </a:bodyPr>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Un fiscal recibe pruebas forenses que sugieren algo imposible: su hermana, desaparecida </a:t>
            </a:r>
            <a:pPr algn="l" indent="0" marL="0">
              <a:lnSpc>
                <a:spcPct val="115000"/>
              </a:lnSpc>
              <a:buNone/>
            </a:pPr>
            <a:r>
              <a:rPr lang="en-US" sz="1000" b="1" dirty="0">
                <a:solidFill>
                  <a:srgbClr val="FFE5E5"/>
                </a:solidFill>
                <a:latin typeface="DM Sans Bold" pitchFamily="34" charset="0"/>
                <a:ea typeface="DM Sans Bold" pitchFamily="34" charset="-122"/>
                <a:cs typeface="DM Sans Bold" pitchFamily="34" charset="-120"/>
              </a:rPr>
              <a:t>25 años atrás</a:t>
            </a:r>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 podría seguir viva. La investigación lo lleva de vuelta a un bosque que nunca debió abandonar.</a:t>
            </a:r>
            <a:endParaRPr lang="en-US" sz="10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1908" y="5585817"/>
            <a:ext cx="2661972" cy="764282"/>
          </a:xfrm>
          <a:prstGeom prst="rect">
            <a:avLst/>
          </a:prstGeom>
        </p:spPr>
      </p:pic>
      <p:sp>
        <p:nvSpPr>
          <p:cNvPr id="8" name="Text 4"/>
          <p:cNvSpPr/>
          <p:nvPr/>
        </p:nvSpPr>
        <p:spPr>
          <a:xfrm>
            <a:off x="856832" y="5734546"/>
            <a:ext cx="2288324" cy="232470"/>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 Género</a:t>
            </a:r>
            <a:endParaRPr lang="en-US" sz="1300" dirty="0"/>
          </a:p>
        </p:txBody>
      </p:sp>
      <p:sp>
        <p:nvSpPr>
          <p:cNvPr id="9" name="Text 5"/>
          <p:cNvSpPr/>
          <p:nvPr/>
        </p:nvSpPr>
        <p:spPr>
          <a:xfrm>
            <a:off x="856832" y="6022975"/>
            <a:ext cx="2288324"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Drama / Misterio</a:t>
            </a:r>
            <a:endParaRPr lang="en-US" sz="10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87144" y="5585817"/>
            <a:ext cx="2662072" cy="764282"/>
          </a:xfrm>
          <a:prstGeom prst="rect">
            <a:avLst/>
          </a:prstGeom>
        </p:spPr>
      </p:pic>
      <p:sp>
        <p:nvSpPr>
          <p:cNvPr id="11" name="Text 6"/>
          <p:cNvSpPr/>
          <p:nvPr/>
        </p:nvSpPr>
        <p:spPr>
          <a:xfrm>
            <a:off x="3612067" y="5734546"/>
            <a:ext cx="2288423" cy="232470"/>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 Protagonista</a:t>
            </a:r>
            <a:endParaRPr lang="en-US" sz="1300" dirty="0"/>
          </a:p>
        </p:txBody>
      </p:sp>
      <p:sp>
        <p:nvSpPr>
          <p:cNvPr id="12" name="Text 7"/>
          <p:cNvSpPr/>
          <p:nvPr/>
        </p:nvSpPr>
        <p:spPr>
          <a:xfrm>
            <a:off x="3612067" y="6022975"/>
            <a:ext cx="2288423"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Grzegorz Damięcki</a:t>
            </a:r>
            <a:endParaRPr lang="en-US" sz="10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42479" y="5585817"/>
            <a:ext cx="2661972" cy="764282"/>
          </a:xfrm>
          <a:prstGeom prst="rect">
            <a:avLst/>
          </a:prstGeom>
        </p:spPr>
      </p:pic>
      <p:sp>
        <p:nvSpPr>
          <p:cNvPr id="14" name="Text 8"/>
          <p:cNvSpPr/>
          <p:nvPr/>
        </p:nvSpPr>
        <p:spPr>
          <a:xfrm>
            <a:off x="6367402" y="5734546"/>
            <a:ext cx="2288324" cy="232470"/>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 IMDb</a:t>
            </a:r>
            <a:endParaRPr lang="en-US" sz="1300" dirty="0"/>
          </a:p>
        </p:txBody>
      </p:sp>
      <p:sp>
        <p:nvSpPr>
          <p:cNvPr id="15" name="Text 9"/>
          <p:cNvSpPr/>
          <p:nvPr/>
        </p:nvSpPr>
        <p:spPr>
          <a:xfrm>
            <a:off x="6367402" y="6022975"/>
            <a:ext cx="2288324"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6.9 / 10</a:t>
            </a:r>
            <a:endParaRPr lang="en-US" sz="10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97715" y="5585817"/>
            <a:ext cx="2662072" cy="764282"/>
          </a:xfrm>
          <a:prstGeom prst="rect">
            <a:avLst/>
          </a:prstGeom>
        </p:spPr>
      </p:pic>
      <p:sp>
        <p:nvSpPr>
          <p:cNvPr id="17" name="Text 10"/>
          <p:cNvSpPr/>
          <p:nvPr/>
        </p:nvSpPr>
        <p:spPr>
          <a:xfrm>
            <a:off x="9122638" y="5734546"/>
            <a:ext cx="2288423" cy="232470"/>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 Formato</a:t>
            </a:r>
            <a:endParaRPr lang="en-US" sz="1300" dirty="0"/>
          </a:p>
        </p:txBody>
      </p:sp>
      <p:sp>
        <p:nvSpPr>
          <p:cNvPr id="18" name="Text 11"/>
          <p:cNvSpPr/>
          <p:nvPr/>
        </p:nvSpPr>
        <p:spPr>
          <a:xfrm>
            <a:off x="9122638" y="6022975"/>
            <a:ext cx="2288423"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1 temporada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203794" y="522288"/>
            <a:ext cx="1353310" cy="244376"/>
          </a:xfrm>
          <a:prstGeom prst="roundRect">
            <a:avLst>
              <a:gd name="adj" fmla="val 22109"/>
            </a:avLst>
          </a:prstGeom>
          <a:solidFill>
            <a:srgbClr val="460707"/>
          </a:solidFill>
          <a:ln/>
        </p:spPr>
      </p:sp>
      <p:sp>
        <p:nvSpPr>
          <p:cNvPr id="4" name="Text 1"/>
          <p:cNvSpPr/>
          <p:nvPr/>
        </p:nvSpPr>
        <p:spPr>
          <a:xfrm>
            <a:off x="5300232" y="570508"/>
            <a:ext cx="1770018" cy="147935"/>
          </a:xfrm>
          <a:prstGeom prst="rect">
            <a:avLst/>
          </a:prstGeom>
          <a:noFill/>
          <a:ln/>
        </p:spPr>
        <p:txBody>
          <a:bodyPr wrap="none" lIns="0" tIns="0" rIns="0" bIns="0" rtlCol="0" anchor="t"/>
          <a:lstStyle/>
          <a:p>
            <a:pPr algn="l" indent="0" marL="0">
              <a:lnSpc>
                <a:spcPct val="96000"/>
              </a:lnSpc>
              <a:buNone/>
            </a:pPr>
            <a:r>
              <a:rPr lang="en-US" sz="1000" dirty="0">
                <a:solidFill>
                  <a:srgbClr val="FFE5E5"/>
                </a:solidFill>
                <a:latin typeface="DM Sans" pitchFamily="34" charset="0"/>
                <a:ea typeface="DM Sans" pitchFamily="34" charset="-122"/>
                <a:cs typeface="DM Sans" pitchFamily="34" charset="-120"/>
              </a:rPr>
              <a:t>REINO UNIDO · 2021</a:t>
            </a:r>
            <a:endParaRPr lang="en-US" sz="1000" dirty="0"/>
          </a:p>
        </p:txBody>
      </p:sp>
      <p:sp>
        <p:nvSpPr>
          <p:cNvPr id="5" name="Text 2"/>
          <p:cNvSpPr/>
          <p:nvPr/>
        </p:nvSpPr>
        <p:spPr>
          <a:xfrm>
            <a:off x="5203794" y="823913"/>
            <a:ext cx="6355993" cy="528935"/>
          </a:xfrm>
          <a:prstGeom prst="rect">
            <a:avLst/>
          </a:prstGeom>
          <a:noFill/>
          <a:ln/>
        </p:spPr>
        <p:txBody>
          <a:bodyPr wrap="none" lIns="0" tIns="0" rIns="0" bIns="0" rtlCol="0" anchor="t"/>
          <a:lstStyle/>
          <a:p>
            <a:pPr algn="l" indent="0" marL="0">
              <a:lnSpc>
                <a:spcPct val="104000"/>
              </a:lnSpc>
              <a:buNone/>
            </a:pPr>
            <a:r>
              <a:rPr lang="en-US" sz="3300" dirty="0">
                <a:solidFill>
                  <a:srgbClr val="FAEBEB"/>
                </a:solidFill>
                <a:latin typeface="Dela Gothic One" pitchFamily="34" charset="0"/>
                <a:ea typeface="Dela Gothic One" pitchFamily="34" charset="-122"/>
                <a:cs typeface="Dela Gothic One" pitchFamily="34" charset="-120"/>
              </a:rPr>
              <a:t>Quédate Cerca</a:t>
            </a:r>
            <a:endParaRPr lang="en-US" sz="3300" dirty="0"/>
          </a:p>
        </p:txBody>
      </p:sp>
      <p:sp>
        <p:nvSpPr>
          <p:cNvPr id="6" name="Text 3"/>
          <p:cNvSpPr/>
          <p:nvPr/>
        </p:nvSpPr>
        <p:spPr>
          <a:xfrm>
            <a:off x="5203794" y="1696541"/>
            <a:ext cx="2981846" cy="1459111"/>
          </a:xfrm>
          <a:prstGeom prst="rect">
            <a:avLst/>
          </a:prstGeom>
          <a:noFill/>
          <a:ln/>
        </p:spPr>
        <p:txBody>
          <a:bodyPr wrap="square" lIns="0" tIns="0" rIns="0" bIns="0" rtlCol="0" anchor="t">
            <a:normAutofit/>
          </a:bodyPr>
          <a:lstStyle/>
          <a:p>
            <a:pPr algn="l" indent="0" marL="0">
              <a:lnSpc>
                <a:spcPct val="126000"/>
              </a:lnSpc>
              <a:buNone/>
            </a:pPr>
            <a:r>
              <a:rPr lang="en-US" sz="1250" dirty="0">
                <a:solidFill>
                  <a:srgbClr val="FFE5E5"/>
                </a:solidFill>
                <a:latin typeface="DM Sans" pitchFamily="34" charset="0"/>
                <a:ea typeface="DM Sans" pitchFamily="34" charset="-122"/>
                <a:cs typeface="DM Sans" pitchFamily="34" charset="-120"/>
              </a:rPr>
              <a:t>Diecisiete años después de la desaparición de una mujer, </a:t>
            </a:r>
            <a:pPr algn="l" indent="0" marL="0">
              <a:lnSpc>
                <a:spcPct val="126000"/>
              </a:lnSpc>
              <a:buNone/>
            </a:pPr>
            <a:r>
              <a:rPr lang="en-US" sz="1250" b="1" dirty="0">
                <a:solidFill>
                  <a:srgbClr val="FFE5E5"/>
                </a:solidFill>
                <a:latin typeface="DM Sans Bold" pitchFamily="34" charset="0"/>
                <a:ea typeface="DM Sans Bold" pitchFamily="34" charset="-122"/>
                <a:cs typeface="DM Sans Bold" pitchFamily="34" charset="-120"/>
              </a:rPr>
              <a:t>Carlton Flynn</a:t>
            </a:r>
            <a:pPr algn="l" indent="0" marL="0">
              <a:lnSpc>
                <a:spcPct val="126000"/>
              </a:lnSpc>
              <a:buNone/>
            </a:pPr>
            <a:r>
              <a:rPr lang="en-US" sz="1250" dirty="0">
                <a:solidFill>
                  <a:srgbClr val="FFE5E5"/>
                </a:solidFill>
                <a:latin typeface="DM Sans" pitchFamily="34" charset="0"/>
                <a:ea typeface="DM Sans" pitchFamily="34" charset="-122"/>
                <a:cs typeface="DM Sans" pitchFamily="34" charset="-120"/>
              </a:rPr>
              <a:t> desaparece en circunstancias idénticas. La detective Lorraine Bracco debe reabrir un caso que muchos preferían olvidar.</a:t>
            </a:r>
            <a:endParaRPr lang="en-US" sz="1250" dirty="0"/>
          </a:p>
        </p:txBody>
      </p:sp>
      <p:sp>
        <p:nvSpPr>
          <p:cNvPr id="7" name="Shape 4"/>
          <p:cNvSpPr/>
          <p:nvPr/>
        </p:nvSpPr>
        <p:spPr>
          <a:xfrm>
            <a:off x="8584291" y="1728688"/>
            <a:ext cx="2981846" cy="1004094"/>
          </a:xfrm>
          <a:prstGeom prst="roundRect">
            <a:avLst>
              <a:gd name="adj" fmla="val 6726"/>
            </a:avLst>
          </a:prstGeom>
          <a:solidFill>
            <a:srgbClr val="740B0B"/>
          </a:solidFill>
          <a:ln w="6350">
            <a:solidFill>
              <a:srgbClr val="8D2424"/>
            </a:solidFill>
            <a:prstDash val="solid"/>
          </a:ln>
        </p:spPr>
      </p:sp>
      <p:sp>
        <p:nvSpPr>
          <p:cNvPr id="8" name="Text 5"/>
          <p:cNvSpPr/>
          <p:nvPr/>
        </p:nvSpPr>
        <p:spPr>
          <a:xfrm>
            <a:off x="8751371" y="1895773"/>
            <a:ext cx="2647685" cy="283567"/>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650" dirty="0">
                <a:solidFill>
                  <a:srgbClr val="FFE5E5"/>
                </a:solidFill>
                <a:latin typeface="Dela Gothic One" pitchFamily="34" charset="0"/>
                <a:ea typeface="Dela Gothic One" pitchFamily="34" charset="-122"/>
                <a:cs typeface="Dela Gothic One" pitchFamily="34" charset="-120"/>
              </a:rPr>
              <a:t> Género</a:t>
            </a:r>
            <a:endParaRPr lang="en-US" sz="1650" dirty="0"/>
          </a:p>
        </p:txBody>
      </p:sp>
      <p:sp>
        <p:nvSpPr>
          <p:cNvPr id="9" name="Text 6"/>
          <p:cNvSpPr/>
          <p:nvPr/>
        </p:nvSpPr>
        <p:spPr>
          <a:xfrm>
            <a:off x="8751371" y="2322513"/>
            <a:ext cx="2647685" cy="243185"/>
          </a:xfrm>
          <a:prstGeom prst="rect">
            <a:avLst/>
          </a:prstGeom>
          <a:noFill/>
          <a:ln/>
        </p:spPr>
        <p:txBody>
          <a:bodyPr wrap="none" lIns="0" tIns="0" rIns="0" bIns="0" rtlCol="0" anchor="t"/>
          <a:lstStyle/>
          <a:p>
            <a:pPr algn="l" indent="0" marL="0">
              <a:lnSpc>
                <a:spcPct val="126000"/>
              </a:lnSpc>
              <a:buNone/>
            </a:pPr>
            <a:r>
              <a:rPr lang="en-US" sz="1250" dirty="0">
                <a:solidFill>
                  <a:srgbClr val="FFE5E5"/>
                </a:solidFill>
                <a:latin typeface="DM Sans" pitchFamily="34" charset="0"/>
                <a:ea typeface="DM Sans" pitchFamily="34" charset="-122"/>
                <a:cs typeface="DM Sans" pitchFamily="34" charset="-120"/>
              </a:rPr>
              <a:t>Crimen / Misterio</a:t>
            </a:r>
            <a:endParaRPr lang="en-US" sz="1250" dirty="0"/>
          </a:p>
        </p:txBody>
      </p:sp>
      <p:sp>
        <p:nvSpPr>
          <p:cNvPr id="10" name="Shape 7"/>
          <p:cNvSpPr/>
          <p:nvPr/>
        </p:nvSpPr>
        <p:spPr>
          <a:xfrm>
            <a:off x="8584291" y="2875955"/>
            <a:ext cx="2981846" cy="1004094"/>
          </a:xfrm>
          <a:prstGeom prst="roundRect">
            <a:avLst>
              <a:gd name="adj" fmla="val 6726"/>
            </a:avLst>
          </a:prstGeom>
          <a:solidFill>
            <a:srgbClr val="740B0B"/>
          </a:solidFill>
          <a:ln w="6350">
            <a:solidFill>
              <a:srgbClr val="8D2424"/>
            </a:solidFill>
            <a:prstDash val="solid"/>
          </a:ln>
        </p:spPr>
      </p:sp>
      <p:sp>
        <p:nvSpPr>
          <p:cNvPr id="11" name="Text 8"/>
          <p:cNvSpPr/>
          <p:nvPr/>
        </p:nvSpPr>
        <p:spPr>
          <a:xfrm>
            <a:off x="8751371" y="3043039"/>
            <a:ext cx="2647685" cy="283567"/>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650" dirty="0">
                <a:solidFill>
                  <a:srgbClr val="FFE5E5"/>
                </a:solidFill>
                <a:latin typeface="Dela Gothic One" pitchFamily="34" charset="0"/>
                <a:ea typeface="Dela Gothic One" pitchFamily="34" charset="-122"/>
                <a:cs typeface="Dela Gothic One" pitchFamily="34" charset="-120"/>
              </a:rPr>
              <a:t> Protagonista</a:t>
            </a:r>
            <a:endParaRPr lang="en-US" sz="1650" dirty="0"/>
          </a:p>
        </p:txBody>
      </p:sp>
      <p:sp>
        <p:nvSpPr>
          <p:cNvPr id="12" name="Text 9"/>
          <p:cNvSpPr/>
          <p:nvPr/>
        </p:nvSpPr>
        <p:spPr>
          <a:xfrm>
            <a:off x="8751371" y="3469779"/>
            <a:ext cx="2647685" cy="243185"/>
          </a:xfrm>
          <a:prstGeom prst="rect">
            <a:avLst/>
          </a:prstGeom>
          <a:noFill/>
          <a:ln/>
        </p:spPr>
        <p:txBody>
          <a:bodyPr wrap="none" lIns="0" tIns="0" rIns="0" bIns="0" rtlCol="0" anchor="t"/>
          <a:lstStyle/>
          <a:p>
            <a:pPr algn="l" indent="0" marL="0">
              <a:lnSpc>
                <a:spcPct val="126000"/>
              </a:lnSpc>
              <a:buNone/>
            </a:pPr>
            <a:r>
              <a:rPr lang="en-US" sz="1250" dirty="0">
                <a:solidFill>
                  <a:srgbClr val="FFE5E5"/>
                </a:solidFill>
                <a:latin typeface="DM Sans" pitchFamily="34" charset="0"/>
                <a:ea typeface="DM Sans" pitchFamily="34" charset="-122"/>
                <a:cs typeface="DM Sans" pitchFamily="34" charset="-120"/>
              </a:rPr>
              <a:t>Cush Jumbo</a:t>
            </a:r>
            <a:endParaRPr lang="en-US" sz="1250" dirty="0"/>
          </a:p>
        </p:txBody>
      </p:sp>
      <p:sp>
        <p:nvSpPr>
          <p:cNvPr id="13" name="Shape 10"/>
          <p:cNvSpPr/>
          <p:nvPr/>
        </p:nvSpPr>
        <p:spPr>
          <a:xfrm>
            <a:off x="8584291" y="4023221"/>
            <a:ext cx="2981846" cy="1004094"/>
          </a:xfrm>
          <a:prstGeom prst="roundRect">
            <a:avLst>
              <a:gd name="adj" fmla="val 6726"/>
            </a:avLst>
          </a:prstGeom>
          <a:solidFill>
            <a:srgbClr val="740B0B"/>
          </a:solidFill>
          <a:ln w="6350">
            <a:solidFill>
              <a:srgbClr val="8D2424"/>
            </a:solidFill>
            <a:prstDash val="solid"/>
          </a:ln>
        </p:spPr>
      </p:sp>
      <p:sp>
        <p:nvSpPr>
          <p:cNvPr id="14" name="Text 11"/>
          <p:cNvSpPr/>
          <p:nvPr/>
        </p:nvSpPr>
        <p:spPr>
          <a:xfrm>
            <a:off x="8751371" y="4190305"/>
            <a:ext cx="2647685" cy="283567"/>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650" dirty="0">
                <a:solidFill>
                  <a:srgbClr val="FFE5E5"/>
                </a:solidFill>
                <a:latin typeface="Dela Gothic One" pitchFamily="34" charset="0"/>
                <a:ea typeface="Dela Gothic One" pitchFamily="34" charset="-122"/>
                <a:cs typeface="Dela Gothic One" pitchFamily="34" charset="-120"/>
              </a:rPr>
              <a:t> IMDb</a:t>
            </a:r>
            <a:endParaRPr lang="en-US" sz="1650" dirty="0"/>
          </a:p>
        </p:txBody>
      </p:sp>
      <p:sp>
        <p:nvSpPr>
          <p:cNvPr id="15" name="Text 12"/>
          <p:cNvSpPr/>
          <p:nvPr/>
        </p:nvSpPr>
        <p:spPr>
          <a:xfrm>
            <a:off x="8751371" y="4617045"/>
            <a:ext cx="2647685" cy="243185"/>
          </a:xfrm>
          <a:prstGeom prst="rect">
            <a:avLst/>
          </a:prstGeom>
          <a:noFill/>
          <a:ln/>
        </p:spPr>
        <p:txBody>
          <a:bodyPr wrap="none" lIns="0" tIns="0" rIns="0" bIns="0" rtlCol="0" anchor="t"/>
          <a:lstStyle/>
          <a:p>
            <a:pPr algn="l" indent="0" marL="0">
              <a:lnSpc>
                <a:spcPct val="126000"/>
              </a:lnSpc>
              <a:buNone/>
            </a:pPr>
            <a:r>
              <a:rPr lang="en-US" sz="1250" dirty="0">
                <a:solidFill>
                  <a:srgbClr val="FFE5E5"/>
                </a:solidFill>
                <a:latin typeface="DM Sans" pitchFamily="34" charset="0"/>
                <a:ea typeface="DM Sans" pitchFamily="34" charset="-122"/>
                <a:cs typeface="DM Sans" pitchFamily="34" charset="-120"/>
              </a:rPr>
              <a:t>7.0 / 10</a:t>
            </a:r>
            <a:endParaRPr lang="en-US" sz="1250" dirty="0"/>
          </a:p>
        </p:txBody>
      </p:sp>
      <p:sp>
        <p:nvSpPr>
          <p:cNvPr id="16" name="Shape 13"/>
          <p:cNvSpPr/>
          <p:nvPr/>
        </p:nvSpPr>
        <p:spPr>
          <a:xfrm>
            <a:off x="8584291" y="5170488"/>
            <a:ext cx="2981846" cy="1004094"/>
          </a:xfrm>
          <a:prstGeom prst="roundRect">
            <a:avLst>
              <a:gd name="adj" fmla="val 6726"/>
            </a:avLst>
          </a:prstGeom>
          <a:solidFill>
            <a:srgbClr val="740B0B"/>
          </a:solidFill>
          <a:ln w="6350">
            <a:solidFill>
              <a:srgbClr val="8D2424"/>
            </a:solidFill>
            <a:prstDash val="solid"/>
          </a:ln>
        </p:spPr>
      </p:sp>
      <p:sp>
        <p:nvSpPr>
          <p:cNvPr id="17" name="Text 14"/>
          <p:cNvSpPr/>
          <p:nvPr/>
        </p:nvSpPr>
        <p:spPr>
          <a:xfrm>
            <a:off x="8751371" y="5337572"/>
            <a:ext cx="2647685" cy="283567"/>
          </a:xfrm>
          <a:prstGeom prst="rect">
            <a:avLst/>
          </a:prstGeom>
          <a:noFill/>
          <a:ln/>
        </p:spPr>
        <p:txBody>
          <a:bodyPr wrap="none" lIns="0" tIns="0" rIns="0" bIns="0" rtlCol="0" anchor="t"/>
          <a:lstStyle/>
          <a:p>
            <a:pPr algn="l" indent="0" marL="0">
              <a:lnSpc>
                <a:spcPct val="104000"/>
              </a:lnSpc>
              <a:buNone/>
            </a:pPr>
            <a:r>
              <a:rPr lang="en-US" sz="1650" dirty="0">
                <a:solidFill>
                  <a:srgbClr val="000000"/>
                </a:solidFill>
                <a:latin typeface="Dela Gothic One" pitchFamily="34" charset="0"/>
                <a:ea typeface="Dela Gothic One" pitchFamily="34" charset="-122"/>
                <a:cs typeface="Dela Gothic One" pitchFamily="34" charset="-120"/>
              </a:rPr>
              <a:t>📺</a:t>
            </a:r>
            <a:pPr algn="l" indent="0" marL="0">
              <a:lnSpc>
                <a:spcPct val="104000"/>
              </a:lnSpc>
              <a:buNone/>
            </a:pPr>
            <a:r>
              <a:rPr lang="en-US" sz="1650" dirty="0">
                <a:solidFill>
                  <a:srgbClr val="FFE5E5"/>
                </a:solidFill>
                <a:latin typeface="Dela Gothic One" pitchFamily="34" charset="0"/>
                <a:ea typeface="Dela Gothic One" pitchFamily="34" charset="-122"/>
                <a:cs typeface="Dela Gothic One" pitchFamily="34" charset="-120"/>
              </a:rPr>
              <a:t> Temporadas</a:t>
            </a:r>
            <a:endParaRPr lang="en-US" sz="1650" dirty="0"/>
          </a:p>
        </p:txBody>
      </p:sp>
      <p:sp>
        <p:nvSpPr>
          <p:cNvPr id="18" name="Text 15"/>
          <p:cNvSpPr/>
          <p:nvPr/>
        </p:nvSpPr>
        <p:spPr>
          <a:xfrm>
            <a:off x="8751371" y="5764312"/>
            <a:ext cx="2647685" cy="243185"/>
          </a:xfrm>
          <a:prstGeom prst="rect">
            <a:avLst/>
          </a:prstGeom>
          <a:noFill/>
          <a:ln/>
        </p:spPr>
        <p:txBody>
          <a:bodyPr wrap="none" lIns="0" tIns="0" rIns="0" bIns="0" rtlCol="0" anchor="t"/>
          <a:lstStyle/>
          <a:p>
            <a:pPr algn="l" indent="0" marL="0">
              <a:lnSpc>
                <a:spcPct val="126000"/>
              </a:lnSpc>
              <a:buNone/>
            </a:pPr>
            <a:r>
              <a:rPr lang="en-US" sz="1250" dirty="0">
                <a:solidFill>
                  <a:srgbClr val="FFE5E5"/>
                </a:solidFill>
                <a:latin typeface="DM Sans" pitchFamily="34" charset="0"/>
                <a:ea typeface="DM Sans" pitchFamily="34" charset="-122"/>
                <a:cs typeface="DM Sans" pitchFamily="34" charset="-120"/>
              </a:rPr>
              <a:t>1</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31908" y="517327"/>
            <a:ext cx="1562359" cy="197048"/>
          </a:xfrm>
          <a:prstGeom prst="roundRect">
            <a:avLst>
              <a:gd name="adj" fmla="val 22128"/>
            </a:avLst>
          </a:prstGeom>
          <a:solidFill>
            <a:srgbClr val="460707"/>
          </a:solidFill>
          <a:ln/>
        </p:spPr>
      </p:sp>
      <p:sp>
        <p:nvSpPr>
          <p:cNvPr id="3" name="Text 1"/>
          <p:cNvSpPr/>
          <p:nvPr/>
        </p:nvSpPr>
        <p:spPr>
          <a:xfrm>
            <a:off x="709694" y="556220"/>
            <a:ext cx="2016372" cy="119261"/>
          </a:xfrm>
          <a:prstGeom prst="rect">
            <a:avLst/>
          </a:prstGeom>
          <a:noFill/>
          <a:ln/>
        </p:spPr>
        <p:txBody>
          <a:bodyPr wrap="none" lIns="0" tIns="0" rIns="0" bIns="0" rtlCol="0" anchor="t"/>
          <a:lstStyle/>
          <a:p>
            <a:pPr algn="l" indent="0" marL="0">
              <a:lnSpc>
                <a:spcPct val="96000"/>
              </a:lnSpc>
              <a:buNone/>
            </a:pPr>
            <a:r>
              <a:rPr lang="en-US" sz="800" dirty="0">
                <a:solidFill>
                  <a:srgbClr val="FFE5E5"/>
                </a:solidFill>
                <a:latin typeface="DM Sans" pitchFamily="34" charset="0"/>
                <a:ea typeface="DM Sans" pitchFamily="34" charset="-122"/>
                <a:cs typeface="DM Sans" pitchFamily="34" charset="-120"/>
              </a:rPr>
              <a:t>AMAZON PRIME VIDEO · 2023</a:t>
            </a:r>
            <a:endParaRPr lang="en-US" sz="800" dirty="0"/>
          </a:p>
        </p:txBody>
      </p:sp>
      <p:sp>
        <p:nvSpPr>
          <p:cNvPr id="4" name="Text 2"/>
          <p:cNvSpPr/>
          <p:nvPr/>
        </p:nvSpPr>
        <p:spPr>
          <a:xfrm>
            <a:off x="631908" y="751681"/>
            <a:ext cx="10927878" cy="426839"/>
          </a:xfrm>
          <a:prstGeom prst="rect">
            <a:avLst/>
          </a:prstGeom>
          <a:noFill/>
          <a:ln/>
        </p:spPr>
        <p:txBody>
          <a:bodyPr wrap="none" lIns="0" tIns="0" rIns="0" bIns="0" rtlCol="0" anchor="t"/>
          <a:lstStyle/>
          <a:p>
            <a:pPr algn="l" indent="0" marL="0">
              <a:lnSpc>
                <a:spcPct val="104000"/>
              </a:lnSpc>
              <a:buNone/>
            </a:pPr>
            <a:r>
              <a:rPr lang="en-US" sz="2650" dirty="0">
                <a:solidFill>
                  <a:srgbClr val="FAEBEB"/>
                </a:solidFill>
                <a:latin typeface="Dela Gothic One" pitchFamily="34" charset="0"/>
                <a:ea typeface="Dela Gothic One" pitchFamily="34" charset="-122"/>
                <a:cs typeface="Dela Gothic One" pitchFamily="34" charset="-120"/>
              </a:rPr>
              <a:t>Refugio de Harlan Coben</a:t>
            </a:r>
            <a:endParaRPr lang="en-US" sz="2650" dirty="0"/>
          </a:p>
        </p:txBody>
      </p:sp>
      <p:pic>
        <p:nvPicPr>
          <p:cNvPr id="5" name="Image 0" descr="preencoded.png">    </p:cNvPr>
          <p:cNvPicPr>
            <a:picLocks noChangeAspect="1"/>
          </p:cNvPicPr>
          <p:nvPr/>
        </p:nvPicPr>
        <p:blipFill>
          <a:blip r:embed="rId1"/>
          <a:stretch>
            <a:fillRect/>
          </a:stretch>
        </p:blipFill>
        <p:spPr>
          <a:xfrm>
            <a:off x="631908" y="1423293"/>
            <a:ext cx="6992266" cy="3962301"/>
          </a:xfrm>
          <a:prstGeom prst="rect">
            <a:avLst/>
          </a:prstGeom>
        </p:spPr>
      </p:pic>
      <p:sp>
        <p:nvSpPr>
          <p:cNvPr id="6" name="Text 3"/>
          <p:cNvSpPr/>
          <p:nvPr/>
        </p:nvSpPr>
        <p:spPr>
          <a:xfrm>
            <a:off x="7947025" y="3047603"/>
            <a:ext cx="3619013" cy="713581"/>
          </a:xfrm>
          <a:prstGeom prst="rect">
            <a:avLst/>
          </a:prstGeom>
          <a:noFill/>
          <a:ln/>
        </p:spPr>
        <p:txBody>
          <a:bodyPr wrap="square" lIns="0" tIns="0" rIns="0" bIns="0" rtlCol="0" anchor="t">
            <a:normAutofit/>
          </a:bodyPr>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Tras la misteriosa muerte de su padre, </a:t>
            </a:r>
            <a:pPr algn="l" indent="0" marL="0">
              <a:lnSpc>
                <a:spcPct val="115000"/>
              </a:lnSpc>
              <a:buNone/>
            </a:pPr>
            <a:r>
              <a:rPr lang="en-US" sz="1000" b="1" dirty="0">
                <a:solidFill>
                  <a:srgbClr val="FFE5E5"/>
                </a:solidFill>
                <a:latin typeface="DM Sans Bold" pitchFamily="34" charset="0"/>
                <a:ea typeface="DM Sans Bold" pitchFamily="34" charset="-122"/>
                <a:cs typeface="DM Sans Bold" pitchFamily="34" charset="-120"/>
              </a:rPr>
              <a:t>Mickey Bolitar</a:t>
            </a:r>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 se muda a una tranquila comunidad de Nueva Jersey. Pero bajo la superficie perfecta se esconden secretos oscuros que nadie quiere revelar.</a:t>
            </a:r>
            <a:endParaRPr lang="en-US" sz="1000" dirty="0"/>
          </a:p>
        </p:txBody>
      </p:sp>
      <p:sp>
        <p:nvSpPr>
          <p:cNvPr id="7" name="Shape 4"/>
          <p:cNvSpPr/>
          <p:nvPr/>
        </p:nvSpPr>
        <p:spPr>
          <a:xfrm>
            <a:off x="631908" y="5595342"/>
            <a:ext cx="3580417" cy="745232"/>
          </a:xfrm>
          <a:prstGeom prst="roundRect">
            <a:avLst>
              <a:gd name="adj" fmla="val 7314"/>
            </a:avLst>
          </a:prstGeom>
          <a:solidFill>
            <a:srgbClr val="0A0A0A">
              <a:alpha val="95000"/>
            </a:srgbClr>
          </a:solidFill>
          <a:ln w="19050">
            <a:solidFill>
              <a:srgbClr val="8D2424"/>
            </a:solidFill>
            <a:prstDash val="solid"/>
          </a:ln>
        </p:spPr>
      </p:sp>
      <p:sp>
        <p:nvSpPr>
          <p:cNvPr id="8" name="Text 5"/>
          <p:cNvSpPr/>
          <p:nvPr/>
        </p:nvSpPr>
        <p:spPr>
          <a:xfrm>
            <a:off x="780634" y="5744071"/>
            <a:ext cx="3282967" cy="213420"/>
          </a:xfrm>
          <a:prstGeom prst="rect">
            <a:avLst/>
          </a:prstGeom>
          <a:noFill/>
          <a:ln/>
        </p:spPr>
        <p:txBody>
          <a:bodyPr wrap="none" lIns="0" tIns="0" rIns="0" bIns="0" rtlCol="0" anchor="t"/>
          <a:lstStyle/>
          <a:p>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Drama / Intriga</a:t>
            </a:r>
            <a:endParaRPr lang="en-US" sz="1300" dirty="0"/>
          </a:p>
        </p:txBody>
      </p:sp>
      <p:sp>
        <p:nvSpPr>
          <p:cNvPr id="9" name="Text 6"/>
          <p:cNvSpPr/>
          <p:nvPr/>
        </p:nvSpPr>
        <p:spPr>
          <a:xfrm>
            <a:off x="780634" y="6013450"/>
            <a:ext cx="3282967"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Amazon Prime Video</a:t>
            </a:r>
            <a:endParaRPr lang="en-US" sz="1000" dirty="0"/>
          </a:p>
        </p:txBody>
      </p:sp>
      <p:sp>
        <p:nvSpPr>
          <p:cNvPr id="10" name="Shape 7"/>
          <p:cNvSpPr/>
          <p:nvPr/>
        </p:nvSpPr>
        <p:spPr>
          <a:xfrm>
            <a:off x="4305589" y="5595342"/>
            <a:ext cx="3580417" cy="745232"/>
          </a:xfrm>
          <a:prstGeom prst="roundRect">
            <a:avLst>
              <a:gd name="adj" fmla="val 7314"/>
            </a:avLst>
          </a:prstGeom>
          <a:solidFill>
            <a:srgbClr val="0A0A0A">
              <a:alpha val="95000"/>
            </a:srgbClr>
          </a:solidFill>
          <a:ln w="19050">
            <a:solidFill>
              <a:srgbClr val="8D2424"/>
            </a:solidFill>
            <a:prstDash val="solid"/>
          </a:ln>
        </p:spPr>
      </p:sp>
      <p:sp>
        <p:nvSpPr>
          <p:cNvPr id="11" name="Text 8"/>
          <p:cNvSpPr/>
          <p:nvPr/>
        </p:nvSpPr>
        <p:spPr>
          <a:xfrm>
            <a:off x="4454314" y="5744071"/>
            <a:ext cx="3282967" cy="213420"/>
          </a:xfrm>
          <a:prstGeom prst="rect">
            <a:avLst/>
          </a:prstGeom>
          <a:noFill/>
          <a:ln/>
        </p:spPr>
        <p:txBody>
          <a:bodyPr wrap="none" lIns="0" tIns="0" rIns="0" bIns="0" rtlCol="0" anchor="t"/>
          <a:lstStyle/>
          <a:p>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Jaden Michael</a:t>
            </a:r>
            <a:endParaRPr lang="en-US" sz="1300" dirty="0"/>
          </a:p>
        </p:txBody>
      </p:sp>
      <p:sp>
        <p:nvSpPr>
          <p:cNvPr id="12" name="Text 9"/>
          <p:cNvSpPr/>
          <p:nvPr/>
        </p:nvSpPr>
        <p:spPr>
          <a:xfrm>
            <a:off x="4454314" y="6013450"/>
            <a:ext cx="3282967"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Como Mickey Bolitar</a:t>
            </a:r>
            <a:endParaRPr lang="en-US" sz="1000" dirty="0"/>
          </a:p>
        </p:txBody>
      </p:sp>
      <p:sp>
        <p:nvSpPr>
          <p:cNvPr id="13" name="Shape 10"/>
          <p:cNvSpPr/>
          <p:nvPr/>
        </p:nvSpPr>
        <p:spPr>
          <a:xfrm>
            <a:off x="7979270" y="5595342"/>
            <a:ext cx="3580417" cy="745232"/>
          </a:xfrm>
          <a:prstGeom prst="roundRect">
            <a:avLst>
              <a:gd name="adj" fmla="val 7314"/>
            </a:avLst>
          </a:prstGeom>
          <a:solidFill>
            <a:srgbClr val="0A0A0A">
              <a:alpha val="95000"/>
            </a:srgbClr>
          </a:solidFill>
          <a:ln w="19050">
            <a:solidFill>
              <a:srgbClr val="8D2424"/>
            </a:solidFill>
            <a:prstDash val="solid"/>
          </a:ln>
        </p:spPr>
      </p:sp>
      <p:sp>
        <p:nvSpPr>
          <p:cNvPr id="14" name="Text 11"/>
          <p:cNvSpPr/>
          <p:nvPr/>
        </p:nvSpPr>
        <p:spPr>
          <a:xfrm>
            <a:off x="8127995" y="5744071"/>
            <a:ext cx="3282967" cy="213420"/>
          </a:xfrm>
          <a:prstGeom prst="rect">
            <a:avLst/>
          </a:prstGeom>
          <a:noFill/>
          <a:ln/>
        </p:spPr>
        <p:txBody>
          <a:bodyPr wrap="none" lIns="0" tIns="0" rIns="0" bIns="0" rtlCol="0" anchor="t"/>
          <a:lstStyle/>
          <a:p>
            <a:pPr algn="l" indent="0" marL="0">
              <a:lnSpc>
                <a:spcPct val="104000"/>
              </a:lnSpc>
              <a:buNone/>
            </a:pPr>
            <a:r>
              <a:rPr lang="en-US" sz="1300" dirty="0">
                <a:solidFill>
                  <a:srgbClr val="FFE5E5"/>
                </a:solidFill>
                <a:latin typeface="Dela Gothic One" pitchFamily="34" charset="0"/>
                <a:ea typeface="Dela Gothic One" pitchFamily="34" charset="-122"/>
                <a:cs typeface="Dela Gothic One" pitchFamily="34" charset="-120"/>
              </a:rPr>
              <a:t>1 temporada · 8 episodios</a:t>
            </a:r>
            <a:endParaRPr lang="en-US" sz="1300" dirty="0"/>
          </a:p>
        </p:txBody>
      </p:sp>
      <p:sp>
        <p:nvSpPr>
          <p:cNvPr id="15" name="Text 12"/>
          <p:cNvSpPr/>
          <p:nvPr/>
        </p:nvSpPr>
        <p:spPr>
          <a:xfrm>
            <a:off x="8127995" y="6013450"/>
            <a:ext cx="3282967" cy="178395"/>
          </a:xfrm>
          <a:prstGeom prst="rect">
            <a:avLst/>
          </a:prstGeom>
          <a:noFill/>
          <a:ln/>
        </p:spPr>
        <p:txBody>
          <a:bodyPr wrap="none" lIns="0" tIns="0" rIns="0" bIns="0" rtlCol="0" anchor="t"/>
          <a:lstStyle/>
          <a:p>
            <a:pPr algn="l" indent="0" marL="0">
              <a:lnSpc>
                <a:spcPct val="115000"/>
              </a:lnSpc>
              <a:buNone/>
            </a:pPr>
            <a:r>
              <a:rPr lang="en-US" sz="1000" dirty="0">
                <a:solidFill>
                  <a:srgbClr val="FFE5E5"/>
                </a:solidFill>
                <a:latin typeface="DM Sans" pitchFamily="34" charset="0"/>
                <a:ea typeface="DM Sans" pitchFamily="34" charset="-122"/>
                <a:cs typeface="DM Sans" pitchFamily="34" charset="-120"/>
              </a:rPr>
              <a:t>Primera incursión en Prime Video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614462"/>
            <a:ext cx="10927878" cy="593923"/>
          </a:xfrm>
          <a:prstGeom prst="rect">
            <a:avLst/>
          </a:prstGeom>
          <a:noFill/>
          <a:ln/>
        </p:spPr>
        <p:txBody>
          <a:bodyPr wrap="none" lIns="0" tIns="0" rIns="0" bIns="0" rtlCol="0" anchor="t"/>
          <a:lstStyle/>
          <a:p>
            <a:pPr algn="l" indent="0" marL="0">
              <a:lnSpc>
                <a:spcPct val="104000"/>
              </a:lnSpc>
              <a:buNone/>
            </a:pPr>
            <a:r>
              <a:rPr lang="en-US" sz="3700" dirty="0">
                <a:solidFill>
                  <a:srgbClr val="FAEBEB"/>
                </a:solidFill>
                <a:latin typeface="Dela Gothic One" pitchFamily="34" charset="0"/>
                <a:ea typeface="Dela Gothic One" pitchFamily="34" charset="-122"/>
                <a:cs typeface="Dela Gothic One" pitchFamily="34" charset="-120"/>
              </a:rPr>
              <a:t>La Actualidad: 2025</a:t>
            </a:r>
            <a:endParaRPr lang="en-US" sz="3700" dirty="0"/>
          </a:p>
        </p:txBody>
      </p:sp>
      <p:sp>
        <p:nvSpPr>
          <p:cNvPr id="3" name="Text 1"/>
          <p:cNvSpPr/>
          <p:nvPr/>
        </p:nvSpPr>
        <p:spPr>
          <a:xfrm>
            <a:off x="631908" y="1569442"/>
            <a:ext cx="10927878" cy="57785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FFE5E5"/>
                </a:solidFill>
                <a:latin typeface="DM Sans" pitchFamily="34" charset="0"/>
                <a:ea typeface="DM Sans" pitchFamily="34" charset="-122"/>
                <a:cs typeface="DM Sans" pitchFamily="34" charset="-120"/>
              </a:rPr>
              <a:t>Coben expande su universo a nuevos territorios y plataformas con dos producciones que exploran géneros inéditos en su filmografía.</a:t>
            </a:r>
            <a:endParaRPr lang="en-US" sz="1400" dirty="0"/>
          </a:p>
        </p:txBody>
      </p:sp>
      <p:pic>
        <p:nvPicPr>
          <p:cNvPr id="4" name="Image 0" descr="preencoded.png">    </p:cNvPr>
          <p:cNvPicPr>
            <a:picLocks noChangeAspect="1"/>
          </p:cNvPicPr>
          <p:nvPr/>
        </p:nvPicPr>
        <p:blipFill>
          <a:blip r:embed="rId1"/>
          <a:stretch>
            <a:fillRect/>
          </a:stretch>
        </p:blipFill>
        <p:spPr>
          <a:xfrm>
            <a:off x="631908" y="2350393"/>
            <a:ext cx="3103584" cy="1918196"/>
          </a:xfrm>
          <a:prstGeom prst="rect">
            <a:avLst/>
          </a:prstGeom>
        </p:spPr>
      </p:pic>
      <p:sp>
        <p:nvSpPr>
          <p:cNvPr id="5" name="Text 2"/>
          <p:cNvSpPr/>
          <p:nvPr/>
        </p:nvSpPr>
        <p:spPr>
          <a:xfrm>
            <a:off x="631908" y="4494212"/>
            <a:ext cx="5351130" cy="296863"/>
          </a:xfrm>
          <a:prstGeom prst="rect">
            <a:avLst/>
          </a:prstGeom>
          <a:noFill/>
          <a:ln/>
        </p:spPr>
        <p:txBody>
          <a:bodyPr wrap="none" lIns="0" tIns="0" rIns="0" bIns="0" rtlCol="0" anchor="t"/>
          <a:lstStyle/>
          <a:p>
            <a:pPr algn="l" indent="0" marL="0">
              <a:lnSpc>
                <a:spcPct val="104000"/>
              </a:lnSpc>
              <a:buNone/>
            </a:pPr>
            <a:r>
              <a:rPr lang="en-US" sz="1850" dirty="0">
                <a:solidFill>
                  <a:srgbClr val="FFE5E5"/>
                </a:solidFill>
                <a:latin typeface="Dela Gothic One" pitchFamily="34" charset="0"/>
                <a:ea typeface="Dela Gothic One" pitchFamily="34" charset="-122"/>
                <a:cs typeface="Dela Gothic One" pitchFamily="34" charset="-120"/>
              </a:rPr>
              <a:t>Atrapados</a:t>
            </a:r>
            <a:endParaRPr lang="en-US" sz="1850" dirty="0"/>
          </a:p>
        </p:txBody>
      </p:sp>
      <p:sp>
        <p:nvSpPr>
          <p:cNvPr id="6" name="Text 3"/>
          <p:cNvSpPr/>
          <p:nvPr/>
        </p:nvSpPr>
        <p:spPr>
          <a:xfrm>
            <a:off x="631908" y="4899323"/>
            <a:ext cx="5351130" cy="866775"/>
          </a:xfrm>
          <a:prstGeom prst="rect">
            <a:avLst/>
          </a:prstGeom>
          <a:noFill/>
          <a:ln/>
        </p:spPr>
        <p:txBody>
          <a:bodyPr wrap="square" lIns="0" tIns="0" rIns="0" bIns="0" rtlCol="0" anchor="t">
            <a:normAutofit/>
          </a:bodyPr>
          <a:lstStyle/>
          <a:p>
            <a:pPr algn="l" indent="0" marL="0">
              <a:lnSpc>
                <a:spcPct val="133000"/>
              </a:lnSpc>
              <a:buNone/>
            </a:pPr>
            <a:r>
              <a:rPr lang="en-US" sz="1400" b="1" dirty="0">
                <a:solidFill>
                  <a:srgbClr val="FFE5E5"/>
                </a:solidFill>
                <a:latin typeface="DM Sans Bold" pitchFamily="34" charset="0"/>
                <a:ea typeface="DM Sans Bold" pitchFamily="34" charset="-122"/>
                <a:cs typeface="DM Sans Bold" pitchFamily="34" charset="-120"/>
              </a:rPr>
              <a:t>Netflix</a:t>
            </a:r>
            <a:pPr algn="l" indent="0" marL="0">
              <a:lnSpc>
                <a:spcPct val="133000"/>
              </a:lnSpc>
              <a:buNone/>
            </a:pPr>
            <a:r>
              <a:rPr lang="en-US" sz="1400" dirty="0">
                <a:solidFill>
                  <a:srgbClr val="FFE5E5"/>
                </a:solidFill>
                <a:latin typeface="DM Sans" pitchFamily="34" charset="0"/>
                <a:ea typeface="DM Sans" pitchFamily="34" charset="-122"/>
                <a:cs typeface="DM Sans" pitchFamily="34" charset="-120"/>
              </a:rPr>
              <a:t> · Thriller ambientado en la Patagonia argentina. </a:t>
            </a:r>
            <a:pPr algn="l" indent="0" marL="0">
              <a:lnSpc>
                <a:spcPct val="133000"/>
              </a:lnSpc>
              <a:buNone/>
            </a:pPr>
            <a:r>
              <a:rPr lang="en-US" sz="1400" b="1" dirty="0">
                <a:solidFill>
                  <a:srgbClr val="FFE5E5"/>
                </a:solidFill>
                <a:latin typeface="DM Sans Bold" pitchFamily="34" charset="0"/>
                <a:ea typeface="DM Sans Bold" pitchFamily="34" charset="-122"/>
                <a:cs typeface="DM Sans Bold" pitchFamily="34" charset="-120"/>
              </a:rPr>
              <a:t>Soledad Villamil</a:t>
            </a:r>
            <a:pPr algn="l" indent="0" marL="0">
              <a:lnSpc>
                <a:spcPct val="133000"/>
              </a:lnSpc>
              <a:buNone/>
            </a:pPr>
            <a:r>
              <a:rPr lang="en-US" sz="1400" dirty="0">
                <a:solidFill>
                  <a:srgbClr val="FFE5E5"/>
                </a:solidFill>
                <a:latin typeface="DM Sans" pitchFamily="34" charset="0"/>
                <a:ea typeface="DM Sans" pitchFamily="34" charset="-122"/>
                <a:cs typeface="DM Sans" pitchFamily="34" charset="-120"/>
              </a:rPr>
              <a:t> lidera un elenco que investiga desapariciones en un territorio hostil.</a:t>
            </a:r>
            <a:endParaRPr lang="en-US" sz="1400" dirty="0"/>
          </a:p>
        </p:txBody>
      </p:sp>
      <p:sp>
        <p:nvSpPr>
          <p:cNvPr id="7" name="Shape 4"/>
          <p:cNvSpPr/>
          <p:nvPr/>
        </p:nvSpPr>
        <p:spPr>
          <a:xfrm>
            <a:off x="631908" y="5969198"/>
            <a:ext cx="1068658" cy="274241"/>
          </a:xfrm>
          <a:prstGeom prst="roundRect">
            <a:avLst>
              <a:gd name="adj" fmla="val 22121"/>
            </a:avLst>
          </a:prstGeom>
          <a:noFill/>
          <a:ln w="6350">
            <a:solidFill>
              <a:srgbClr val="C91313"/>
            </a:solidFill>
            <a:prstDash val="solid"/>
          </a:ln>
        </p:spPr>
      </p:sp>
      <p:sp>
        <p:nvSpPr>
          <p:cNvPr id="8" name="Text 5"/>
          <p:cNvSpPr/>
          <p:nvPr/>
        </p:nvSpPr>
        <p:spPr>
          <a:xfrm>
            <a:off x="740153" y="6023273"/>
            <a:ext cx="852169" cy="166092"/>
          </a:xfrm>
          <a:prstGeom prst="rect">
            <a:avLst/>
          </a:prstGeom>
          <a:noFill/>
          <a:ln/>
        </p:spPr>
        <p:txBody>
          <a:bodyPr wrap="none" lIns="0" tIns="0" rIns="0" bIns="0" rtlCol="0" anchor="t"/>
          <a:lstStyle/>
          <a:p>
            <a:pPr algn="l" indent="0" marL="0">
              <a:lnSpc>
                <a:spcPct val="96000"/>
              </a:lnSpc>
              <a:buNone/>
            </a:pPr>
            <a:r>
              <a:rPr lang="en-US" sz="1100" dirty="0">
                <a:solidFill>
                  <a:srgbClr val="C91313"/>
                </a:solidFill>
                <a:latin typeface="DM Sans" pitchFamily="34" charset="0"/>
                <a:ea typeface="DM Sans" pitchFamily="34" charset="-122"/>
                <a:cs typeface="DM Sans" pitchFamily="34" charset="-120"/>
              </a:rPr>
              <a:t>6 EPISODIOS</a:t>
            </a:r>
            <a:endParaRPr lang="en-US" sz="1100" dirty="0"/>
          </a:p>
        </p:txBody>
      </p:sp>
      <p:pic>
        <p:nvPicPr>
          <p:cNvPr id="9" name="Image 1" descr="preencoded.png">    </p:cNvPr>
          <p:cNvPicPr>
            <a:picLocks noChangeAspect="1"/>
          </p:cNvPicPr>
          <p:nvPr/>
        </p:nvPicPr>
        <p:blipFill>
          <a:blip r:embed="rId2"/>
          <a:stretch>
            <a:fillRect/>
          </a:stretch>
        </p:blipFill>
        <p:spPr>
          <a:xfrm>
            <a:off x="6208656" y="2350393"/>
            <a:ext cx="3103584" cy="1918196"/>
          </a:xfrm>
          <a:prstGeom prst="rect">
            <a:avLst/>
          </a:prstGeom>
        </p:spPr>
      </p:pic>
      <p:sp>
        <p:nvSpPr>
          <p:cNvPr id="10" name="Text 6"/>
          <p:cNvSpPr/>
          <p:nvPr/>
        </p:nvSpPr>
        <p:spPr>
          <a:xfrm>
            <a:off x="6208656" y="4494212"/>
            <a:ext cx="5351130" cy="296863"/>
          </a:xfrm>
          <a:prstGeom prst="rect">
            <a:avLst/>
          </a:prstGeom>
          <a:noFill/>
          <a:ln/>
        </p:spPr>
        <p:txBody>
          <a:bodyPr wrap="none" lIns="0" tIns="0" rIns="0" bIns="0" rtlCol="0" anchor="t"/>
          <a:lstStyle/>
          <a:p>
            <a:pPr algn="l" indent="0" marL="0">
              <a:lnSpc>
                <a:spcPct val="104000"/>
              </a:lnSpc>
              <a:buNone/>
            </a:pPr>
            <a:r>
              <a:rPr lang="en-US" sz="1850" dirty="0">
                <a:solidFill>
                  <a:srgbClr val="FFE5E5"/>
                </a:solidFill>
                <a:latin typeface="Dela Gothic One" pitchFamily="34" charset="0"/>
                <a:ea typeface="Dela Gothic One" pitchFamily="34" charset="-122"/>
                <a:cs typeface="Dela Gothic One" pitchFamily="34" charset="-120"/>
              </a:rPr>
              <a:t>Lazarus</a:t>
            </a:r>
            <a:endParaRPr lang="en-US" sz="1850" dirty="0"/>
          </a:p>
        </p:txBody>
      </p:sp>
      <p:sp>
        <p:nvSpPr>
          <p:cNvPr id="11" name="Text 7"/>
          <p:cNvSpPr/>
          <p:nvPr/>
        </p:nvSpPr>
        <p:spPr>
          <a:xfrm>
            <a:off x="6208656" y="4899323"/>
            <a:ext cx="5351130" cy="866775"/>
          </a:xfrm>
          <a:prstGeom prst="rect">
            <a:avLst/>
          </a:prstGeom>
          <a:noFill/>
          <a:ln/>
        </p:spPr>
        <p:txBody>
          <a:bodyPr wrap="square" lIns="0" tIns="0" rIns="0" bIns="0" rtlCol="0" anchor="t">
            <a:normAutofit/>
          </a:bodyPr>
          <a:lstStyle/>
          <a:p>
            <a:pPr algn="l" indent="0" marL="0">
              <a:lnSpc>
                <a:spcPct val="133000"/>
              </a:lnSpc>
              <a:buNone/>
            </a:pPr>
            <a:r>
              <a:rPr lang="en-US" sz="1400" b="1" dirty="0">
                <a:solidFill>
                  <a:srgbClr val="FFE5E5"/>
                </a:solidFill>
                <a:latin typeface="DM Sans Bold" pitchFamily="34" charset="0"/>
                <a:ea typeface="DM Sans Bold" pitchFamily="34" charset="-122"/>
                <a:cs typeface="DM Sans Bold" pitchFamily="34" charset="-120"/>
              </a:rPr>
              <a:t>Prime Video</a:t>
            </a:r>
            <a:pPr algn="l" indent="0" marL="0">
              <a:lnSpc>
                <a:spcPct val="133000"/>
              </a:lnSpc>
              <a:buNone/>
            </a:pPr>
            <a:r>
              <a:rPr lang="en-US" sz="1400" dirty="0">
                <a:solidFill>
                  <a:srgbClr val="FFE5E5"/>
                </a:solidFill>
                <a:latin typeface="DM Sans" pitchFamily="34" charset="0"/>
                <a:ea typeface="DM Sans" pitchFamily="34" charset="-122"/>
                <a:cs typeface="DM Sans" pitchFamily="34" charset="-120"/>
              </a:rPr>
              <a:t> · Thriller sobrenatural con </a:t>
            </a:r>
            <a:pPr algn="l" indent="0" marL="0">
              <a:lnSpc>
                <a:spcPct val="133000"/>
              </a:lnSpc>
              <a:buNone/>
            </a:pPr>
            <a:r>
              <a:rPr lang="en-US" sz="1400" b="1" dirty="0">
                <a:solidFill>
                  <a:srgbClr val="FFE5E5"/>
                </a:solidFill>
                <a:latin typeface="DM Sans Bold" pitchFamily="34" charset="0"/>
                <a:ea typeface="DM Sans Bold" pitchFamily="34" charset="-122"/>
                <a:cs typeface="DM Sans Bold" pitchFamily="34" charset="-120"/>
              </a:rPr>
              <a:t>Sam Claflin</a:t>
            </a:r>
            <a:pPr algn="l" indent="0" marL="0">
              <a:lnSpc>
                <a:spcPct val="133000"/>
              </a:lnSpc>
              <a:buNone/>
            </a:pPr>
            <a:r>
              <a:rPr lang="en-US" sz="1400" dirty="0">
                <a:solidFill>
                  <a:srgbClr val="FFE5E5"/>
                </a:solidFill>
                <a:latin typeface="DM Sans" pitchFamily="34" charset="0"/>
                <a:ea typeface="DM Sans" pitchFamily="34" charset="-122"/>
                <a:cs typeface="DM Sans" pitchFamily="34" charset="-120"/>
              </a:rPr>
              <a:t>. Un hijo investiga el pasado de su padre y descubre verdades que desafían lo posible.</a:t>
            </a:r>
            <a:endParaRPr lang="en-US" sz="1400" dirty="0"/>
          </a:p>
        </p:txBody>
      </p:sp>
      <p:sp>
        <p:nvSpPr>
          <p:cNvPr id="12" name="Shape 8"/>
          <p:cNvSpPr/>
          <p:nvPr/>
        </p:nvSpPr>
        <p:spPr>
          <a:xfrm>
            <a:off x="6208656" y="5969198"/>
            <a:ext cx="1068658" cy="274241"/>
          </a:xfrm>
          <a:prstGeom prst="roundRect">
            <a:avLst>
              <a:gd name="adj" fmla="val 22121"/>
            </a:avLst>
          </a:prstGeom>
          <a:noFill/>
          <a:ln w="6350">
            <a:solidFill>
              <a:srgbClr val="C91313"/>
            </a:solidFill>
            <a:prstDash val="solid"/>
          </a:ln>
        </p:spPr>
      </p:sp>
      <p:sp>
        <p:nvSpPr>
          <p:cNvPr id="13" name="Text 9"/>
          <p:cNvSpPr/>
          <p:nvPr/>
        </p:nvSpPr>
        <p:spPr>
          <a:xfrm>
            <a:off x="6316901" y="6023273"/>
            <a:ext cx="852169" cy="166092"/>
          </a:xfrm>
          <a:prstGeom prst="rect">
            <a:avLst/>
          </a:prstGeom>
          <a:noFill/>
          <a:ln/>
        </p:spPr>
        <p:txBody>
          <a:bodyPr wrap="none" lIns="0" tIns="0" rIns="0" bIns="0" rtlCol="0" anchor="t"/>
          <a:lstStyle/>
          <a:p>
            <a:pPr algn="l" indent="0" marL="0">
              <a:lnSpc>
                <a:spcPct val="96000"/>
              </a:lnSpc>
              <a:buNone/>
            </a:pPr>
            <a:r>
              <a:rPr lang="en-US" sz="1100" dirty="0">
                <a:solidFill>
                  <a:srgbClr val="C91313"/>
                </a:solidFill>
                <a:latin typeface="DM Sans" pitchFamily="34" charset="0"/>
                <a:ea typeface="DM Sans" pitchFamily="34" charset="-122"/>
                <a:cs typeface="DM Sans" pitchFamily="34" charset="-120"/>
              </a:rPr>
              <a:t>6 EPISODIOS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31908" y="501848"/>
            <a:ext cx="6355993" cy="1169194"/>
          </a:xfrm>
          <a:prstGeom prst="rect">
            <a:avLst/>
          </a:prstGeom>
          <a:noFill/>
          <a:ln/>
        </p:spPr>
        <p:txBody>
          <a:bodyPr wrap="square" lIns="0" tIns="0" rIns="0" bIns="0" rtlCol="0" anchor="t">
            <a:normAutofit/>
          </a:bodyPr>
          <a:lstStyle/>
          <a:p>
            <a:pPr algn="l" indent="0" marL="0">
              <a:lnSpc>
                <a:spcPct val="104000"/>
              </a:lnSpc>
              <a:buNone/>
            </a:pPr>
            <a:r>
              <a:rPr lang="en-US" sz="3650" dirty="0">
                <a:solidFill>
                  <a:srgbClr val="FAEBEB"/>
                </a:solidFill>
                <a:latin typeface="Dela Gothic One" pitchFamily="34" charset="0"/>
                <a:ea typeface="Dela Gothic One" pitchFamily="34" charset="-122"/>
                <a:cs typeface="Dela Gothic One" pitchFamily="34" charset="-120"/>
              </a:rPr>
              <a:t>El Futuro del Universo Coben</a:t>
            </a:r>
            <a:endParaRPr lang="en-US" sz="3650" dirty="0"/>
          </a:p>
        </p:txBody>
      </p:sp>
      <p:sp>
        <p:nvSpPr>
          <p:cNvPr id="4" name="Shape 1"/>
          <p:cNvSpPr/>
          <p:nvPr/>
        </p:nvSpPr>
        <p:spPr>
          <a:xfrm>
            <a:off x="831829" y="1933377"/>
            <a:ext cx="19050" cy="2676624"/>
          </a:xfrm>
          <a:prstGeom prst="roundRect">
            <a:avLst>
              <a:gd name="adj" fmla="val 49999"/>
            </a:avLst>
          </a:prstGeom>
          <a:solidFill>
            <a:srgbClr val="8D2424"/>
          </a:solidFill>
          <a:ln/>
        </p:spPr>
      </p:sp>
      <p:sp>
        <p:nvSpPr>
          <p:cNvPr id="5" name="Shape 2"/>
          <p:cNvSpPr/>
          <p:nvPr/>
        </p:nvSpPr>
        <p:spPr>
          <a:xfrm>
            <a:off x="1012700" y="2123777"/>
            <a:ext cx="533089" cy="19050"/>
          </a:xfrm>
          <a:prstGeom prst="roundRect">
            <a:avLst>
              <a:gd name="adj" fmla="val 49999"/>
            </a:avLst>
          </a:prstGeom>
          <a:solidFill>
            <a:srgbClr val="8D2424"/>
          </a:solidFill>
          <a:ln/>
        </p:spPr>
      </p:sp>
      <p:sp>
        <p:nvSpPr>
          <p:cNvPr id="6" name="Shape 3"/>
          <p:cNvSpPr/>
          <p:nvPr/>
        </p:nvSpPr>
        <p:spPr>
          <a:xfrm>
            <a:off x="631908" y="1933377"/>
            <a:ext cx="399842" cy="399852"/>
          </a:xfrm>
          <a:prstGeom prst="roundRect">
            <a:avLst>
              <a:gd name="adj" fmla="val 18669"/>
            </a:avLst>
          </a:prstGeom>
          <a:solidFill>
            <a:srgbClr val="740B0B"/>
          </a:solidFill>
          <a:ln w="6350">
            <a:solidFill>
              <a:srgbClr val="8D2424"/>
            </a:solidFill>
            <a:prstDash val="solid"/>
          </a:ln>
        </p:spPr>
      </p:sp>
      <p:sp>
        <p:nvSpPr>
          <p:cNvPr id="7" name="Text 4"/>
          <p:cNvSpPr/>
          <p:nvPr/>
        </p:nvSpPr>
        <p:spPr>
          <a:xfrm>
            <a:off x="691537" y="1957933"/>
            <a:ext cx="280584" cy="350738"/>
          </a:xfrm>
          <a:prstGeom prst="rect">
            <a:avLst/>
          </a:prstGeom>
          <a:noFill/>
          <a:ln/>
        </p:spPr>
        <p:txBody>
          <a:bodyPr wrap="none" lIns="0" tIns="0" rIns="0" bIns="0" rtlCol="0" anchor="ctr"/>
          <a:lstStyle/>
          <a:p>
            <a:pPr algn="ctr" indent="0" marL="0">
              <a:lnSpc>
                <a:spcPct val="100000"/>
              </a:lnSpc>
              <a:buNone/>
            </a:pPr>
            <a:r>
              <a:rPr lang="en-US" sz="2200" dirty="0">
                <a:solidFill>
                  <a:srgbClr val="FFE5E5"/>
                </a:solidFill>
                <a:latin typeface="Dela Gothic One" pitchFamily="34" charset="0"/>
                <a:ea typeface="Dela Gothic One" pitchFamily="34" charset="-122"/>
                <a:cs typeface="Dela Gothic One" pitchFamily="34" charset="-120"/>
              </a:rPr>
              <a:t>1</a:t>
            </a:r>
            <a:endParaRPr lang="en-US" sz="2200" dirty="0"/>
          </a:p>
        </p:txBody>
      </p:sp>
      <p:sp>
        <p:nvSpPr>
          <p:cNvPr id="8" name="Text 5"/>
          <p:cNvSpPr/>
          <p:nvPr/>
        </p:nvSpPr>
        <p:spPr>
          <a:xfrm>
            <a:off x="1720410" y="1994396"/>
            <a:ext cx="5267491" cy="292298"/>
          </a:xfrm>
          <a:prstGeom prst="rect">
            <a:avLst/>
          </a:prstGeom>
          <a:noFill/>
          <a:ln/>
        </p:spPr>
        <p:txBody>
          <a:bodyPr wrap="none" lIns="0" tIns="0" rIns="0" bIns="0" rtlCol="0" anchor="t"/>
          <a:lstStyle/>
          <a:p>
            <a:pPr algn="l" indent="0" marL="0">
              <a:lnSpc>
                <a:spcPct val="104000"/>
              </a:lnSpc>
              <a:buNone/>
            </a:pPr>
            <a:r>
              <a:rPr lang="en-US" sz="1800" dirty="0">
                <a:solidFill>
                  <a:srgbClr val="FFE5E5"/>
                </a:solidFill>
                <a:latin typeface="Dela Gothic One" pitchFamily="34" charset="0"/>
                <a:ea typeface="Dela Gothic One" pitchFamily="34" charset="-122"/>
                <a:cs typeface="Dela Gothic One" pitchFamily="34" charset="-120"/>
              </a:rPr>
              <a:t>2026 — Te Encontré</a:t>
            </a:r>
            <a:endParaRPr lang="en-US" sz="1800" dirty="0"/>
          </a:p>
        </p:txBody>
      </p:sp>
      <p:sp>
        <p:nvSpPr>
          <p:cNvPr id="9" name="Text 6"/>
          <p:cNvSpPr/>
          <p:nvPr/>
        </p:nvSpPr>
        <p:spPr>
          <a:xfrm>
            <a:off x="1720410" y="2391569"/>
            <a:ext cx="5267491" cy="564158"/>
          </a:xfrm>
          <a:prstGeom prst="rect">
            <a:avLst/>
          </a:prstGeom>
          <a:noFill/>
          <a:ln/>
        </p:spPr>
        <p:txBody>
          <a:bodyPr wrap="square" lIns="0" tIns="0" rIns="0" bIns="0" rtlCol="0" anchor="t">
            <a:normAutofit/>
          </a:bodyPr>
          <a:lstStyle/>
          <a:p>
            <a:pPr algn="l" indent="0" marL="0">
              <a:lnSpc>
                <a:spcPct val="132000"/>
              </a:lnSpc>
              <a:buNone/>
            </a:pPr>
            <a:r>
              <a:rPr lang="en-US" sz="1350" dirty="0">
                <a:solidFill>
                  <a:srgbClr val="FFE5E5"/>
                </a:solidFill>
                <a:latin typeface="DM Sans" pitchFamily="34" charset="0"/>
                <a:ea typeface="DM Sans" pitchFamily="34" charset="-122"/>
                <a:cs typeface="DM Sans" pitchFamily="34" charset="-120"/>
              </a:rPr>
              <a:t>Récord de </a:t>
            </a:r>
            <a:pPr algn="l" indent="0" marL="0">
              <a:lnSpc>
                <a:spcPct val="132000"/>
              </a:lnSpc>
              <a:buNone/>
            </a:pPr>
            <a:r>
              <a:rPr lang="en-US" sz="1350" b="1" dirty="0">
                <a:solidFill>
                  <a:srgbClr val="FFE5E5"/>
                </a:solidFill>
                <a:latin typeface="DM Sans Bold" pitchFamily="34" charset="0"/>
                <a:ea typeface="DM Sans Bold" pitchFamily="34" charset="-122"/>
                <a:cs typeface="DM Sans Bold" pitchFamily="34" charset="-120"/>
              </a:rPr>
              <a:t>24 millones de vistas en 4 días</a:t>
            </a:r>
            <a:pPr algn="l" indent="0" marL="0">
              <a:lnSpc>
                <a:spcPct val="132000"/>
              </a:lnSpc>
              <a:buNone/>
            </a:pPr>
            <a:r>
              <a:rPr lang="en-US" sz="1350" dirty="0">
                <a:solidFill>
                  <a:srgbClr val="FFE5E5"/>
                </a:solidFill>
                <a:latin typeface="DM Sans" pitchFamily="34" charset="0"/>
                <a:ea typeface="DM Sans" pitchFamily="34" charset="-122"/>
                <a:cs typeface="DM Sans" pitchFamily="34" charset="-120"/>
              </a:rPr>
              <a:t>. La máquina de suspenso sigue imparable.</a:t>
            </a:r>
            <a:endParaRPr lang="en-US" sz="1350" dirty="0"/>
          </a:p>
        </p:txBody>
      </p:sp>
      <p:sp>
        <p:nvSpPr>
          <p:cNvPr id="10" name="Shape 7"/>
          <p:cNvSpPr/>
          <p:nvPr/>
        </p:nvSpPr>
        <p:spPr>
          <a:xfrm>
            <a:off x="1012700" y="3495973"/>
            <a:ext cx="533089" cy="19050"/>
          </a:xfrm>
          <a:prstGeom prst="roundRect">
            <a:avLst>
              <a:gd name="adj" fmla="val 49999"/>
            </a:avLst>
          </a:prstGeom>
          <a:solidFill>
            <a:srgbClr val="8D2424"/>
          </a:solidFill>
          <a:ln/>
        </p:spPr>
      </p:sp>
      <p:sp>
        <p:nvSpPr>
          <p:cNvPr id="11" name="Shape 8"/>
          <p:cNvSpPr/>
          <p:nvPr/>
        </p:nvSpPr>
        <p:spPr>
          <a:xfrm>
            <a:off x="631908" y="3305572"/>
            <a:ext cx="399842" cy="399852"/>
          </a:xfrm>
          <a:prstGeom prst="roundRect">
            <a:avLst>
              <a:gd name="adj" fmla="val 18669"/>
            </a:avLst>
          </a:prstGeom>
          <a:solidFill>
            <a:srgbClr val="740B0B"/>
          </a:solidFill>
          <a:ln w="6350">
            <a:solidFill>
              <a:srgbClr val="8D2424"/>
            </a:solidFill>
            <a:prstDash val="solid"/>
          </a:ln>
        </p:spPr>
      </p:sp>
      <p:sp>
        <p:nvSpPr>
          <p:cNvPr id="12" name="Text 9"/>
          <p:cNvSpPr/>
          <p:nvPr/>
        </p:nvSpPr>
        <p:spPr>
          <a:xfrm>
            <a:off x="691537" y="3330129"/>
            <a:ext cx="280584" cy="350738"/>
          </a:xfrm>
          <a:prstGeom prst="rect">
            <a:avLst/>
          </a:prstGeom>
          <a:noFill/>
          <a:ln/>
        </p:spPr>
        <p:txBody>
          <a:bodyPr wrap="none" lIns="0" tIns="0" rIns="0" bIns="0" rtlCol="0" anchor="ctr"/>
          <a:lstStyle/>
          <a:p>
            <a:pPr algn="ctr" indent="0" marL="0">
              <a:lnSpc>
                <a:spcPct val="100000"/>
              </a:lnSpc>
              <a:buNone/>
            </a:pPr>
            <a:r>
              <a:rPr lang="en-US" sz="2200" dirty="0">
                <a:solidFill>
                  <a:srgbClr val="FFE5E5"/>
                </a:solidFill>
                <a:latin typeface="Dela Gothic One" pitchFamily="34" charset="0"/>
                <a:ea typeface="Dela Gothic One" pitchFamily="34" charset="-122"/>
                <a:cs typeface="Dela Gothic One" pitchFamily="34" charset="-120"/>
              </a:rPr>
              <a:t>2</a:t>
            </a:r>
            <a:endParaRPr lang="en-US" sz="2200" dirty="0"/>
          </a:p>
        </p:txBody>
      </p:sp>
      <p:sp>
        <p:nvSpPr>
          <p:cNvPr id="13" name="Text 10"/>
          <p:cNvSpPr/>
          <p:nvPr/>
        </p:nvSpPr>
        <p:spPr>
          <a:xfrm>
            <a:off x="1720410" y="3366591"/>
            <a:ext cx="5267491" cy="292298"/>
          </a:xfrm>
          <a:prstGeom prst="rect">
            <a:avLst/>
          </a:prstGeom>
          <a:noFill/>
          <a:ln/>
        </p:spPr>
        <p:txBody>
          <a:bodyPr wrap="none" lIns="0" tIns="0" rIns="0" bIns="0" rtlCol="0" anchor="t"/>
          <a:lstStyle/>
          <a:p>
            <a:pPr algn="l" indent="0" marL="0">
              <a:lnSpc>
                <a:spcPct val="104000"/>
              </a:lnSpc>
              <a:buNone/>
            </a:pPr>
            <a:r>
              <a:rPr lang="en-US" sz="1800" dirty="0">
                <a:solidFill>
                  <a:srgbClr val="FFE5E5"/>
                </a:solidFill>
                <a:latin typeface="Dela Gothic One" pitchFamily="34" charset="0"/>
                <a:ea typeface="Dela Gothic One" pitchFamily="34" charset="-122"/>
                <a:cs typeface="Dela Gothic One" pitchFamily="34" charset="-120"/>
              </a:rPr>
              <a:t>2027 — Myron Bolitar</a:t>
            </a:r>
            <a:endParaRPr lang="en-US" sz="1800" dirty="0"/>
          </a:p>
        </p:txBody>
      </p:sp>
      <p:sp>
        <p:nvSpPr>
          <p:cNvPr id="14" name="Text 11"/>
          <p:cNvSpPr/>
          <p:nvPr/>
        </p:nvSpPr>
        <p:spPr>
          <a:xfrm>
            <a:off x="1720410" y="3763764"/>
            <a:ext cx="5267491" cy="846237"/>
          </a:xfrm>
          <a:prstGeom prst="rect">
            <a:avLst/>
          </a:prstGeom>
          <a:noFill/>
          <a:ln/>
        </p:spPr>
        <p:txBody>
          <a:bodyPr wrap="square" lIns="0" tIns="0" rIns="0" bIns="0" rtlCol="0" anchor="t">
            <a:normAutofit/>
          </a:bodyPr>
          <a:lstStyle/>
          <a:p>
            <a:pPr algn="l" indent="0" marL="0">
              <a:lnSpc>
                <a:spcPct val="132000"/>
              </a:lnSpc>
              <a:buNone/>
            </a:pPr>
            <a:r>
              <a:rPr lang="en-US" sz="1350" dirty="0">
                <a:solidFill>
                  <a:srgbClr val="FFE5E5"/>
                </a:solidFill>
                <a:latin typeface="DM Sans" pitchFamily="34" charset="0"/>
                <a:ea typeface="DM Sans" pitchFamily="34" charset="-122"/>
                <a:cs typeface="DM Sans" pitchFamily="34" charset="-120"/>
              </a:rPr>
              <a:t>Adaptación de la saga más querida de Coben en </a:t>
            </a:r>
            <a:pPr algn="l" indent="0" marL="0">
              <a:lnSpc>
                <a:spcPct val="132000"/>
              </a:lnSpc>
              <a:buNone/>
            </a:pPr>
            <a:r>
              <a:rPr lang="en-US" sz="1350" b="1" dirty="0">
                <a:solidFill>
                  <a:srgbClr val="FFE5E5"/>
                </a:solidFill>
                <a:latin typeface="DM Sans Bold" pitchFamily="34" charset="0"/>
                <a:ea typeface="DM Sans Bold" pitchFamily="34" charset="-122"/>
                <a:cs typeface="DM Sans Bold" pitchFamily="34" charset="-120"/>
              </a:rPr>
              <a:t>Netflix</a:t>
            </a:r>
            <a:pPr algn="l" indent="0" marL="0">
              <a:lnSpc>
                <a:spcPct val="132000"/>
              </a:lnSpc>
              <a:buNone/>
            </a:pPr>
            <a:r>
              <a:rPr lang="en-US" sz="1350" dirty="0">
                <a:solidFill>
                  <a:srgbClr val="FFE5E5"/>
                </a:solidFill>
                <a:latin typeface="DM Sans" pitchFamily="34" charset="0"/>
                <a:ea typeface="DM Sans" pitchFamily="34" charset="-122"/>
                <a:cs typeface="DM Sans" pitchFamily="34" charset="-120"/>
              </a:rPr>
              <a:t>. El agente deportivo convertido en detective privado llega por fin a la pantalla.</a:t>
            </a:r>
            <a:endParaRPr lang="en-US" sz="1350" dirty="0"/>
          </a:p>
        </p:txBody>
      </p:sp>
      <p:sp>
        <p:nvSpPr>
          <p:cNvPr id="15" name="Shape 12"/>
          <p:cNvSpPr/>
          <p:nvPr/>
        </p:nvSpPr>
        <p:spPr>
          <a:xfrm>
            <a:off x="631908" y="4806752"/>
            <a:ext cx="6355993" cy="1549301"/>
          </a:xfrm>
          <a:prstGeom prst="roundRect">
            <a:avLst>
              <a:gd name="adj" fmla="val 4818"/>
            </a:avLst>
          </a:prstGeom>
          <a:solidFill>
            <a:srgbClr val="740B0B"/>
          </a:solidFill>
          <a:ln/>
        </p:spPr>
      </p:sp>
      <p:pic>
        <p:nvPicPr>
          <p:cNvPr id="16" name="Image 1" descr="preencoded.png">    </p:cNvPr>
          <p:cNvPicPr>
            <a:picLocks noChangeAspect="1"/>
          </p:cNvPicPr>
          <p:nvPr/>
        </p:nvPicPr>
        <p:blipFill>
          <a:blip r:embed="rId2"/>
          <a:stretch>
            <a:fillRect/>
          </a:stretch>
        </p:blipFill>
        <p:spPr>
          <a:xfrm>
            <a:off x="809605" y="5054600"/>
            <a:ext cx="222145" cy="177701"/>
          </a:xfrm>
          <a:prstGeom prst="rect">
            <a:avLst/>
          </a:prstGeom>
        </p:spPr>
      </p:pic>
      <p:sp>
        <p:nvSpPr>
          <p:cNvPr id="17" name="Text 13"/>
          <p:cNvSpPr/>
          <p:nvPr/>
        </p:nvSpPr>
        <p:spPr>
          <a:xfrm>
            <a:off x="1209446" y="5026025"/>
            <a:ext cx="5600758" cy="1128316"/>
          </a:xfrm>
          <a:prstGeom prst="rect">
            <a:avLst/>
          </a:prstGeom>
          <a:noFill/>
          <a:ln/>
        </p:spPr>
        <p:txBody>
          <a:bodyPr wrap="square" lIns="0" tIns="0" rIns="0" bIns="0" rtlCol="0" anchor="t">
            <a:normAutofit/>
          </a:bodyPr>
          <a:lstStyle/>
          <a:p>
            <a:pPr algn="l" indent="0" marL="0">
              <a:lnSpc>
                <a:spcPct val="132000"/>
              </a:lnSpc>
              <a:buNone/>
            </a:pPr>
            <a:r>
              <a:rPr lang="en-US" sz="1350" b="1" dirty="0">
                <a:solidFill>
                  <a:srgbClr val="FFFFFF"/>
                </a:solidFill>
                <a:latin typeface="DM Sans Bold" pitchFamily="34" charset="0"/>
                <a:ea typeface="DM Sans Bold" pitchFamily="34" charset="-122"/>
                <a:cs typeface="DM Sans Bold" pitchFamily="34" charset="-120"/>
              </a:rPr>
              <a:t>Conclusión:</a:t>
            </a:r>
            <a:pPr algn="l" indent="0" marL="0">
              <a:lnSpc>
                <a:spcPct val="132000"/>
              </a:lnSpc>
              <a:buNone/>
            </a:pPr>
            <a:r>
              <a:rPr lang="en-US" sz="1350" dirty="0">
                <a:solidFill>
                  <a:srgbClr val="FFFFFF"/>
                </a:solidFill>
                <a:latin typeface="DM Sans" pitchFamily="34" charset="0"/>
                <a:ea typeface="DM Sans" pitchFamily="34" charset="-122"/>
                <a:cs typeface="DM Sans" pitchFamily="34" charset="-120"/>
              </a:rPr>
              <a:t> Harlan Coben es la máquina de suspenso más confiable de la industria. Con cada nueva adaptación, demuestra que los secretos familiares y los giros imposibles nunca pasan de moda.</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2026-08-20T14:52:04Z</dcterms:created>
  <dcterms:modified xsi:type="dcterms:W3CDTF">2026-08-20T14:52:04Z</dcterms:modified>
</cp:coreProperties>
</file>