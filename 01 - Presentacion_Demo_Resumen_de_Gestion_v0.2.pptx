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0"/>
  </p:notesMasterIdLst>
  <p:sldIdLst>
    <p:sldId id="273" r:id="rId2"/>
    <p:sldId id="283" r:id="rId3"/>
    <p:sldId id="274" r:id="rId4"/>
    <p:sldId id="275" r:id="rId5"/>
    <p:sldId id="276" r:id="rId6"/>
    <p:sldId id="277" r:id="rId7"/>
    <p:sldId id="279" r:id="rId8"/>
    <p:sldId id="28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6F058-C2F7-8298-B2CD-88D08403C439}" v="30" dt="2026-10-13T22:53:53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5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4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16C65-BA26-90EE-10E1-194CB27C7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DOR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937760" y="265176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Pie de página IA"/>
          <p:cNvSpPr/>
          <p:nvPr/>
        </p:nvSpPr>
        <p:spPr>
          <a:xfrm>
            <a:off x="493776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6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lo de contras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00"/>
                </a:solidFill>
              </a:rPr>
              <a:t>WORKSHOP · IA EN LA GESTIÓN ADMINISTRATIVA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Resumen de Gestión</a:t>
            </a:r>
            <a:endParaRPr lang="en-US" sz="5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Caso 1 · Demo práctica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FFB33C-2422-A1E0-7E7F-2D1FB5E9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 b="6653"/>
          <a:stretch>
            <a:fillRect/>
          </a:stretch>
        </p:blipFill>
        <p:spPr>
          <a:xfrm>
            <a:off x="9796551" y="504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324B-C07D-7110-16BD-DA6DE6E472D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 wrap="square" lIns="91440" tIns="45720" rIns="91440" bIns="45720" rtlCol="0" anchor="t"/>
          <a:lstStyle/>
          <a:p>
            <a:r>
              <a:rPr lang="en-US">
                <a:ea typeface="Calibri"/>
                <a:cs typeface="Calibri"/>
              </a:rPr>
              <a:t>Contexto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B8D86-FB92-72C5-65EC-9556922F46FF}"/>
              </a:ext>
            </a:extLst>
          </p:cNvPr>
          <p:cNvSpPr txBox="1"/>
          <p:nvPr/>
        </p:nvSpPr>
        <p:spPr>
          <a:xfrm>
            <a:off x="647049" y="1158894"/>
            <a:ext cx="1109641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La </a:t>
            </a:r>
            <a:r>
              <a:rPr lang="en-US" sz="2800" dirty="0" err="1">
                <a:ea typeface="+mn-lt"/>
                <a:cs typeface="+mn-lt"/>
              </a:rPr>
              <a:t>empresa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ficticia</a:t>
            </a:r>
            <a:r>
              <a:rPr lang="en-US" sz="2800" dirty="0">
                <a:ea typeface="+mn-lt"/>
                <a:cs typeface="+mn-lt"/>
              </a:rPr>
              <a:t> Auren Patagonia Energía S.A. </a:t>
            </a:r>
            <a:r>
              <a:rPr lang="en-US" sz="2800" dirty="0" err="1">
                <a:ea typeface="+mn-lt"/>
                <a:cs typeface="+mn-lt"/>
              </a:rPr>
              <a:t>está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ejecutando</a:t>
            </a:r>
            <a:r>
              <a:rPr lang="en-US" sz="2800" dirty="0">
                <a:ea typeface="+mn-lt"/>
                <a:cs typeface="+mn-lt"/>
              </a:rPr>
              <a:t> el </a:t>
            </a:r>
            <a:r>
              <a:rPr lang="en-US" sz="2800" dirty="0" err="1">
                <a:ea typeface="+mn-lt"/>
                <a:cs typeface="+mn-lt"/>
              </a:rPr>
              <a:t>proyecto</a:t>
            </a:r>
            <a:r>
              <a:rPr lang="en-US" sz="2800" dirty="0">
                <a:ea typeface="+mn-lt"/>
                <a:cs typeface="+mn-lt"/>
              </a:rPr>
              <a:t> Horizonte 2027, </a:t>
            </a:r>
            <a:r>
              <a:rPr lang="en-US" sz="2800" dirty="0" err="1">
                <a:ea typeface="+mn-lt"/>
                <a:cs typeface="+mn-lt"/>
              </a:rPr>
              <a:t>cuyo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objetivo</a:t>
            </a:r>
            <a:r>
              <a:rPr lang="en-US" sz="2800" dirty="0">
                <a:ea typeface="+mn-lt"/>
                <a:cs typeface="+mn-lt"/>
              </a:rPr>
              <a:t> es </a:t>
            </a:r>
            <a:r>
              <a:rPr lang="en-US" sz="2800" dirty="0" err="1">
                <a:ea typeface="+mn-lt"/>
                <a:cs typeface="+mn-lt"/>
              </a:rPr>
              <a:t>incorporar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ocho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pozos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producción</a:t>
            </a:r>
            <a:r>
              <a:rPr lang="en-US" sz="2800" dirty="0">
                <a:ea typeface="+mn-lt"/>
                <a:cs typeface="+mn-lt"/>
              </a:rPr>
              <a:t> antes del 30/06/2027.</a:t>
            </a:r>
            <a:endParaRPr lang="en-US" sz="2800" dirty="0">
              <a:ea typeface="Calibri Light"/>
              <a:cs typeface="Calibri Light"/>
            </a:endParaRPr>
          </a:p>
          <a:p>
            <a:endParaRPr lang="en-US" sz="2800" b="1" dirty="0">
              <a:ea typeface="Calibri Light"/>
              <a:cs typeface="Calibri Light"/>
            </a:endParaRPr>
          </a:p>
          <a:p>
            <a:r>
              <a:rPr lang="en-US" sz="2800" b="1" dirty="0">
                <a:ea typeface="+mn-lt"/>
                <a:cs typeface="+mn-lt"/>
              </a:rPr>
              <a:t>El </a:t>
            </a:r>
            <a:r>
              <a:rPr lang="en-US" sz="2800" b="1" dirty="0" err="1">
                <a:ea typeface="+mn-lt"/>
                <a:cs typeface="+mn-lt"/>
              </a:rPr>
              <a:t>protagonista</a:t>
            </a:r>
            <a:r>
              <a:rPr lang="en-US" sz="2800" b="1" dirty="0">
                <a:ea typeface="+mn-lt"/>
                <a:cs typeface="+mn-lt"/>
              </a:rPr>
              <a:t> es Diego Salvatierra, </a:t>
            </a:r>
            <a:r>
              <a:rPr lang="en-US" sz="2800" b="1" dirty="0" err="1">
                <a:ea typeface="+mn-lt"/>
                <a:cs typeface="+mn-lt"/>
              </a:rPr>
              <a:t>coordinador</a:t>
            </a:r>
            <a:r>
              <a:rPr lang="en-US" sz="2800" b="1" dirty="0">
                <a:ea typeface="+mn-lt"/>
                <a:cs typeface="+mn-lt"/>
              </a:rPr>
              <a:t> del </a:t>
            </a:r>
            <a:r>
              <a:rPr lang="en-US" sz="2800" b="1" dirty="0" err="1">
                <a:ea typeface="+mn-lt"/>
                <a:cs typeface="+mn-lt"/>
              </a:rPr>
              <a:t>proyecto</a:t>
            </a:r>
            <a:r>
              <a:rPr lang="en-US" sz="2800" b="1" dirty="0">
                <a:ea typeface="+mn-lt"/>
                <a:cs typeface="+mn-lt"/>
              </a:rPr>
              <a:t>. Debe </a:t>
            </a:r>
            <a:r>
              <a:rPr lang="en-US" sz="2800" b="1" dirty="0" err="1">
                <a:ea typeface="+mn-lt"/>
                <a:cs typeface="+mn-lt"/>
              </a:rPr>
              <a:t>preparar</a:t>
            </a:r>
            <a:r>
              <a:rPr lang="en-US" sz="2800" b="1" dirty="0">
                <a:ea typeface="+mn-lt"/>
                <a:cs typeface="+mn-lt"/>
              </a:rPr>
              <a:t> un </a:t>
            </a:r>
            <a:r>
              <a:rPr lang="en-US" sz="2800" b="1" dirty="0" err="1">
                <a:ea typeface="+mn-lt"/>
                <a:cs typeface="+mn-lt"/>
              </a:rPr>
              <a:t>informe</a:t>
            </a:r>
            <a:r>
              <a:rPr lang="en-US" sz="2800" b="1" dirty="0">
                <a:ea typeface="+mn-lt"/>
                <a:cs typeface="+mn-lt"/>
              </a:rPr>
              <a:t> de </a:t>
            </a:r>
            <a:r>
              <a:rPr lang="en-US" sz="2800" b="1" dirty="0" err="1">
                <a:ea typeface="+mn-lt"/>
                <a:cs typeface="+mn-lt"/>
              </a:rPr>
              <a:t>avance</a:t>
            </a:r>
            <a:r>
              <a:rPr lang="en-US" sz="2800" b="1" dirty="0">
                <a:ea typeface="+mn-lt"/>
                <a:cs typeface="+mn-lt"/>
              </a:rPr>
              <a:t> de </a:t>
            </a:r>
            <a:r>
              <a:rPr lang="en-US" sz="2800" b="1" dirty="0" err="1">
                <a:ea typeface="+mn-lt"/>
                <a:cs typeface="+mn-lt"/>
              </a:rPr>
              <a:t>septiembre</a:t>
            </a:r>
            <a:r>
              <a:rPr lang="en-US" sz="2800" b="1" dirty="0">
                <a:ea typeface="+mn-lt"/>
                <a:cs typeface="+mn-lt"/>
              </a:rPr>
              <a:t> de 2026 para Lucía Ferrer, </a:t>
            </a:r>
            <a:r>
              <a:rPr lang="en-US" sz="2800" b="1" dirty="0" err="1">
                <a:ea typeface="+mn-lt"/>
                <a:cs typeface="+mn-lt"/>
              </a:rPr>
              <a:t>consolidando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información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dispersa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en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minutas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dirty="0" err="1">
                <a:ea typeface="+mn-lt"/>
                <a:cs typeface="+mn-lt"/>
              </a:rPr>
              <a:t>correos</a:t>
            </a:r>
            <a:r>
              <a:rPr lang="en-US" sz="2800" b="1" dirty="0">
                <a:ea typeface="+mn-lt"/>
                <a:cs typeface="+mn-lt"/>
              </a:rPr>
              <a:t> y </a:t>
            </a:r>
            <a:r>
              <a:rPr lang="en-US" sz="2800" b="1" dirty="0" err="1">
                <a:ea typeface="+mn-lt"/>
                <a:cs typeface="+mn-lt"/>
              </a:rPr>
              <a:t>versiones</a:t>
            </a:r>
            <a:r>
              <a:rPr lang="en-US" sz="2800" b="1" dirty="0">
                <a:ea typeface="+mn-lt"/>
                <a:cs typeface="+mn-lt"/>
              </a:rPr>
              <a:t> de </a:t>
            </a:r>
            <a:r>
              <a:rPr lang="en-US" sz="2800" b="1" dirty="0" err="1">
                <a:ea typeface="+mn-lt"/>
                <a:cs typeface="+mn-lt"/>
              </a:rPr>
              <a:t>cronogramas</a:t>
            </a:r>
            <a:r>
              <a:rPr lang="en-US" sz="2800" b="1" dirty="0">
                <a:ea typeface="+mn-lt"/>
                <a:cs typeface="+mn-lt"/>
              </a:rPr>
              <a:t>.</a:t>
            </a:r>
            <a:endParaRPr lang="en-US" sz="2800" b="1" dirty="0">
              <a:ea typeface="Calibri Light"/>
              <a:cs typeface="Calibri Light"/>
            </a:endParaRPr>
          </a:p>
          <a:p>
            <a:endParaRPr lang="en-US" sz="2800" dirty="0">
              <a:ea typeface="Calibri Light"/>
              <a:cs typeface="Calibri Light"/>
            </a:endParaRPr>
          </a:p>
          <a:p>
            <a:r>
              <a:rPr lang="en-US" sz="2800" dirty="0">
                <a:ea typeface="+mn-lt"/>
                <a:cs typeface="+mn-lt"/>
              </a:rPr>
              <a:t>La idea del </a:t>
            </a:r>
            <a:r>
              <a:rPr lang="en-US" sz="2800" dirty="0" err="1">
                <a:ea typeface="+mn-lt"/>
                <a:cs typeface="+mn-lt"/>
              </a:rPr>
              <a:t>ejercicio</a:t>
            </a:r>
            <a:r>
              <a:rPr lang="en-US" sz="2800" dirty="0">
                <a:ea typeface="+mn-lt"/>
                <a:cs typeface="+mn-lt"/>
              </a:rPr>
              <a:t> es </a:t>
            </a:r>
            <a:r>
              <a:rPr lang="en-US" sz="2800" dirty="0" err="1">
                <a:ea typeface="+mn-lt"/>
                <a:cs typeface="+mn-lt"/>
              </a:rPr>
              <a:t>mostrar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cómo</a:t>
            </a:r>
            <a:r>
              <a:rPr lang="en-US" sz="2800" dirty="0">
                <a:ea typeface="+mn-lt"/>
                <a:cs typeface="+mn-lt"/>
              </a:rPr>
              <a:t> Copilot </a:t>
            </a:r>
            <a:r>
              <a:rPr lang="en-US" sz="2800" dirty="0" err="1">
                <a:ea typeface="+mn-lt"/>
                <a:cs typeface="+mn-lt"/>
              </a:rPr>
              <a:t>puede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consolidar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información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dirty="0" err="1">
                <a:ea typeface="+mn-lt"/>
                <a:cs typeface="+mn-lt"/>
              </a:rPr>
              <a:t>múltiples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fuentes</a:t>
            </a:r>
            <a:r>
              <a:rPr lang="en-US" sz="2800" dirty="0">
                <a:ea typeface="+mn-lt"/>
                <a:cs typeface="+mn-lt"/>
              </a:rPr>
              <a:t>,</a:t>
            </a:r>
            <a:endParaRPr lang="en-US" sz="28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9859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rjeta Personas">
            <a:extLst>
              <a:ext uri="{FF2B5EF4-FFF2-40B4-BE49-F238E27FC236}">
                <a16:creationId xmlns:a16="http://schemas.microsoft.com/office/drawing/2014/main" id="{B7052363-EB9F-220C-CB07-4F9487E850E4}"/>
              </a:ext>
            </a:extLst>
          </p:cNvPr>
          <p:cNvSpPr/>
          <p:nvPr/>
        </p:nvSpPr>
        <p:spPr>
          <a:xfrm>
            <a:off x="2591575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arjeta Personas">
            <a:extLst>
              <a:ext uri="{FF2B5EF4-FFF2-40B4-BE49-F238E27FC236}">
                <a16:creationId xmlns:a16="http://schemas.microsoft.com/office/drawing/2014/main" id="{2B22DC93-8303-8DCD-6A1F-590105A5166F}"/>
              </a:ext>
            </a:extLst>
          </p:cNvPr>
          <p:cNvSpPr/>
          <p:nvPr/>
        </p:nvSpPr>
        <p:spPr>
          <a:xfrm>
            <a:off x="467699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arjeta Personas">
            <a:extLst>
              <a:ext uri="{FF2B5EF4-FFF2-40B4-BE49-F238E27FC236}">
                <a16:creationId xmlns:a16="http://schemas.microsoft.com/office/drawing/2014/main" id="{54FED0C4-B321-4C67-BB5C-1EBE73057B56}"/>
              </a:ext>
            </a:extLst>
          </p:cNvPr>
          <p:cNvSpPr/>
          <p:nvPr/>
        </p:nvSpPr>
        <p:spPr>
          <a:xfrm>
            <a:off x="50616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desafío: un informe, muchas fuentes</a:t>
            </a:r>
            <a:endParaRPr lang="en-US" sz="3600" dirty="0"/>
          </a:p>
        </p:txBody>
      </p:sp>
      <p:pic>
        <p:nvPicPr>
          <p:cNvPr id="3" name="Imagen principal" descr="Equipo de trabajo revisando inform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554480"/>
            <a:ext cx="475488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7840" y="2103120"/>
            <a:ext cx="138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27840" y="3703320"/>
            <a:ext cx="138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reuniones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776680" y="2103120"/>
            <a:ext cx="132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2776680" y="3703320"/>
            <a:ext cx="13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correos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745520" y="2103120"/>
            <a:ext cx="15701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8800" dirty="0"/>
          </a:p>
        </p:txBody>
      </p:sp>
      <p:sp>
        <p:nvSpPr>
          <p:cNvPr id="9" name="Text 6"/>
          <p:cNvSpPr txBox="1"/>
          <p:nvPr/>
        </p:nvSpPr>
        <p:spPr>
          <a:xfrm>
            <a:off x="4745520" y="3703320"/>
            <a:ext cx="157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cronogramas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5825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Informe de septiembre para el Comité de Dirección · 06/10/2026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Herramientas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0116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Copilot Chat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Work IQ, con referencias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0116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31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Word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Informe y control final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0116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331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Archivos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9 fuentes sintéticas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Archivos complementarios</a:t>
            </a:r>
            <a:endParaRPr lang="en-US" sz="3600" dirty="0"/>
          </a:p>
        </p:txBody>
      </p:sp>
      <p:sp>
        <p:nvSpPr>
          <p:cNvPr id="3" name="Tarjeta M01"/>
          <p:cNvSpPr/>
          <p:nvPr/>
        </p:nvSpPr>
        <p:spPr>
          <a:xfrm>
            <a:off x="548640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M01"/>
          <p:cNvSpPr/>
          <p:nvPr/>
        </p:nvSpPr>
        <p:spPr>
          <a:xfrm>
            <a:off x="731520" y="1874519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M01</a:t>
            </a:r>
          </a:p>
        </p:txBody>
      </p:sp>
      <p:sp>
        <p:nvSpPr>
          <p:cNvPr id="5" name="Texto M01"/>
          <p:cNvSpPr txBox="1"/>
          <p:nvPr/>
        </p:nvSpPr>
        <p:spPr>
          <a:xfrm>
            <a:off x="1783080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Correo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Solicitud de informe</a:t>
            </a:r>
          </a:p>
        </p:txBody>
      </p:sp>
      <p:sp>
        <p:nvSpPr>
          <p:cNvPr id="6" name="Tarjeta M02"/>
          <p:cNvSpPr/>
          <p:nvPr/>
        </p:nvSpPr>
        <p:spPr>
          <a:xfrm>
            <a:off x="4379976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M02"/>
          <p:cNvSpPr/>
          <p:nvPr/>
        </p:nvSpPr>
        <p:spPr>
          <a:xfrm>
            <a:off x="4562856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M02</a:t>
            </a:r>
          </a:p>
        </p:txBody>
      </p:sp>
      <p:sp>
        <p:nvSpPr>
          <p:cNvPr id="8" name="Texto M02"/>
          <p:cNvSpPr txBox="1"/>
          <p:nvPr/>
        </p:nvSpPr>
        <p:spPr>
          <a:xfrm>
            <a:off x="5614416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Minuta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Comité 08/09</a:t>
            </a:r>
          </a:p>
        </p:txBody>
      </p:sp>
      <p:sp>
        <p:nvSpPr>
          <p:cNvPr id="9" name="Tarjeta M03"/>
          <p:cNvSpPr/>
          <p:nvPr/>
        </p:nvSpPr>
        <p:spPr>
          <a:xfrm>
            <a:off x="8211312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M03"/>
          <p:cNvSpPr/>
          <p:nvPr/>
        </p:nvSpPr>
        <p:spPr>
          <a:xfrm>
            <a:off x="8394192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M03</a:t>
            </a:r>
          </a:p>
        </p:txBody>
      </p:sp>
      <p:sp>
        <p:nvSpPr>
          <p:cNvPr id="11" name="Texto M03"/>
          <p:cNvSpPr txBox="1"/>
          <p:nvPr/>
        </p:nvSpPr>
        <p:spPr>
          <a:xfrm>
            <a:off x="9445752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Minuta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Coordinación 15/09</a:t>
            </a:r>
          </a:p>
        </p:txBody>
      </p:sp>
      <p:sp>
        <p:nvSpPr>
          <p:cNvPr id="12" name="Tarjeta M04"/>
          <p:cNvSpPr/>
          <p:nvPr/>
        </p:nvSpPr>
        <p:spPr>
          <a:xfrm>
            <a:off x="548640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M04"/>
          <p:cNvSpPr/>
          <p:nvPr/>
        </p:nvSpPr>
        <p:spPr>
          <a:xfrm>
            <a:off x="731520" y="34290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M04</a:t>
            </a:r>
          </a:p>
        </p:txBody>
      </p:sp>
      <p:sp>
        <p:nvSpPr>
          <p:cNvPr id="14" name="Texto M04"/>
          <p:cNvSpPr txBox="1"/>
          <p:nvPr/>
        </p:nvSpPr>
        <p:spPr>
          <a:xfrm>
            <a:off x="1783080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Minuta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Comité 29/09</a:t>
            </a:r>
          </a:p>
        </p:txBody>
      </p:sp>
      <p:sp>
        <p:nvSpPr>
          <p:cNvPr id="15" name="Tarjeta M05"/>
          <p:cNvSpPr/>
          <p:nvPr/>
        </p:nvSpPr>
        <p:spPr>
          <a:xfrm>
            <a:off x="4379976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M05"/>
          <p:cNvSpPr/>
          <p:nvPr/>
        </p:nvSpPr>
        <p:spPr>
          <a:xfrm>
            <a:off x="4562856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M05</a:t>
            </a:r>
          </a:p>
        </p:txBody>
      </p:sp>
      <p:sp>
        <p:nvSpPr>
          <p:cNvPr id="17" name="Texto M05"/>
          <p:cNvSpPr txBox="1"/>
          <p:nvPr/>
        </p:nvSpPr>
        <p:spPr>
          <a:xfrm>
            <a:off x="5614416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Correo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Aviso de v1.3</a:t>
            </a:r>
          </a:p>
        </p:txBody>
      </p:sp>
      <p:sp>
        <p:nvSpPr>
          <p:cNvPr id="18" name="Tarjeta M06"/>
          <p:cNvSpPr/>
          <p:nvPr/>
        </p:nvSpPr>
        <p:spPr>
          <a:xfrm>
            <a:off x="8211312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M06"/>
          <p:cNvSpPr/>
          <p:nvPr/>
        </p:nvSpPr>
        <p:spPr>
          <a:xfrm>
            <a:off x="8394192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M06</a:t>
            </a:r>
          </a:p>
        </p:txBody>
      </p:sp>
      <p:sp>
        <p:nvSpPr>
          <p:cNvPr id="20" name="Texto M06"/>
          <p:cNvSpPr txBox="1"/>
          <p:nvPr/>
        </p:nvSpPr>
        <p:spPr>
          <a:xfrm>
            <a:off x="9445752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Correo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Estado de permisos</a:t>
            </a:r>
          </a:p>
        </p:txBody>
      </p:sp>
      <p:sp>
        <p:nvSpPr>
          <p:cNvPr id="21" name="Tarjeta M07"/>
          <p:cNvSpPr/>
          <p:nvPr/>
        </p:nvSpPr>
        <p:spPr>
          <a:xfrm>
            <a:off x="548640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M07"/>
          <p:cNvSpPr/>
          <p:nvPr/>
        </p:nvSpPr>
        <p:spPr>
          <a:xfrm>
            <a:off x="731520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M07</a:t>
            </a:r>
          </a:p>
        </p:txBody>
      </p:sp>
      <p:sp>
        <p:nvSpPr>
          <p:cNvPr id="23" name="Texto M07"/>
          <p:cNvSpPr txBox="1"/>
          <p:nvPr/>
        </p:nvSpPr>
        <p:spPr>
          <a:xfrm>
            <a:off x="1783080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Cronograma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Versión 1.2</a:t>
            </a:r>
          </a:p>
        </p:txBody>
      </p:sp>
      <p:sp>
        <p:nvSpPr>
          <p:cNvPr id="24" name="Tarjeta M08"/>
          <p:cNvSpPr/>
          <p:nvPr/>
        </p:nvSpPr>
        <p:spPr>
          <a:xfrm>
            <a:off x="4379976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írculo M08"/>
          <p:cNvSpPr/>
          <p:nvPr/>
        </p:nvSpPr>
        <p:spPr>
          <a:xfrm>
            <a:off x="4562856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M08</a:t>
            </a:r>
          </a:p>
        </p:txBody>
      </p:sp>
      <p:sp>
        <p:nvSpPr>
          <p:cNvPr id="26" name="Texto M08"/>
          <p:cNvSpPr txBox="1"/>
          <p:nvPr/>
        </p:nvSpPr>
        <p:spPr>
          <a:xfrm>
            <a:off x="5614416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Cronograma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Versión 1.3</a:t>
            </a:r>
          </a:p>
        </p:txBody>
      </p:sp>
      <p:sp>
        <p:nvSpPr>
          <p:cNvPr id="27" name="Tarjeta M09"/>
          <p:cNvSpPr/>
          <p:nvPr/>
        </p:nvSpPr>
        <p:spPr>
          <a:xfrm>
            <a:off x="8211312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írculo M09"/>
          <p:cNvSpPr/>
          <p:nvPr/>
        </p:nvSpPr>
        <p:spPr>
          <a:xfrm>
            <a:off x="8394192" y="4983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M09</a:t>
            </a:r>
          </a:p>
        </p:txBody>
      </p:sp>
      <p:sp>
        <p:nvSpPr>
          <p:cNvPr id="29" name="Texto M09"/>
          <p:cNvSpPr txBox="1"/>
          <p:nvPr/>
        </p:nvSpPr>
        <p:spPr>
          <a:xfrm>
            <a:off x="9445752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Correo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Autoevaluación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7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30′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Demo práctica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Diego consolida el informe de septiembre</a:t>
            </a:r>
            <a:endParaRPr lang="en-U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0DF465-2C3D-917D-2DC1-23C5513A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" y="0"/>
            <a:ext cx="38308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Criterio de aceptación del informe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2924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12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Siete controles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Todos cumplidos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2924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6125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Cada dato con su origen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2924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612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Pendientes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Explícitos y a la vista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321DC0-601B-98D7-563C-8C85A507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Velo de contraste">
            <a:extLst>
              <a:ext uri="{FF2B5EF4-FFF2-40B4-BE49-F238E27FC236}">
                <a16:creationId xmlns:a16="http://schemas.microsoft.com/office/drawing/2014/main" id="{7D36760C-49DA-D99C-6B0D-154D91384BE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C8DE7C-B3FF-BE63-267A-5134E9DA8BE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29795B-EC30-1657-459C-F42E920C3BF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Las ideas y dudas de ustedes enriquecen el caso</a:t>
            </a:r>
            <a:endParaRPr lang="en-US" sz="2600" dirty="0"/>
          </a:p>
        </p:txBody>
      </p:sp>
      <p:sp>
        <p:nvSpPr>
          <p:cNvPr id="20" name="Pie de página IA">
            <a:extLst>
              <a:ext uri="{FF2B5EF4-FFF2-40B4-BE49-F238E27FC236}">
                <a16:creationId xmlns:a16="http://schemas.microsoft.com/office/drawing/2014/main" id="{899B7EA3-4C0F-B283-1EF8-5EF938086AD4}"/>
              </a:ext>
            </a:extLst>
          </p:cNvPr>
          <p:cNvSpPr txBox="1"/>
          <p:nvPr/>
        </p:nvSpPr>
        <p:spPr>
          <a:xfrm>
            <a:off x="731520" y="645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bg1"/>
                </a:solidFill>
              </a:rPr>
              <a:t>Esta presentación ha sido generada con la asistencia de inteligencia artificial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EC4B20-7124-5E0D-6645-C4A5F15F5A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5" b="6653"/>
          <a:stretch>
            <a:fillRect/>
          </a:stretch>
        </p:blipFill>
        <p:spPr>
          <a:xfrm>
            <a:off x="9796551" y="504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kshop IA - Plantilla Base [1791645834479]">
  <a:themeElements>
    <a:clrScheme name="Workshop IA - Plantilla Base">
      <a:dk1>
        <a:srgbClr val="222B33"/>
      </a:dk1>
      <a:lt1>
        <a:srgbClr val="FFFFFF"/>
      </a:lt1>
      <a:dk2>
        <a:srgbClr val="1A2B4C"/>
      </a:dk2>
      <a:lt2>
        <a:srgbClr val="F1F3F5"/>
      </a:lt2>
      <a:accent1>
        <a:srgbClr val="2E8B7A"/>
      </a:accent1>
      <a:accent2>
        <a:srgbClr val="C8693A"/>
      </a:accent2>
      <a:accent3>
        <a:srgbClr val="5B7FA6"/>
      </a:accent3>
      <a:accent4>
        <a:srgbClr val="E2B04A"/>
      </a:accent4>
      <a:accent5>
        <a:srgbClr val="56606B"/>
      </a:accent5>
      <a:accent6>
        <a:srgbClr val="8A97A3"/>
      </a:accent6>
      <a:hlink>
        <a:srgbClr val="2E8B7A"/>
      </a:hlink>
      <a:folHlink>
        <a:srgbClr val="56606B"/>
      </a:folHlink>
    </a:clrScheme>
    <a:fontScheme name="Workshop IA - Plantilla B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0566AA-4711-4F67-99F4-88E44307B1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a29918e-7b47-4d9d-b769-bdbced081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335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Workshop IA - Plantilla Base [1791645834479]</vt:lpstr>
      <vt:lpstr>Resumen de Gestión</vt:lpstr>
      <vt:lpstr>Contexto</vt:lpstr>
      <vt:lpstr>El desafío: un informe, muchas fuentes</vt:lpstr>
      <vt:lpstr>Herramientas</vt:lpstr>
      <vt:lpstr>Archivos complementarios</vt:lpstr>
      <vt:lpstr>Demo práctica</vt:lpstr>
      <vt:lpstr>Criterio de aceptación del informe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base - Workshop de IA (borrador v0.1)</dc:title>
  <dc:subject>PptxGenJS Presentation</dc:subject>
  <dc:creator>IA para Todos</dc:creator>
  <cp:lastModifiedBy>Oscar Gerometta</cp:lastModifiedBy>
  <cp:revision>30</cp:revision>
  <dcterms:created xsi:type="dcterms:W3CDTF">2026-10-10T15:11:13Z</dcterms:created>
  <dcterms:modified xsi:type="dcterms:W3CDTF">2026-10-14T01:25:40Z</dcterms:modified>
</cp:coreProperties>
</file>