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5"/>
  </p:notesMasterIdLst>
  <p:sldIdLst>
    <p:sldId id="273" r:id="rId2"/>
    <p:sldId id="283" r:id="rId3"/>
    <p:sldId id="284" r:id="rId4"/>
    <p:sldId id="285" r:id="rId5"/>
    <p:sldId id="286" r:id="rId6"/>
    <p:sldId id="287" r:id="rId7"/>
    <p:sldId id="274" r:id="rId8"/>
    <p:sldId id="275" r:id="rId9"/>
    <p:sldId id="276" r:id="rId10"/>
    <p:sldId id="277" r:id="rId11"/>
    <p:sldId id="278" r:id="rId12"/>
    <p:sldId id="279" r:id="rId13"/>
    <p:sldId id="28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13T21:22:50.564"/>
    <p1510:client id="{A5744772-740B-59DB-4B81-30FD10BA27A4}" v="247" dt="2026-10-14T01:24:17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8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34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016C65-BA26-90EE-10E1-194CB27C7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ARADOR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937760" y="265176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937760" y="45720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Pie de página IA"/>
          <p:cNvSpPr/>
          <p:nvPr/>
        </p:nvSpPr>
        <p:spPr>
          <a:xfrm>
            <a:off x="493776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6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GUNTAS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600" dirty="0">
                <a:solidFill>
                  <a:schemeClr val="accent4"/>
                </a:solidFill>
              </a:defRPr>
            </a:lvl1pPr>
          </a:lstStyle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lo de contrast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00"/>
                </a:solidFill>
              </a:rPr>
              <a:t>WORKSHOP · IA EN LA GESTIÓN ADMINISTRATIVA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Inteligencia de Cuenca</a:t>
            </a:r>
            <a:endParaRPr lang="en-US" sz="56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</a:rPr>
              <a:t>Caso 2 · Demo práctica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5FFB33C-2422-A1E0-7E7F-2D1FB5E96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5" b="6653"/>
          <a:stretch>
            <a:fillRect/>
          </a:stretch>
        </p:blipFill>
        <p:spPr>
          <a:xfrm>
            <a:off x="9796856" y="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65883-E204-BBBE-5225-CB999C85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08D602-3A9F-4E58-38C7-CCE33A364C2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/>
              <a:t>Temas a </a:t>
            </a:r>
            <a:r>
              <a:rPr lang="en-US" err="1"/>
              <a:t>Estudiar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3" name="Tarjeta desafío 1">
            <a:extLst>
              <a:ext uri="{FF2B5EF4-FFF2-40B4-BE49-F238E27FC236}">
                <a16:creationId xmlns:a16="http://schemas.microsoft.com/office/drawing/2014/main" id="{717972A5-69E0-3380-0D22-14F71CE15955}"/>
              </a:ext>
            </a:extLst>
          </p:cNvPr>
          <p:cNvSpPr/>
          <p:nvPr/>
        </p:nvSpPr>
        <p:spPr>
          <a:xfrm>
            <a:off x="548640" y="155448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desafío 1">
            <a:extLst>
              <a:ext uri="{FF2B5EF4-FFF2-40B4-BE49-F238E27FC236}">
                <a16:creationId xmlns:a16="http://schemas.microsoft.com/office/drawing/2014/main" id="{871B151E-45DC-F07B-D26B-AAEDA6B389CE}"/>
              </a:ext>
            </a:extLst>
          </p:cNvPr>
          <p:cNvSpPr/>
          <p:nvPr/>
        </p:nvSpPr>
        <p:spPr>
          <a:xfrm>
            <a:off x="777240" y="169163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o" descr="image.png">
            <a:extLst>
              <a:ext uri="{FF2B5EF4-FFF2-40B4-BE49-F238E27FC236}">
                <a16:creationId xmlns:a16="http://schemas.microsoft.com/office/drawing/2014/main" id="{631F8AE7-E5C1-1F1C-C606-44A209B36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11480" cy="411480"/>
          </a:xfrm>
          <a:prstGeom prst="rect">
            <a:avLst/>
          </a:prstGeom>
        </p:spPr>
      </p:pic>
      <p:sp>
        <p:nvSpPr>
          <p:cNvPr id="6" name="Texto desafío 1">
            <a:extLst>
              <a:ext uri="{FF2B5EF4-FFF2-40B4-BE49-F238E27FC236}">
                <a16:creationId xmlns:a16="http://schemas.microsoft.com/office/drawing/2014/main" id="{0BE2F763-3E37-7EB2-3EE3-6B15A3F0166F}"/>
              </a:ext>
            </a:extLst>
          </p:cNvPr>
          <p:cNvSpPr txBox="1"/>
          <p:nvPr/>
        </p:nvSpPr>
        <p:spPr>
          <a:xfrm>
            <a:off x="1828800" y="1926371"/>
            <a:ext cx="953719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000" b="1" dirty="0" err="1">
                <a:solidFill>
                  <a:schemeClr val="tx2"/>
                </a:solidFill>
              </a:rPr>
              <a:t>Agente</a:t>
            </a:r>
            <a:r>
              <a:rPr lang="en-US" sz="2000" b="1" dirty="0">
                <a:solidFill>
                  <a:schemeClr val="tx2"/>
                </a:solidFill>
              </a:rPr>
              <a:t> Researcher</a:t>
            </a:r>
            <a:endParaRPr lang="en-US" b="1" dirty="0">
              <a:solidFill>
                <a:schemeClr val="tx2"/>
              </a:solidFill>
              <a:ea typeface="Calibri Light"/>
              <a:cs typeface="Calibri Light"/>
            </a:endParaRPr>
          </a:p>
        </p:txBody>
      </p:sp>
      <p:sp>
        <p:nvSpPr>
          <p:cNvPr id="7" name="Tarjeta desafío 2">
            <a:extLst>
              <a:ext uri="{FF2B5EF4-FFF2-40B4-BE49-F238E27FC236}">
                <a16:creationId xmlns:a16="http://schemas.microsoft.com/office/drawing/2014/main" id="{9CC88B39-0EAC-0075-325E-26882910A3B9}"/>
              </a:ext>
            </a:extLst>
          </p:cNvPr>
          <p:cNvSpPr/>
          <p:nvPr/>
        </p:nvSpPr>
        <p:spPr>
          <a:xfrm>
            <a:off x="548640" y="274320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írculo desafío 2">
            <a:extLst>
              <a:ext uri="{FF2B5EF4-FFF2-40B4-BE49-F238E27FC236}">
                <a16:creationId xmlns:a16="http://schemas.microsoft.com/office/drawing/2014/main" id="{B3904D62-6BF0-C0C7-6435-EF4DB3076AB1}"/>
              </a:ext>
            </a:extLst>
          </p:cNvPr>
          <p:cNvSpPr/>
          <p:nvPr/>
        </p:nvSpPr>
        <p:spPr>
          <a:xfrm>
            <a:off x="777240" y="28803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o" descr="image.png">
            <a:extLst>
              <a:ext uri="{FF2B5EF4-FFF2-40B4-BE49-F238E27FC236}">
                <a16:creationId xmlns:a16="http://schemas.microsoft.com/office/drawing/2014/main" id="{F007C854-8B7E-86E6-FE51-E071FA62D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63240"/>
            <a:ext cx="411480" cy="411480"/>
          </a:xfrm>
          <a:prstGeom prst="rect">
            <a:avLst/>
          </a:prstGeom>
        </p:spPr>
      </p:pic>
      <p:sp>
        <p:nvSpPr>
          <p:cNvPr id="10" name="Texto desafío 2">
            <a:extLst>
              <a:ext uri="{FF2B5EF4-FFF2-40B4-BE49-F238E27FC236}">
                <a16:creationId xmlns:a16="http://schemas.microsoft.com/office/drawing/2014/main" id="{1A31C20F-9D3D-9D7D-D004-1CD63BDED40E}"/>
              </a:ext>
            </a:extLst>
          </p:cNvPr>
          <p:cNvSpPr txBox="1"/>
          <p:nvPr/>
        </p:nvSpPr>
        <p:spPr>
          <a:xfrm>
            <a:off x="1828800" y="3115091"/>
            <a:ext cx="953719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000" b="1" dirty="0" err="1">
                <a:solidFill>
                  <a:schemeClr val="tx2"/>
                </a:solidFill>
              </a:rPr>
              <a:t>Definición</a:t>
            </a:r>
            <a:r>
              <a:rPr lang="en-US" sz="2000" b="1" dirty="0">
                <a:solidFill>
                  <a:schemeClr val="tx2"/>
                </a:solidFill>
              </a:rPr>
              <a:t> de Fuentes</a:t>
            </a:r>
            <a:endParaRPr lang="en-US" b="1" dirty="0">
              <a:solidFill>
                <a:schemeClr val="tx2"/>
              </a:solidFill>
              <a:ea typeface="Calibri Light"/>
              <a:cs typeface="Calibri Light"/>
            </a:endParaRPr>
          </a:p>
        </p:txBody>
      </p:sp>
      <p:sp>
        <p:nvSpPr>
          <p:cNvPr id="11" name="Tarjeta desafío 3">
            <a:extLst>
              <a:ext uri="{FF2B5EF4-FFF2-40B4-BE49-F238E27FC236}">
                <a16:creationId xmlns:a16="http://schemas.microsoft.com/office/drawing/2014/main" id="{4C7054CF-9ABC-F587-1809-682E9464D4C9}"/>
              </a:ext>
            </a:extLst>
          </p:cNvPr>
          <p:cNvSpPr/>
          <p:nvPr/>
        </p:nvSpPr>
        <p:spPr>
          <a:xfrm>
            <a:off x="548640" y="393192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írculo desafío 3">
            <a:extLst>
              <a:ext uri="{FF2B5EF4-FFF2-40B4-BE49-F238E27FC236}">
                <a16:creationId xmlns:a16="http://schemas.microsoft.com/office/drawing/2014/main" id="{602B15B7-079F-B322-9FC9-4B2171BBA887}"/>
              </a:ext>
            </a:extLst>
          </p:cNvPr>
          <p:cNvSpPr/>
          <p:nvPr/>
        </p:nvSpPr>
        <p:spPr>
          <a:xfrm>
            <a:off x="777240" y="406908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o" descr="image.png">
            <a:extLst>
              <a:ext uri="{FF2B5EF4-FFF2-40B4-BE49-F238E27FC236}">
                <a16:creationId xmlns:a16="http://schemas.microsoft.com/office/drawing/2014/main" id="{F9C8C188-6BCF-ABB9-9D26-0E2166321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59"/>
            <a:ext cx="411480" cy="411480"/>
          </a:xfrm>
          <a:prstGeom prst="rect">
            <a:avLst/>
          </a:prstGeom>
        </p:spPr>
      </p:pic>
      <p:sp>
        <p:nvSpPr>
          <p:cNvPr id="14" name="Texto desafío 3">
            <a:extLst>
              <a:ext uri="{FF2B5EF4-FFF2-40B4-BE49-F238E27FC236}">
                <a16:creationId xmlns:a16="http://schemas.microsoft.com/office/drawing/2014/main" id="{EC66F2DA-6670-744B-1A21-A58457A7EF6E}"/>
              </a:ext>
            </a:extLst>
          </p:cNvPr>
          <p:cNvSpPr txBox="1"/>
          <p:nvPr/>
        </p:nvSpPr>
        <p:spPr>
          <a:xfrm>
            <a:off x="1828800" y="4303810"/>
            <a:ext cx="953719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000" b="1" dirty="0" err="1">
                <a:solidFill>
                  <a:schemeClr val="tx2"/>
                </a:solidFill>
              </a:rPr>
              <a:t>Redacción</a:t>
            </a:r>
            <a:r>
              <a:rPr lang="en-US" sz="2000" b="1" dirty="0">
                <a:solidFill>
                  <a:schemeClr val="tx2"/>
                </a:solidFill>
              </a:rPr>
              <a:t> de Prompts con Prompt Coach</a:t>
            </a:r>
            <a:endParaRPr lang="en-US" b="1" dirty="0">
              <a:solidFill>
                <a:schemeClr val="tx2"/>
              </a:solidFill>
              <a:ea typeface="Calibri Light"/>
              <a:cs typeface="Calibri Light"/>
            </a:endParaRPr>
          </a:p>
        </p:txBody>
      </p:sp>
      <p:sp>
        <p:nvSpPr>
          <p:cNvPr id="15" name="Tarjeta desafío 4">
            <a:extLst>
              <a:ext uri="{FF2B5EF4-FFF2-40B4-BE49-F238E27FC236}">
                <a16:creationId xmlns:a16="http://schemas.microsoft.com/office/drawing/2014/main" id="{A99DE10B-B02B-F788-F64B-DBFF0C13B53A}"/>
              </a:ext>
            </a:extLst>
          </p:cNvPr>
          <p:cNvSpPr/>
          <p:nvPr/>
        </p:nvSpPr>
        <p:spPr>
          <a:xfrm>
            <a:off x="548640" y="512064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desafío 4">
            <a:extLst>
              <a:ext uri="{FF2B5EF4-FFF2-40B4-BE49-F238E27FC236}">
                <a16:creationId xmlns:a16="http://schemas.microsoft.com/office/drawing/2014/main" id="{DB86C490-97F9-0BF4-9F48-580390E2601C}"/>
              </a:ext>
            </a:extLst>
          </p:cNvPr>
          <p:cNvSpPr/>
          <p:nvPr/>
        </p:nvSpPr>
        <p:spPr>
          <a:xfrm>
            <a:off x="777240" y="52578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o" descr="image.png">
            <a:extLst>
              <a:ext uri="{FF2B5EF4-FFF2-40B4-BE49-F238E27FC236}">
                <a16:creationId xmlns:a16="http://schemas.microsoft.com/office/drawing/2014/main" id="{95B23CD2-5FF6-80F0-6FB2-D5DDD7CD5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440679"/>
            <a:ext cx="411480" cy="411480"/>
          </a:xfrm>
          <a:prstGeom prst="rect">
            <a:avLst/>
          </a:prstGeom>
        </p:spPr>
      </p:pic>
      <p:sp>
        <p:nvSpPr>
          <p:cNvPr id="18" name="Texto desafío 4">
            <a:extLst>
              <a:ext uri="{FF2B5EF4-FFF2-40B4-BE49-F238E27FC236}">
                <a16:creationId xmlns:a16="http://schemas.microsoft.com/office/drawing/2014/main" id="{03E0FEBD-D0DA-8F7E-2663-9E7CE0D4FFCB}"/>
              </a:ext>
            </a:extLst>
          </p:cNvPr>
          <p:cNvSpPr txBox="1"/>
          <p:nvPr/>
        </p:nvSpPr>
        <p:spPr>
          <a:xfrm>
            <a:off x="1828800" y="5212079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La primera síntesis cubre del 01/09 al 11/10/2026, queda en un cuaderno y se programa cada semana.</a:t>
            </a:r>
          </a:p>
        </p:txBody>
      </p:sp>
    </p:spTree>
    <p:extLst>
      <p:ext uri="{BB962C8B-B14F-4D97-AF65-F5344CB8AC3E}">
        <p14:creationId xmlns:p14="http://schemas.microsoft.com/office/powerpoint/2010/main" val="3731828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ptura de pantalla que muestra el flujo de trabajo del agente de Microsoft 365 Investigador.">
            <a:extLst>
              <a:ext uri="{FF2B5EF4-FFF2-40B4-BE49-F238E27FC236}">
                <a16:creationId xmlns:a16="http://schemas.microsoft.com/office/drawing/2014/main" id="{1F82DB7C-46E4-255A-2CFF-1DE15962B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" y="24"/>
            <a:ext cx="8012804" cy="6922347"/>
          </a:xfrm>
          <a:prstGeom prst="rect">
            <a:avLst/>
          </a:prstGeom>
        </p:spPr>
      </p:pic>
      <p:pic>
        <p:nvPicPr>
          <p:cNvPr id="4" name="Picture 3" descr="Agentes de IA para particulares y empresas | Microsoft Copilot">
            <a:extLst>
              <a:ext uri="{FF2B5EF4-FFF2-40B4-BE49-F238E27FC236}">
                <a16:creationId xmlns:a16="http://schemas.microsoft.com/office/drawing/2014/main" id="{24F8144A-515C-98D1-4729-4CDE1FD8B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890" y="1584370"/>
            <a:ext cx="3699993" cy="369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1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9FB1B-9DC4-CF26-2067-849721281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83" y="0"/>
            <a:ext cx="10287000" cy="6858000"/>
          </a:xfrm>
          <a:prstGeom prst="rect">
            <a:avLst/>
          </a:prstGeom>
        </p:spPr>
      </p:pic>
      <p:pic>
        <p:nvPicPr>
          <p:cNvPr id="5" name="Picture 4" descr="Agentes de IA para particulares y empresas | Microsoft Copilot">
            <a:extLst>
              <a:ext uri="{FF2B5EF4-FFF2-40B4-BE49-F238E27FC236}">
                <a16:creationId xmlns:a16="http://schemas.microsoft.com/office/drawing/2014/main" id="{4C356E59-2AB8-FD78-7967-BD96D7E5D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213" y="2807862"/>
            <a:ext cx="1360332" cy="137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6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D76B2-4948-961D-44F9-E6E951890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" y="0"/>
            <a:ext cx="10287000" cy="6858000"/>
          </a:xfrm>
          <a:prstGeom prst="rect">
            <a:avLst/>
          </a:prstGeom>
        </p:spPr>
      </p:pic>
      <p:pic>
        <p:nvPicPr>
          <p:cNvPr id="5" name="Picture 4" descr="Agentes de IA para particulares y empresas | Microsoft Copilot">
            <a:extLst>
              <a:ext uri="{FF2B5EF4-FFF2-40B4-BE49-F238E27FC236}">
                <a16:creationId xmlns:a16="http://schemas.microsoft.com/office/drawing/2014/main" id="{737FD97F-B2ED-992C-E2A2-9EEBF5CC4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213" y="2807862"/>
            <a:ext cx="1360332" cy="137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74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05DCA9-5980-1CD6-EDDE-3A738E0D4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539056"/>
              </p:ext>
            </p:extLst>
          </p:nvPr>
        </p:nvGraphicFramePr>
        <p:xfrm>
          <a:off x="0" y="75986"/>
          <a:ext cx="12191996" cy="6309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28433">
                  <a:extLst>
                    <a:ext uri="{9D8B030D-6E8A-4147-A177-3AD203B41FA5}">
                      <a16:colId xmlns:a16="http://schemas.microsoft.com/office/drawing/2014/main" val="3817391616"/>
                    </a:ext>
                  </a:extLst>
                </a:gridCol>
                <a:gridCol w="8463563">
                  <a:extLst>
                    <a:ext uri="{9D8B030D-6E8A-4147-A177-3AD203B41FA5}">
                      <a16:colId xmlns:a16="http://schemas.microsoft.com/office/drawing/2014/main" val="1186412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📅 Calendar</a:t>
                      </a:r>
                      <a:endParaRPr lang="en-US" sz="2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¿</a:t>
                      </a:r>
                      <a:r>
                        <a:rPr lang="en-US" sz="2000" dirty="0" err="1"/>
                        <a:t>Cuántas</a:t>
                      </a:r>
                      <a:r>
                        <a:rPr lang="en-US" sz="2000" dirty="0"/>
                        <a:t> horas </a:t>
                      </a:r>
                      <a:r>
                        <a:rPr lang="en-US" sz="2000" dirty="0" err="1"/>
                        <a:t>trabajé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este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mes</a:t>
                      </a:r>
                      <a:r>
                        <a:rPr lang="en-US" sz="2000" dirty="0"/>
                        <a:t> y </a:t>
                      </a:r>
                      <a:r>
                        <a:rPr lang="en-US" sz="2000" dirty="0" err="1"/>
                        <a:t>cómo</a:t>
                      </a:r>
                      <a:r>
                        <a:rPr lang="en-US" sz="2000" dirty="0"/>
                        <a:t> se </a:t>
                      </a:r>
                      <a:r>
                        <a:rPr lang="en-US" sz="2000" dirty="0" err="1"/>
                        <a:t>distribuyen</a:t>
                      </a:r>
                      <a:r>
                        <a:rPr lang="en-US" sz="2000" dirty="0"/>
                        <a:t> entre </a:t>
                      </a:r>
                      <a:r>
                        <a:rPr lang="en-US" sz="2000" dirty="0" err="1"/>
                        <a:t>reuniones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foco</a:t>
                      </a:r>
                      <a:r>
                        <a:rPr lang="en-US" sz="2000" dirty="0"/>
                        <a:t> y </a:t>
                      </a:r>
                      <a:r>
                        <a:rPr lang="en-US" sz="2000" dirty="0" err="1"/>
                        <a:t>proyectos</a:t>
                      </a:r>
                      <a:r>
                        <a:rPr lang="en-US" sz="2000" dirty="0"/>
                        <a:t>?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70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📧 Outlook</a:t>
                      </a:r>
                      <a:endParaRPr lang="en-US" sz="2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¿</a:t>
                      </a:r>
                      <a:r>
                        <a:rPr lang="en-US" sz="2000" dirty="0" err="1"/>
                        <a:t>Cuáles</a:t>
                      </a:r>
                      <a:r>
                        <a:rPr lang="en-US" sz="2000" dirty="0"/>
                        <a:t> son </a:t>
                      </a:r>
                      <a:r>
                        <a:rPr lang="en-US" sz="2000" dirty="0" err="1"/>
                        <a:t>los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temas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más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recurrentes</a:t>
                      </a:r>
                      <a:r>
                        <a:rPr lang="en-US" sz="2000" dirty="0"/>
                        <a:t> de mis </a:t>
                      </a:r>
                      <a:r>
                        <a:rPr lang="en-US" sz="2000" dirty="0" err="1"/>
                        <a:t>correos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durante</a:t>
                      </a:r>
                      <a:r>
                        <a:rPr lang="en-US" sz="2000" dirty="0"/>
                        <a:t> el </a:t>
                      </a:r>
                      <a:r>
                        <a:rPr lang="en-US" sz="2000" dirty="0" err="1"/>
                        <a:t>último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trimestre</a:t>
                      </a:r>
                      <a:r>
                        <a:rPr lang="en-US" sz="2000" dirty="0"/>
                        <a:t>?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455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💬 Teams</a:t>
                      </a:r>
                      <a:endParaRPr lang="en-US" sz="2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¿</a:t>
                      </a:r>
                      <a:r>
                        <a:rPr lang="en-US" sz="2000" dirty="0" err="1"/>
                        <a:t>Qué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decisiones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importantes</a:t>
                      </a:r>
                      <a:r>
                        <a:rPr lang="en-US" sz="2000" dirty="0"/>
                        <a:t> se </a:t>
                      </a:r>
                      <a:r>
                        <a:rPr lang="en-US" sz="2000" dirty="0" err="1"/>
                        <a:t>han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tomado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sobre</a:t>
                      </a:r>
                      <a:r>
                        <a:rPr lang="en-US" sz="2000" dirty="0"/>
                        <a:t> el </a:t>
                      </a:r>
                      <a:r>
                        <a:rPr lang="en-US" sz="2000" dirty="0" err="1"/>
                        <a:t>proyecto</a:t>
                      </a:r>
                      <a:r>
                        <a:rPr lang="en-US" sz="2000" dirty="0"/>
                        <a:t> X </a:t>
                      </a:r>
                      <a:r>
                        <a:rPr lang="en-US" sz="2000" dirty="0" err="1"/>
                        <a:t>en</a:t>
                      </a:r>
                      <a:r>
                        <a:rPr lang="en-US" sz="2000" dirty="0"/>
                        <a:t> chats, canales y </a:t>
                      </a:r>
                      <a:r>
                        <a:rPr lang="en-US" sz="2000" dirty="0" err="1"/>
                        <a:t>reuniones</a:t>
                      </a:r>
                      <a:r>
                        <a:rPr lang="en-US" sz="2000" dirty="0"/>
                        <a:t>?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192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📄 OneDrive</a:t>
                      </a:r>
                      <a:endParaRPr lang="en-US" sz="2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Resume </a:t>
                      </a:r>
                      <a:r>
                        <a:rPr lang="en-US" sz="2000" dirty="0" err="1"/>
                        <a:t>todos</a:t>
                      </a:r>
                      <a:r>
                        <a:rPr lang="en-US" sz="2000" dirty="0"/>
                        <a:t> mis </a:t>
                      </a:r>
                      <a:r>
                        <a:rPr lang="en-US" sz="2000" dirty="0" err="1"/>
                        <a:t>documentos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relacionados</a:t>
                      </a:r>
                      <a:r>
                        <a:rPr lang="en-US" sz="2000" dirty="0"/>
                        <a:t> con la </a:t>
                      </a:r>
                      <a:r>
                        <a:rPr lang="en-US" sz="2000" dirty="0" err="1"/>
                        <a:t>iniciativa</a:t>
                      </a:r>
                      <a:r>
                        <a:rPr lang="en-US" sz="2000" dirty="0"/>
                        <a:t> Y </a:t>
                      </a:r>
                      <a:r>
                        <a:rPr lang="en-US" sz="2000" dirty="0" err="1"/>
                        <a:t>y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destaca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riesgos</a:t>
                      </a:r>
                      <a:r>
                        <a:rPr lang="en-US" sz="2000" dirty="0"/>
                        <a:t> y </a:t>
                      </a:r>
                      <a:r>
                        <a:rPr lang="en-US" sz="2000" dirty="0" err="1"/>
                        <a:t>próximos</a:t>
                      </a:r>
                      <a:r>
                        <a:rPr lang="en-US" sz="2000" dirty="0"/>
                        <a:t> pasos.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01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🌐 SharePoint</a:t>
                      </a:r>
                      <a:endParaRPr lang="en-US" sz="2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¿</a:t>
                      </a:r>
                      <a:r>
                        <a:rPr lang="en-US" sz="2000" dirty="0" err="1"/>
                        <a:t>Qué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conocimiento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tiene</a:t>
                      </a:r>
                      <a:r>
                        <a:rPr lang="en-US" sz="2000" dirty="0"/>
                        <a:t> la </a:t>
                      </a:r>
                      <a:r>
                        <a:rPr lang="en-US" sz="2000" dirty="0" err="1"/>
                        <a:t>organización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sobre</a:t>
                      </a:r>
                      <a:r>
                        <a:rPr lang="en-US" sz="2000" dirty="0"/>
                        <a:t> IA </a:t>
                      </a:r>
                      <a:r>
                        <a:rPr lang="en-US" sz="2000" dirty="0" err="1"/>
                        <a:t>Generativa</a:t>
                      </a:r>
                      <a:r>
                        <a:rPr lang="en-US" sz="2000" dirty="0"/>
                        <a:t>? </a:t>
                      </a:r>
                      <a:r>
                        <a:rPr lang="en-US" sz="2000" dirty="0" err="1"/>
                        <a:t>Consolida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documentos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procedimientos</a:t>
                      </a:r>
                      <a:r>
                        <a:rPr lang="en-US" sz="2000" dirty="0"/>
                        <a:t> y </a:t>
                      </a:r>
                      <a:r>
                        <a:rPr lang="en-US" sz="2000" dirty="0" err="1"/>
                        <a:t>presentaciones</a:t>
                      </a:r>
                      <a:r>
                        <a:rPr lang="en-US" sz="2000" dirty="0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178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🎥 </a:t>
                      </a:r>
                      <a:r>
                        <a:rPr lang="en-US" sz="2000" dirty="0" err="1"/>
                        <a:t>Reuniones</a:t>
                      </a:r>
                      <a:r>
                        <a:rPr lang="en-US" sz="2000" dirty="0"/>
                        <a:t> de Teams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Analiza las </a:t>
                      </a:r>
                      <a:r>
                        <a:rPr lang="en-US" sz="2000" dirty="0" err="1"/>
                        <a:t>reuniones</a:t>
                      </a:r>
                      <a:r>
                        <a:rPr lang="en-US" sz="2000" dirty="0"/>
                        <a:t> del </a:t>
                      </a:r>
                      <a:r>
                        <a:rPr lang="en-US" sz="2000" dirty="0" err="1"/>
                        <a:t>último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mes</a:t>
                      </a:r>
                      <a:r>
                        <a:rPr lang="en-US" sz="2000" dirty="0"/>
                        <a:t> e </a:t>
                      </a:r>
                      <a:r>
                        <a:rPr lang="en-US" sz="2000" dirty="0" err="1"/>
                        <a:t>identifica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acuerdos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tareas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pendientes</a:t>
                      </a:r>
                      <a:r>
                        <a:rPr lang="en-US" sz="2000" dirty="0"/>
                        <a:t> y </a:t>
                      </a:r>
                      <a:r>
                        <a:rPr lang="en-US" sz="2000" dirty="0" err="1"/>
                        <a:t>bloqueos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recurrentes</a:t>
                      </a:r>
                      <a:r>
                        <a:rPr lang="en-US" sz="2000" dirty="0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537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👥 Personas (People)</a:t>
                      </a:r>
                      <a:endParaRPr lang="en-US" sz="2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¿</a:t>
                      </a:r>
                      <a:r>
                        <a:rPr lang="en-US" sz="2000" dirty="0" err="1"/>
                        <a:t>Quiénes</a:t>
                      </a:r>
                      <a:r>
                        <a:rPr lang="en-US" sz="2000" dirty="0"/>
                        <a:t> son </a:t>
                      </a:r>
                      <a:r>
                        <a:rPr lang="en-US" sz="2000" dirty="0" err="1"/>
                        <a:t>los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expertos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internos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en</a:t>
                      </a:r>
                      <a:r>
                        <a:rPr lang="en-US" sz="2000" dirty="0"/>
                        <a:t> Power Platform y </a:t>
                      </a:r>
                      <a:r>
                        <a:rPr lang="en-US" sz="2000" dirty="0" err="1"/>
                        <a:t>en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qué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proyectos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participado</a:t>
                      </a:r>
                      <a:r>
                        <a:rPr lang="en-US" sz="2000" dirty="0"/>
                        <a:t>?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636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📊 Microsoft 365 </a:t>
                      </a:r>
                      <a:r>
                        <a:rPr lang="en-US" sz="2000" dirty="0" err="1"/>
                        <a:t>completo</a:t>
                      </a:r>
                      <a:endParaRPr lang="en-US" sz="20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Genera un </a:t>
                      </a:r>
                      <a:r>
                        <a:rPr lang="en-US" sz="2000" dirty="0" err="1"/>
                        <a:t>informe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ejecutivo</a:t>
                      </a:r>
                      <a:r>
                        <a:rPr lang="en-US" sz="2000" dirty="0"/>
                        <a:t> del </a:t>
                      </a:r>
                      <a:r>
                        <a:rPr lang="en-US" sz="2000" dirty="0" err="1"/>
                        <a:t>estado</a:t>
                      </a:r>
                      <a:r>
                        <a:rPr lang="en-US" sz="2000" dirty="0"/>
                        <a:t> actual del </a:t>
                      </a:r>
                      <a:r>
                        <a:rPr lang="en-US" sz="2000" dirty="0" err="1"/>
                        <a:t>proyecto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usando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correos</a:t>
                      </a:r>
                      <a:r>
                        <a:rPr lang="en-US" sz="2000" dirty="0"/>
                        <a:t>, chats, </a:t>
                      </a:r>
                      <a:r>
                        <a:rPr lang="en-US" sz="2000" dirty="0" err="1"/>
                        <a:t>reuniones</a:t>
                      </a:r>
                      <a:r>
                        <a:rPr lang="en-US" sz="2000" dirty="0"/>
                        <a:t> y </a:t>
                      </a:r>
                      <a:r>
                        <a:rPr lang="en-US" sz="2000" dirty="0" err="1"/>
                        <a:t>documentos</a:t>
                      </a:r>
                      <a:r>
                        <a:rPr lang="en-US" sz="2000" dirty="0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05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🔍 </a:t>
                      </a:r>
                      <a:r>
                        <a:rPr lang="en-US" sz="2000" dirty="0" err="1"/>
                        <a:t>Conectores</a:t>
                      </a:r>
                      <a:r>
                        <a:rPr lang="en-US" sz="2000" dirty="0"/>
                        <a:t>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2000"/>
                        <a:t>(Jira, ServiceNow, Salesforce, etc.)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Relaciona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incidencias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decisiones</a:t>
                      </a:r>
                      <a:r>
                        <a:rPr lang="en-US" sz="2000" dirty="0"/>
                        <a:t> y </a:t>
                      </a:r>
                      <a:r>
                        <a:rPr lang="en-US" sz="2000" dirty="0" err="1"/>
                        <a:t>documentación</a:t>
                      </a:r>
                      <a:r>
                        <a:rPr lang="en-US" sz="2000" dirty="0"/>
                        <a:t> para </a:t>
                      </a:r>
                      <a:r>
                        <a:rPr lang="en-US" sz="2000" dirty="0" err="1"/>
                        <a:t>explicar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por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qué</a:t>
                      </a:r>
                      <a:r>
                        <a:rPr lang="en-US" sz="2000" dirty="0"/>
                        <a:t> un </a:t>
                      </a:r>
                      <a:r>
                        <a:rPr lang="en-US" sz="2000" dirty="0" err="1"/>
                        <a:t>proyecto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está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retrasado</a:t>
                      </a:r>
                      <a:r>
                        <a:rPr lang="en-US" sz="2000" dirty="0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842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40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arjeta Personas">
            <a:extLst>
              <a:ext uri="{FF2B5EF4-FFF2-40B4-BE49-F238E27FC236}">
                <a16:creationId xmlns:a16="http://schemas.microsoft.com/office/drawing/2014/main" id="{B7052363-EB9F-220C-CB07-4F9487E850E4}"/>
              </a:ext>
            </a:extLst>
          </p:cNvPr>
          <p:cNvSpPr/>
          <p:nvPr/>
        </p:nvSpPr>
        <p:spPr>
          <a:xfrm>
            <a:off x="2591575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arjeta Personas">
            <a:extLst>
              <a:ext uri="{FF2B5EF4-FFF2-40B4-BE49-F238E27FC236}">
                <a16:creationId xmlns:a16="http://schemas.microsoft.com/office/drawing/2014/main" id="{2B22DC93-8303-8DCD-6A1F-590105A5166F}"/>
              </a:ext>
            </a:extLst>
          </p:cNvPr>
          <p:cNvSpPr/>
          <p:nvPr/>
        </p:nvSpPr>
        <p:spPr>
          <a:xfrm>
            <a:off x="4676990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arjeta Personas">
            <a:extLst>
              <a:ext uri="{FF2B5EF4-FFF2-40B4-BE49-F238E27FC236}">
                <a16:creationId xmlns:a16="http://schemas.microsoft.com/office/drawing/2014/main" id="{54FED0C4-B321-4C67-BB5C-1EBE73057B56}"/>
              </a:ext>
            </a:extLst>
          </p:cNvPr>
          <p:cNvSpPr/>
          <p:nvPr/>
        </p:nvSpPr>
        <p:spPr>
          <a:xfrm>
            <a:off x="506160" y="1617480"/>
            <a:ext cx="169704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desafío: mucho ruido, una síntesis</a:t>
            </a:r>
            <a:endParaRPr lang="en-US" sz="3600" dirty="0"/>
          </a:p>
        </p:txBody>
      </p:sp>
      <p:pic>
        <p:nvPicPr>
          <p:cNvPr id="3" name="Imagen principal" descr="Equipo de trabajo revisando informa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1554480"/>
            <a:ext cx="475488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7840" y="2103120"/>
            <a:ext cx="138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627840" y="3703320"/>
            <a:ext cx="138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temas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776680" y="2103120"/>
            <a:ext cx="132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8800" dirty="0"/>
          </a:p>
        </p:txBody>
      </p:sp>
      <p:sp>
        <p:nvSpPr>
          <p:cNvPr id="7" name="Text 4"/>
          <p:cNvSpPr txBox="1"/>
          <p:nvPr/>
        </p:nvSpPr>
        <p:spPr>
          <a:xfrm>
            <a:off x="2776680" y="3703320"/>
            <a:ext cx="132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niveles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745520" y="2103120"/>
            <a:ext cx="15701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8800" dirty="0"/>
          </a:p>
        </p:txBody>
      </p:sp>
      <p:sp>
        <p:nvSpPr>
          <p:cNvPr id="9" name="Text 6"/>
          <p:cNvSpPr txBox="1"/>
          <p:nvPr/>
        </p:nvSpPr>
        <p:spPr>
          <a:xfrm>
            <a:off x="4745520" y="3703320"/>
            <a:ext cx="1570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fuentes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5825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Primera síntesis semanal · 01/09 al 11/10/2026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Herramientas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0116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331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Researcher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Fuentes públicas, con enlaces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0116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3317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Cuadernos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Síntesis y fuentes en un lugar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0116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3317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Programar y enviar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Prompt semanal y correo en Outlook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Archivos complementarios</a:t>
            </a:r>
            <a:endParaRPr lang="en-US" sz="3600" dirty="0"/>
          </a:p>
        </p:txBody>
      </p:sp>
      <p:sp>
        <p:nvSpPr>
          <p:cNvPr id="3" name="Tarjeta M01"/>
          <p:cNvSpPr/>
          <p:nvPr/>
        </p:nvSpPr>
        <p:spPr>
          <a:xfrm>
            <a:off x="548640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M01"/>
          <p:cNvSpPr/>
          <p:nvPr/>
        </p:nvSpPr>
        <p:spPr>
          <a:xfrm>
            <a:off x="731520" y="1874519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IC01</a:t>
            </a:r>
          </a:p>
        </p:txBody>
      </p:sp>
      <p:sp>
        <p:nvSpPr>
          <p:cNvPr id="5" name="Texto M01"/>
          <p:cNvSpPr txBox="1"/>
          <p:nvPr/>
        </p:nvSpPr>
        <p:spPr>
          <a:xfrm>
            <a:off x="1783080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Perfil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de vigilancia</a:t>
            </a:r>
          </a:p>
        </p:txBody>
      </p:sp>
      <p:sp>
        <p:nvSpPr>
          <p:cNvPr id="6" name="Tarjeta M02"/>
          <p:cNvSpPr/>
          <p:nvPr/>
        </p:nvSpPr>
        <p:spPr>
          <a:xfrm>
            <a:off x="4379976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M02"/>
          <p:cNvSpPr/>
          <p:nvPr/>
        </p:nvSpPr>
        <p:spPr>
          <a:xfrm>
            <a:off x="4562856" y="1874519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IC02</a:t>
            </a:r>
          </a:p>
        </p:txBody>
      </p:sp>
      <p:sp>
        <p:nvSpPr>
          <p:cNvPr id="8" name="Texto M02"/>
          <p:cNvSpPr txBox="1"/>
          <p:nvPr/>
        </p:nvSpPr>
        <p:spPr>
          <a:xfrm>
            <a:off x="5614416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Pack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de fuentes</a:t>
            </a:r>
          </a:p>
        </p:txBody>
      </p:sp>
      <p:sp>
        <p:nvSpPr>
          <p:cNvPr id="9" name="Tarjeta M03"/>
          <p:cNvSpPr/>
          <p:nvPr/>
        </p:nvSpPr>
        <p:spPr>
          <a:xfrm>
            <a:off x="8211312" y="164592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M03"/>
          <p:cNvSpPr/>
          <p:nvPr/>
        </p:nvSpPr>
        <p:spPr>
          <a:xfrm>
            <a:off x="8394192" y="1874519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IC03</a:t>
            </a:r>
          </a:p>
        </p:txBody>
      </p:sp>
      <p:sp>
        <p:nvSpPr>
          <p:cNvPr id="11" name="Texto M03"/>
          <p:cNvSpPr txBox="1"/>
          <p:nvPr/>
        </p:nvSpPr>
        <p:spPr>
          <a:xfrm>
            <a:off x="9445752" y="17830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Mensaje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reenviado</a:t>
            </a:r>
          </a:p>
        </p:txBody>
      </p:sp>
      <p:sp>
        <p:nvSpPr>
          <p:cNvPr id="12" name="Tarjeta M04"/>
          <p:cNvSpPr/>
          <p:nvPr/>
        </p:nvSpPr>
        <p:spPr>
          <a:xfrm>
            <a:off x="548640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M04"/>
          <p:cNvSpPr/>
          <p:nvPr/>
        </p:nvSpPr>
        <p:spPr>
          <a:xfrm>
            <a:off x="731520" y="342900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IC04</a:t>
            </a:r>
          </a:p>
        </p:txBody>
      </p:sp>
      <p:sp>
        <p:nvSpPr>
          <p:cNvPr id="14" name="Texto M04"/>
          <p:cNvSpPr txBox="1"/>
          <p:nvPr/>
        </p:nvSpPr>
        <p:spPr>
          <a:xfrm>
            <a:off x="1783080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Síntesis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de referencia</a:t>
            </a:r>
          </a:p>
        </p:txBody>
      </p:sp>
      <p:sp>
        <p:nvSpPr>
          <p:cNvPr id="15" name="Tarjeta M05"/>
          <p:cNvSpPr/>
          <p:nvPr/>
        </p:nvSpPr>
        <p:spPr>
          <a:xfrm>
            <a:off x="4379976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M05"/>
          <p:cNvSpPr/>
          <p:nvPr/>
        </p:nvSpPr>
        <p:spPr>
          <a:xfrm>
            <a:off x="4562856" y="34290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F1</a:t>
            </a:r>
          </a:p>
        </p:txBody>
      </p:sp>
      <p:sp>
        <p:nvSpPr>
          <p:cNvPr id="17" name="Texto M05"/>
          <p:cNvSpPr txBox="1"/>
          <p:nvPr/>
        </p:nvSpPr>
        <p:spPr>
          <a:xfrm>
            <a:off x="5614416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EconoJournal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Transporte · 12/09</a:t>
            </a:r>
          </a:p>
        </p:txBody>
      </p:sp>
      <p:sp>
        <p:nvSpPr>
          <p:cNvPr id="18" name="Tarjeta M06"/>
          <p:cNvSpPr/>
          <p:nvPr/>
        </p:nvSpPr>
        <p:spPr>
          <a:xfrm>
            <a:off x="8211312" y="320040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írculo M06"/>
          <p:cNvSpPr/>
          <p:nvPr/>
        </p:nvSpPr>
        <p:spPr>
          <a:xfrm>
            <a:off x="8394192" y="34290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F2</a:t>
            </a:r>
          </a:p>
        </p:txBody>
      </p:sp>
      <p:sp>
        <p:nvSpPr>
          <p:cNvPr id="20" name="Texto M06"/>
          <p:cNvSpPr txBox="1"/>
          <p:nvPr/>
        </p:nvSpPr>
        <p:spPr>
          <a:xfrm>
            <a:off x="9445752" y="33375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iProfesional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Transporte · 16/09</a:t>
            </a:r>
          </a:p>
        </p:txBody>
      </p:sp>
      <p:sp>
        <p:nvSpPr>
          <p:cNvPr id="21" name="Tarjeta M07"/>
          <p:cNvSpPr/>
          <p:nvPr/>
        </p:nvSpPr>
        <p:spPr>
          <a:xfrm>
            <a:off x="548640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M07"/>
          <p:cNvSpPr/>
          <p:nvPr/>
        </p:nvSpPr>
        <p:spPr>
          <a:xfrm>
            <a:off x="731520" y="4983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F3</a:t>
            </a:r>
          </a:p>
        </p:txBody>
      </p:sp>
      <p:sp>
        <p:nvSpPr>
          <p:cNvPr id="23" name="Texto M07"/>
          <p:cNvSpPr txBox="1"/>
          <p:nvPr/>
        </p:nvSpPr>
        <p:spPr>
          <a:xfrm>
            <a:off x="1783080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Petrolnews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Ronda 1/2026 · 07/09</a:t>
            </a:r>
          </a:p>
        </p:txBody>
      </p:sp>
      <p:sp>
        <p:nvSpPr>
          <p:cNvPr id="24" name="Tarjeta M08"/>
          <p:cNvSpPr/>
          <p:nvPr/>
        </p:nvSpPr>
        <p:spPr>
          <a:xfrm>
            <a:off x="4379976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írculo M08"/>
          <p:cNvSpPr/>
          <p:nvPr/>
        </p:nvSpPr>
        <p:spPr>
          <a:xfrm>
            <a:off x="4562856" y="49834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F4</a:t>
            </a:r>
          </a:p>
        </p:txBody>
      </p:sp>
      <p:sp>
        <p:nvSpPr>
          <p:cNvPr id="26" name="Texto M08"/>
          <p:cNvSpPr txBox="1"/>
          <p:nvPr/>
        </p:nvSpPr>
        <p:spPr>
          <a:xfrm>
            <a:off x="5614416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iProfesional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Ronda 1/2026 · 18/09</a:t>
            </a:r>
          </a:p>
        </p:txBody>
      </p:sp>
      <p:sp>
        <p:nvSpPr>
          <p:cNvPr id="27" name="Tarjeta M09"/>
          <p:cNvSpPr/>
          <p:nvPr/>
        </p:nvSpPr>
        <p:spPr>
          <a:xfrm>
            <a:off x="8211312" y="4754880"/>
            <a:ext cx="34290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írculo M09"/>
          <p:cNvSpPr/>
          <p:nvPr/>
        </p:nvSpPr>
        <p:spPr>
          <a:xfrm>
            <a:off x="8394192" y="49834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F5</a:t>
            </a:r>
          </a:p>
        </p:txBody>
      </p:sp>
      <p:sp>
        <p:nvSpPr>
          <p:cNvPr id="29" name="Texto M09"/>
          <p:cNvSpPr txBox="1"/>
          <p:nvPr/>
        </p:nvSpPr>
        <p:spPr>
          <a:xfrm>
            <a:off x="9445752" y="4892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Infobae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Recaudación · 09/10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937760" y="1280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30′</a:t>
            </a:r>
            <a:endParaRPr lang="en-US" sz="8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Demo práctica</a:t>
            </a:r>
            <a:endParaRPr lang="en-US" sz="4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Martín prepara la primera síntesis semanal</a:t>
            </a:r>
            <a:endParaRPr lang="en-US" sz="2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0DF465-2C3D-917D-2DC1-23C5513A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2" y="0"/>
            <a:ext cx="38308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Siete puntos de control</a:t>
            </a:r>
            <a:endParaRPr lang="en-US" sz="3600" dirty="0"/>
          </a:p>
        </p:txBody>
      </p:sp>
      <p:sp>
        <p:nvSpPr>
          <p:cNvPr id="3" name="Tarjeta control 1"/>
          <p:cNvSpPr/>
          <p:nvPr/>
        </p:nvSpPr>
        <p:spPr>
          <a:xfrm>
            <a:off x="548640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control 1"/>
          <p:cNvSpPr/>
          <p:nvPr/>
        </p:nvSpPr>
        <p:spPr>
          <a:xfrm>
            <a:off x="1440179" y="187451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1</a:t>
            </a:r>
          </a:p>
        </p:txBody>
      </p:sp>
      <p:sp>
        <p:nvSpPr>
          <p:cNvPr id="5" name="Texto control 1"/>
          <p:cNvSpPr txBox="1"/>
          <p:nvPr/>
        </p:nvSpPr>
        <p:spPr>
          <a:xfrm>
            <a:off x="685800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Fecha y enlace</a:t>
            </a:r>
          </a:p>
        </p:txBody>
      </p:sp>
      <p:sp>
        <p:nvSpPr>
          <p:cNvPr id="6" name="Tarjeta control 2"/>
          <p:cNvSpPr/>
          <p:nvPr/>
        </p:nvSpPr>
        <p:spPr>
          <a:xfrm>
            <a:off x="3392424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control 2"/>
          <p:cNvSpPr/>
          <p:nvPr/>
        </p:nvSpPr>
        <p:spPr>
          <a:xfrm>
            <a:off x="4283964" y="1874519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2</a:t>
            </a:r>
          </a:p>
        </p:txBody>
      </p:sp>
      <p:sp>
        <p:nvSpPr>
          <p:cNvPr id="8" name="Texto control 2"/>
          <p:cNvSpPr txBox="1"/>
          <p:nvPr/>
        </p:nvSpPr>
        <p:spPr>
          <a:xfrm>
            <a:off x="3529584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Mensaje sin fuente</a:t>
            </a:r>
          </a:p>
        </p:txBody>
      </p:sp>
      <p:sp>
        <p:nvSpPr>
          <p:cNvPr id="9" name="Tarjeta control 3"/>
          <p:cNvSpPr/>
          <p:nvPr/>
        </p:nvSpPr>
        <p:spPr>
          <a:xfrm>
            <a:off x="6236207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control 3"/>
          <p:cNvSpPr/>
          <p:nvPr/>
        </p:nvSpPr>
        <p:spPr>
          <a:xfrm>
            <a:off x="7127747" y="1874519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3</a:t>
            </a:r>
          </a:p>
        </p:txBody>
      </p:sp>
      <p:sp>
        <p:nvSpPr>
          <p:cNvPr id="11" name="Texto control 3"/>
          <p:cNvSpPr txBox="1"/>
          <p:nvPr/>
        </p:nvSpPr>
        <p:spPr>
          <a:xfrm>
            <a:off x="6373368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Anuncio o norma</a:t>
            </a:r>
          </a:p>
        </p:txBody>
      </p:sp>
      <p:sp>
        <p:nvSpPr>
          <p:cNvPr id="12" name="Tarjeta control 4"/>
          <p:cNvSpPr/>
          <p:nvPr/>
        </p:nvSpPr>
        <p:spPr>
          <a:xfrm>
            <a:off x="9079992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control 4"/>
          <p:cNvSpPr/>
          <p:nvPr/>
        </p:nvSpPr>
        <p:spPr>
          <a:xfrm>
            <a:off x="9971532" y="187451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4</a:t>
            </a:r>
          </a:p>
        </p:txBody>
      </p:sp>
      <p:sp>
        <p:nvSpPr>
          <p:cNvPr id="14" name="Texto control 4"/>
          <p:cNvSpPr txBox="1"/>
          <p:nvPr/>
        </p:nvSpPr>
        <p:spPr>
          <a:xfrm>
            <a:off x="9217152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Ronda 1/2026</a:t>
            </a:r>
          </a:p>
        </p:txBody>
      </p:sp>
      <p:sp>
        <p:nvSpPr>
          <p:cNvPr id="15" name="Tarjeta control 5"/>
          <p:cNvSpPr/>
          <p:nvPr/>
        </p:nvSpPr>
        <p:spPr>
          <a:xfrm>
            <a:off x="1970532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control 5"/>
          <p:cNvSpPr/>
          <p:nvPr/>
        </p:nvSpPr>
        <p:spPr>
          <a:xfrm>
            <a:off x="2862072" y="416052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5</a:t>
            </a:r>
          </a:p>
        </p:txBody>
      </p:sp>
      <p:sp>
        <p:nvSpPr>
          <p:cNvPr id="17" name="Texto control 5"/>
          <p:cNvSpPr txBox="1"/>
          <p:nvPr/>
        </p:nvSpPr>
        <p:spPr>
          <a:xfrm>
            <a:off x="2107692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Cifras fiscales</a:t>
            </a:r>
          </a:p>
        </p:txBody>
      </p:sp>
      <p:sp>
        <p:nvSpPr>
          <p:cNvPr id="18" name="Tarjeta control 6"/>
          <p:cNvSpPr/>
          <p:nvPr/>
        </p:nvSpPr>
        <p:spPr>
          <a:xfrm>
            <a:off x="4814316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írculo control 6"/>
          <p:cNvSpPr/>
          <p:nvPr/>
        </p:nvSpPr>
        <p:spPr>
          <a:xfrm>
            <a:off x="5705856" y="41605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6</a:t>
            </a:r>
          </a:p>
        </p:txBody>
      </p:sp>
      <p:sp>
        <p:nvSpPr>
          <p:cNvPr id="20" name="Texto control 6"/>
          <p:cNvSpPr txBox="1"/>
          <p:nvPr/>
        </p:nvSpPr>
        <p:spPr>
          <a:xfrm>
            <a:off x="4951476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Nivel y confiabilidad</a:t>
            </a:r>
          </a:p>
        </p:txBody>
      </p:sp>
      <p:sp>
        <p:nvSpPr>
          <p:cNvPr id="21" name="Tarjeta control 7"/>
          <p:cNvSpPr/>
          <p:nvPr/>
        </p:nvSpPr>
        <p:spPr>
          <a:xfrm>
            <a:off x="7658100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control 7"/>
          <p:cNvSpPr/>
          <p:nvPr/>
        </p:nvSpPr>
        <p:spPr>
          <a:xfrm>
            <a:off x="8549640" y="4160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7</a:t>
            </a:r>
          </a:p>
        </p:txBody>
      </p:sp>
      <p:sp>
        <p:nvSpPr>
          <p:cNvPr id="23" name="Texto control 7"/>
          <p:cNvSpPr txBox="1"/>
          <p:nvPr/>
        </p:nvSpPr>
        <p:spPr>
          <a:xfrm>
            <a:off x="7795260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Alcance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Criterio de aceptación de la síntesis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2924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612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Siete controles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Todos cumplidos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2924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6125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Fuentes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Cada novedad con fecha y enlace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2924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6125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 no verificado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Separado de lo confirmado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F321DC0-601B-98D7-563C-8C85A507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Velo de contraste">
            <a:extLst>
              <a:ext uri="{FF2B5EF4-FFF2-40B4-BE49-F238E27FC236}">
                <a16:creationId xmlns:a16="http://schemas.microsoft.com/office/drawing/2014/main" id="{7D36760C-49DA-D99C-6B0D-154D91384BE0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7C8DE7C-B3FF-BE63-267A-5134E9DA8BE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¿Preguntas?</a:t>
            </a:r>
            <a:endParaRPr lang="en-US" sz="7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A29795B-EC30-1657-459C-F42E920C3BF8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Las ideas y dudas de ustedes enriquecen el caso</a:t>
            </a:r>
            <a:endParaRPr lang="en-US" sz="2600" dirty="0"/>
          </a:p>
        </p:txBody>
      </p:sp>
      <p:sp>
        <p:nvSpPr>
          <p:cNvPr id="20" name="Pie de página IA">
            <a:extLst>
              <a:ext uri="{FF2B5EF4-FFF2-40B4-BE49-F238E27FC236}">
                <a16:creationId xmlns:a16="http://schemas.microsoft.com/office/drawing/2014/main" id="{899B7EA3-4C0F-B283-1EF8-5EF938086AD4}"/>
              </a:ext>
            </a:extLst>
          </p:cNvPr>
          <p:cNvSpPr txBox="1"/>
          <p:nvPr/>
        </p:nvSpPr>
        <p:spPr>
          <a:xfrm>
            <a:off x="731520" y="6453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bg1"/>
                </a:solidFill>
              </a:rPr>
              <a:t>Esta presentación ha sido generada con la asistencia de inteligencia artificial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7C325C-A584-33C7-1113-8CF459DF22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25" b="6653"/>
          <a:stretch>
            <a:fillRect/>
          </a:stretch>
        </p:blipFill>
        <p:spPr>
          <a:xfrm>
            <a:off x="9796856" y="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orkshop IA - Plantilla Base [1791645834479]">
  <a:themeElements>
    <a:clrScheme name="Workshop IA - Plantilla Base">
      <a:dk1>
        <a:srgbClr val="222B33"/>
      </a:dk1>
      <a:lt1>
        <a:srgbClr val="FFFFFF"/>
      </a:lt1>
      <a:dk2>
        <a:srgbClr val="1A2B4C"/>
      </a:dk2>
      <a:lt2>
        <a:srgbClr val="F1F3F5"/>
      </a:lt2>
      <a:accent1>
        <a:srgbClr val="2E8B7A"/>
      </a:accent1>
      <a:accent2>
        <a:srgbClr val="C8693A"/>
      </a:accent2>
      <a:accent3>
        <a:srgbClr val="5B7FA6"/>
      </a:accent3>
      <a:accent4>
        <a:srgbClr val="E2B04A"/>
      </a:accent4>
      <a:accent5>
        <a:srgbClr val="56606B"/>
      </a:accent5>
      <a:accent6>
        <a:srgbClr val="8A97A3"/>
      </a:accent6>
      <a:hlink>
        <a:srgbClr val="2E8B7A"/>
      </a:hlink>
      <a:folHlink>
        <a:srgbClr val="56606B"/>
      </a:folHlink>
    </a:clrScheme>
    <a:fontScheme name="Workshop IA - Plantilla Ba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70566AA-4711-4F67-99F4-88E44307B1E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a29918e-7b47-4d9d-b769-bdbced0815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348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Workshop IA - Plantilla Base [1791645834479]</vt:lpstr>
      <vt:lpstr>Inteligencia de Cuenca</vt:lpstr>
      <vt:lpstr>Temas a Estudiar</vt:lpstr>
      <vt:lpstr>PowerPoint Presentation</vt:lpstr>
      <vt:lpstr>PowerPoint Presentation</vt:lpstr>
      <vt:lpstr>PowerPoint Presentation</vt:lpstr>
      <vt:lpstr>PowerPoint Presentation</vt:lpstr>
      <vt:lpstr>El desafío: mucho ruido, una síntesis</vt:lpstr>
      <vt:lpstr>Herramientas</vt:lpstr>
      <vt:lpstr>Archivos complementarios</vt:lpstr>
      <vt:lpstr>Demo práctica</vt:lpstr>
      <vt:lpstr>Siete puntos de control</vt:lpstr>
      <vt:lpstr>Criterio de aceptación de la síntesis</vt:lpstr>
      <vt:lpstr>¿Preguntas?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base - Workshop de IA (borrador v0.1)</dc:title>
  <dc:subject>PptxGenJS Presentation</dc:subject>
  <dc:creator>IA para Todos</dc:creator>
  <cp:lastModifiedBy>Oscar Gerometta</cp:lastModifiedBy>
  <cp:revision>60</cp:revision>
  <dcterms:created xsi:type="dcterms:W3CDTF">2026-10-10T15:11:13Z</dcterms:created>
  <dcterms:modified xsi:type="dcterms:W3CDTF">2026-10-14T01:25:58Z</dcterms:modified>
</cp:coreProperties>
</file>